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rgbClr val="1F3A5F"/>
            </a:solidFill>
            <a:ln>
              <a:noFill/>
            </a:ln>
          </c:spPr>
          <c:dPt>
            <c:idx val="0"/>
            <c:spPr>
              <a:solidFill>
                <a:srgbClr val="F2A900"/>
              </a:solidFill>
            </c:spPr>
          </c:dPt>
          <c:cat>
            <c:strRef>
              <c:f>Sheet1!$A$2:$A$5</c:f>
              <c:strCache>
                <c:ptCount val="4"/>
                <c:pt idx="0">
                  <c:v>Sudeste</c:v>
                </c:pt>
                <c:pt idx="1">
                  <c:v>Sul</c:v>
                </c:pt>
                <c:pt idx="2">
                  <c:v>Nordeste</c:v>
                </c:pt>
                <c:pt idx="3">
                  <c:v>Centro-Oeste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2.0</c:v>
                </c:pt>
                <c:pt idx="1">
                  <c:v>1.35</c:v>
                </c:pt>
                <c:pt idx="2">
                  <c:v>0.8</c:v>
                </c:pt>
                <c:pt idx="3">
                  <c:v>0.58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3333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F2F2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-2068027336"/>
        <c:crosses val="max"/>
      </c:valAx>
    </c:plotArea>
    <c:dispBlanksAs val="gap"/>
  </c:chart>
  <c:txPr>
    <a:bodyPr/>
    <a:lstStyle/>
    <a:p>
      <a:pPr>
        <a:defRPr sz="1100">
          <a:solidFill>
            <a:srgbClr val="3333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Planejado</c:v>
                </c:pt>
              </c:strCache>
            </c:strRef>
          </c:tx>
          <c:spPr>
            <a:ln w="31750">
              <a:solidFill>
                <a:srgbClr val="8C8C8C"/>
              </a:solidFill>
              <a:prstDash val="dash"/>
            </a:ln>
          </c:spPr>
          <c:marker>
            <c:spPr>
              <a:solidFill>
                <a:srgbClr val="8C8C8C"/>
              </a:solidFill>
              <a:ln>
                <a:solidFill>
                  <a:srgbClr val="8C8C8C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S28</c:v>
                </c:pt>
                <c:pt idx="1">
                  <c:v>S29</c:v>
                </c:pt>
                <c:pt idx="2">
                  <c:v>S30</c:v>
                </c:pt>
                <c:pt idx="3">
                  <c:v>S31</c:v>
                </c:pt>
                <c:pt idx="4">
                  <c:v>S32</c:v>
                </c:pt>
                <c:pt idx="5">
                  <c:v>S33</c:v>
                </c:pt>
                <c:pt idx="6">
                  <c:v>S34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</c:v>
                </c:pt>
                <c:pt idx="1">
                  <c:v>45</c:v>
                </c:pt>
                <c:pt idx="2">
                  <c:v>50</c:v>
                </c:pt>
                <c:pt idx="3">
                  <c:v>55</c:v>
                </c:pt>
                <c:pt idx="4">
                  <c:v>60</c:v>
                </c:pt>
                <c:pt idx="5">
                  <c:v>64</c:v>
                </c:pt>
                <c:pt idx="6">
                  <c:v>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</c:v>
                </c:pt>
              </c:strCache>
            </c:strRef>
          </c:tx>
          <c:spPr>
            <a:ln w="31750">
              <a:solidFill>
                <a:srgbClr val="4F81BD"/>
              </a:solidFill>
            </a:ln>
          </c:spPr>
          <c:marker>
            <c:spPr>
              <a:solidFill>
                <a:srgbClr val="4F81BD"/>
              </a:solidFill>
              <a:ln>
                <a:solidFill>
                  <a:srgbClr val="4F81BD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S28</c:v>
                </c:pt>
                <c:pt idx="1">
                  <c:v>S29</c:v>
                </c:pt>
                <c:pt idx="2">
                  <c:v>S30</c:v>
                </c:pt>
                <c:pt idx="3">
                  <c:v>S31</c:v>
                </c:pt>
                <c:pt idx="4">
                  <c:v>S32</c:v>
                </c:pt>
                <c:pt idx="5">
                  <c:v>S33</c:v>
                </c:pt>
                <c:pt idx="6">
                  <c:v>S34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40</c:v>
                </c:pt>
                <c:pt idx="1">
                  <c:v>44</c:v>
                </c:pt>
                <c:pt idx="2">
                  <c:v>48</c:v>
                </c:pt>
                <c:pt idx="3">
                  <c:v>52</c:v>
                </c:pt>
                <c:pt idx="4">
                  <c:v>56</c:v>
                </c:pt>
                <c:pt idx="5">
                  <c:v>59</c:v>
                </c:pt>
                <c:pt idx="6">
                  <c:v>62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F2F2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3333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Produto A</c:v>
                </c:pt>
              </c:strCache>
            </c:strRef>
          </c:tx>
          <c:spPr>
            <a:solidFill>
              <a:srgbClr val="1F3A5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1T</c:v>
                </c:pt>
                <c:pt idx="1">
                  <c:v>2T</c:v>
                </c:pt>
                <c:pt idx="2">
                  <c:v>3T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12</c:v>
                </c:pt>
                <c:pt idx="2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Produto B</c:v>
                </c:pt>
              </c:strCache>
            </c:strRef>
          </c:tx>
          <c:spPr>
            <a:solidFill>
              <a:srgbClr val="4F81BD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1T</c:v>
                </c:pt>
                <c:pt idx="1">
                  <c:v>2T</c:v>
                </c:pt>
                <c:pt idx="2">
                  <c:v>3T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7</c:v>
                </c:pt>
                <c:pt idx="2">
                  <c:v>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Serviços</c:v>
                </c:pt>
              </c:strCache>
            </c:strRef>
          </c:tx>
          <c:spPr>
            <a:solidFill>
              <a:srgbClr val="F2A90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1T</c:v>
                </c:pt>
                <c:pt idx="1">
                  <c:v>2T</c:v>
                </c:pt>
                <c:pt idx="2">
                  <c:v>3T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2F2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3333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min</c:v>
                </c:pt>
              </c:strCache>
            </c:strRef>
          </c:tx>
          <c:dPt>
            <c:idx val="0"/>
            <c:spPr>
              <a:solidFill>
                <a:srgbClr val="1F3A5F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F2A900"/>
              </a:solidFill>
            </c:spPr>
          </c:dPt>
          <c:dPt>
            <c:idx val="3"/>
            <c:spPr>
              <a:solidFill>
                <a:srgbClr val="8C8C8C"/>
              </a:solidFill>
            </c:spPr>
          </c:dPt>
          <c:cat>
            <c:strRef>
              <c:f>Sheet1!$A$2:$A$5</c:f>
              <c:strCache>
                <c:ptCount val="4"/>
                <c:pt idx="0">
                  <c:v>Troca de ferramenta</c:v>
                </c:pt>
                <c:pt idx="1">
                  <c:v>Falta de material</c:v>
                </c:pt>
                <c:pt idx="2">
                  <c:v>Falha hidráulica</c:v>
                </c:pt>
                <c:pt idx="3">
                  <c:v>Outros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95</c:v>
                </c:pt>
                <c:pt idx="2">
                  <c:v>50</c:v>
                </c:pt>
                <c:pt idx="3">
                  <c:v>45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333333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333333"/>
          </a:solidFill>
          <a:latin typeface="Calibri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Deck de teste: exercita todos os modelos.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D9E1EA"/>
                </a:solidFill>
                <a:latin typeface="Calibri"/>
              </a:rPr>
              <a:t>EMPRESA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F2A900"/>
                </a:solidFill>
                <a:latin typeface="Calibri"/>
              </a:rPr>
              <a:t>CATÁLOGO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Catálogo de modelos de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315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Calibri"/>
              </a:rPr>
              <a:t>Um slide de cada tipo suportado pela spec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920240"/>
            <a:ext cx="331927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920240"/>
            <a:ext cx="73152" cy="246888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2057400"/>
            <a:ext cx="2971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TESE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423160"/>
            <a:ext cx="29718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Todos os modelos geram slides dentro do grid, com cabeçalho, kicker, logotipo e callouts opcionais.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BFC9D4"/>
                </a:solidFill>
                <a:latin typeface="Calibri"/>
              </a:rPr>
              <a:t>set/2026 | Uso interno</a:t>
            </a:r>
          </a:p>
        </p:txBody>
      </p:sp>
      <p:pic>
        <p:nvPicPr>
          <p:cNvPr id="12" name="Picture 11" descr="logo-placeholder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CATÁLOGO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2</a:t>
            </a:r>
          </a:p>
        </p:txBody>
      </p:sp>
      <p:pic>
        <p:nvPicPr>
          <p:cNvPr id="7" name="Picture 6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57200" y="155448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Abertura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554480"/>
            <a:ext cx="36576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8C8C8C"/>
                </a:solidFill>
                <a:latin typeface="Calibri"/>
              </a:rPr>
              <a:t>5 min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402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240280"/>
            <a:ext cx="36576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8C8C8C"/>
                </a:solidFill>
                <a:latin typeface="Calibri"/>
              </a:rPr>
              <a:t>15 min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9260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Estrutura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926080"/>
            <a:ext cx="36576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8C8C8C"/>
                </a:solidFill>
                <a:latin typeface="Calibri"/>
              </a:rPr>
              <a:t>10 min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611880"/>
            <a:ext cx="68580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0" i="0">
                <a:solidFill>
                  <a:srgbClr val="333333"/>
                </a:solidFill>
                <a:latin typeface="Calibri"/>
              </a:rPr>
              <a:t>Fechamento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611880"/>
            <a:ext cx="365760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8C8C8C"/>
                </a:solidFill>
                <a:latin typeface="Calibri"/>
              </a:rPr>
              <a:t>5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6000" b="1" i="0">
                <a:solidFill>
                  <a:srgbClr val="F2A900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Abertura</a:t>
            </a:r>
          </a:p>
        </p:txBody>
      </p:sp>
      <p:pic>
        <p:nvPicPr>
          <p:cNvPr id="4" name="Picture 3" descr="logo-placeholder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457200"/>
            <a:ext cx="109728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0"/>
            <a:ext cx="10698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 i="0">
                <a:solidFill>
                  <a:srgbClr val="D9E1EA"/>
                </a:solidFill>
                <a:latin typeface="Calibri"/>
              </a:rPr>
              <a:t>Sumário, KPIs e número grande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Sumário executivo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CATÁLOGO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SUMÁRIO EXECUTIVO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build_examples.py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645920"/>
            <a:ext cx="11274552" cy="1005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73152" cy="10058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1088136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Calibri"/>
              </a:rPr>
              <a:t>Todos os 19 modelos geram slides dentro do grid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971800"/>
            <a:ext cx="411480" cy="4114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26080"/>
            <a:ext cx="10515600" cy="792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Título no placeholder nativo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764279"/>
            <a:ext cx="411480" cy="4114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18560"/>
            <a:ext cx="10515600" cy="792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Rodapé com fonte, logotipo e página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556760"/>
            <a:ext cx="411480" cy="4114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511040"/>
            <a:ext cx="10515600" cy="792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333333"/>
                </a:solidFill>
                <a:latin typeface="Calibri"/>
              </a:rPr>
              <a:t>Cores só por papel da paleta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394960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/>
            </a:r>
            <a:r>
              <a:rPr sz="1600" b="1" i="0">
                <a:solidFill>
                  <a:srgbClr val="F2A900"/>
                </a:solidFill>
                <a:latin typeface="Calibri"/>
              </a:rPr>
              <a:t>Pedimos: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Revisar visualmente e ajustar coordenadas se necessário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Seis KPIs cabem em uma linha com fonte reduzida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CATÁLOGO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MES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5</a:t>
            </a:r>
          </a:p>
        </p:txBody>
      </p:sp>
      <p:pic>
        <p:nvPicPr>
          <p:cNvPr id="8" name="Picture 7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1F3A5F"/>
                </a:solidFill>
                <a:latin typeface="Calibri"/>
              </a:rPr>
              <a:t>CONCLUSÃO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Três indicadores no vermelho concentram-se na Linha 2; o restante segue no alvo.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165049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SEGURANÇA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Calibr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142 dias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2012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2012" y="1828800"/>
            <a:ext cx="1650492" cy="7315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9172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PRODUÇÃO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9172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Calibri"/>
              </a:rPr>
              <a:t>4.120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9172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meta 4.500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06824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06824" y="1828800"/>
            <a:ext cx="165049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43984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QUALIDADE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984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Calibri"/>
              </a:rPr>
              <a:t>1,8%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4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meta 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1636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1636" y="1828800"/>
            <a:ext cx="1650492" cy="7315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8796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OEE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8796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Calibri"/>
              </a:rPr>
              <a:t>68%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8796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meta 75%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56448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56448" y="1828800"/>
            <a:ext cx="1650492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93608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OTIF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8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Calibri"/>
              </a:rPr>
              <a:t>96%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608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meta 95%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81260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081260" y="1828800"/>
            <a:ext cx="1650492" cy="731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18420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CUSTO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18420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300" b="1" i="0">
                <a:solidFill>
                  <a:srgbClr val="333333"/>
                </a:solidFill>
                <a:latin typeface="Calibri"/>
              </a:rPr>
              <a:t>R$ 1,2 mi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8420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8C8C8C"/>
                </a:solidFill>
                <a:latin typeface="Calibri"/>
              </a:rPr>
              <a:t>no orçamento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297680"/>
            <a:ext cx="11274552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Contexto opcional abaixo dos cartões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Segunda linha de contexto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Quatro KPIs com linha de cobertura sob o delta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CATÁLOGO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KPIS COM DESCRIÇÃO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Base de solicitações (n=71)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6</a:t>
            </a:r>
          </a:p>
        </p:txBody>
      </p:sp>
      <p:pic>
        <p:nvPicPr>
          <p:cNvPr id="8" name="Picture 7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Calibri"/>
              </a:rPr>
              <a:t>CUIDADO DE LEITURA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21 solicitações ainda não possuem valor contratado; o saving reflete apenas itens contratados.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2612898" cy="2651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2612898" cy="7315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FORA DO PRAZO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333333"/>
                </a:solidFill>
                <a:latin typeface="Calibri"/>
              </a:rPr>
              <a:t>76%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54 de 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94760"/>
            <a:ext cx="2338578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classificadas como atrasadas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44418" y="1828800"/>
            <a:ext cx="2612898" cy="2651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44418" y="1828800"/>
            <a:ext cx="2612898" cy="7315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81577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ATRASO MÉDIO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1577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900" b="1" i="0">
                <a:solidFill>
                  <a:srgbClr val="333333"/>
                </a:solidFill>
                <a:latin typeface="Calibri"/>
              </a:rPr>
              <a:t>62 dias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1577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mediana 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1577" y="3794760"/>
            <a:ext cx="2338578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entre os itens atrasados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1636" y="1828800"/>
            <a:ext cx="2612898" cy="2651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1636" y="1828800"/>
            <a:ext cx="2612898" cy="7315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8796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RISCO ALTO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8796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333333"/>
                </a:solidFill>
                <a:latin typeface="Calibri"/>
              </a:rPr>
              <a:t>70%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8796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Calibri"/>
              </a:rPr>
              <a:t>50 solicitações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8796" y="3794760"/>
            <a:ext cx="2338578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nível de risco registrado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18854" y="1828800"/>
            <a:ext cx="2612898" cy="2651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18854" y="1828800"/>
            <a:ext cx="2612898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56014" y="2057400"/>
            <a:ext cx="233857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SAVING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6014" y="2423160"/>
            <a:ext cx="2338578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000" b="1" i="0">
                <a:solidFill>
                  <a:srgbClr val="333333"/>
                </a:solidFill>
                <a:latin typeface="Calibri"/>
              </a:rPr>
              <a:t>4,3%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6014" y="3429000"/>
            <a:ext cx="2338578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R$ 68,6 mil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56014" y="3794760"/>
            <a:ext cx="2338578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só itens com valor contratado (n=50)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Um número que é a mensagem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CATÁLOGO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NÚMERO GRANDE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Faturas 2025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7</a:t>
            </a:r>
          </a:p>
        </p:txBody>
      </p:sp>
      <p:pic>
        <p:nvPicPr>
          <p:cNvPr id="8" name="Picture 7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2011680"/>
            <a:ext cx="11274552" cy="1828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8000" b="1" i="0">
                <a:solidFill>
                  <a:srgbClr val="1F3A5F"/>
                </a:solidFill>
                <a:latin typeface="Calibri"/>
              </a:rPr>
              <a:t>R$ 2,1 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0" i="0">
                <a:solidFill>
                  <a:srgbClr val="8C8C8C"/>
                </a:solidFill>
                <a:latin typeface="Calibri"/>
              </a:rPr>
              <a:t>custo 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663440"/>
            <a:ext cx="9445752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  <a:latin typeface="Calibri"/>
              </a:rPr>
              <a:t>Equivale a 8% do faturamento. Comparação obrigatória.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6000" b="1" i="0">
                <a:solidFill>
                  <a:srgbClr val="F2A900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Dados</a:t>
            </a:r>
          </a:p>
        </p:txBody>
      </p:sp>
      <p:pic>
        <p:nvPicPr>
          <p:cNvPr id="4" name="Picture 3" descr="logo-placeholder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4572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Barras horizontais ordenadas com destaque em accent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CATÁLOGO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8C8C8C"/>
                </a:solidFill>
                <a:latin typeface="Calibri"/>
              </a:rPr>
              <a:t>R$ mi, agosto/26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CRM   |   Uso interno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9</a:t>
            </a:r>
          </a:p>
        </p:txBody>
      </p:sp>
      <p:pic>
        <p:nvPicPr>
          <p:cNvPr id="9" name="Picture 8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2011680"/>
          <a:ext cx="11274552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Linha com meta tracejada, comentários e callout de recomendação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CATÁLOGO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EVOLUÇÃO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Cronograma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RECOMENDAÇÃO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Acionar o fornecedor alternativo e replanejar os testes integrados.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57200" y="1737360"/>
          <a:ext cx="7315200" cy="3474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046720" y="1828800"/>
            <a:ext cx="3685032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333333"/>
                </a:solidFill>
                <a:latin typeface="Calibri"/>
              </a:rPr>
              <a:t>Gap abre a partir da S31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333333"/>
                </a:solidFill>
                <a:latin typeface="Calibri"/>
              </a:rPr>
              <a:t>Causa: homologação do fornecedor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333333"/>
                </a:solidFill>
                <a:latin typeface="Calibri"/>
              </a:rPr>
              <a:t>Recuperação prevista na S38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Composição com colunas empilhadas (sem kicker)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CATÁLOGO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ERP   | 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11</a:t>
            </a:r>
          </a:p>
        </p:txBody>
      </p:sp>
      <p:pic>
        <p:nvPicPr>
          <p:cNvPr id="7" name="Picture 6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463040"/>
          <a:ext cx="11274552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Rosca com até 4 fatias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CATÁLOGO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COMPOSIÇÃO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Apontamento de paradas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12</a:t>
            </a:r>
          </a:p>
        </p:txBody>
      </p:sp>
      <p:pic>
        <p:nvPicPr>
          <p:cNvPr id="8" name="Picture 7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57200" y="1737360"/>
          <a:ext cx="11274552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Tabela com colunas de status, linha de total e destaque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CATÁLOGO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TABELA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DRE gerencial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2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59352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Real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Orçado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Var. %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33333"/>
                          </a:solidFill>
                          <a:latin typeface="Calibri"/>
                        </a:rPr>
                        <a:t>Receita</a:t>
                      </a:r>
                    </a:p>
                  </a:txBody>
                  <a:tcPr marL="73152" marR="73152" marT="27432" marB="27432" anchor="ctr">
                    <a:solidFill>
                      <a:srgbClr val="FFF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333333"/>
                          </a:solidFill>
                          <a:latin typeface="Calibri"/>
                        </a:rPr>
                        <a:t>41,3</a:t>
                      </a:r>
                    </a:p>
                  </a:txBody>
                  <a:tcPr marL="73152" marR="73152" marT="27432" marB="27432" anchor="ctr">
                    <a:solidFill>
                      <a:srgbClr val="FFF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333333"/>
                          </a:solidFill>
                          <a:latin typeface="Calibri"/>
                        </a:rPr>
                        <a:t>42,1</a:t>
                      </a:r>
                    </a:p>
                  </a:txBody>
                  <a:tcPr marL="73152" marR="73152" marT="27432" marB="27432" anchor="ctr">
                    <a:solidFill>
                      <a:srgbClr val="FFF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333333"/>
                          </a:solidFill>
                          <a:latin typeface="Calibri"/>
                        </a:rPr>
                        <a:t>-1,9%</a:t>
                      </a:r>
                    </a:p>
                  </a:txBody>
                  <a:tcPr marL="73152" marR="73152" marT="27432" marB="27432" anchor="ctr">
                    <a:solidFill>
                      <a:srgbClr val="FFF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Amarelo</a:t>
                      </a:r>
                    </a:p>
                  </a:txBody>
                  <a:tcPr marL="73152" marR="73152" marT="27432" marB="27432" anchor="ctr">
                    <a:solidFill>
                      <a:srgbClr val="F9A82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Custo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27,0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28,3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-4,6%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Verde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Despesas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6,1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6,1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Verde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333333"/>
                          </a:solidFill>
                          <a:latin typeface="Calibri"/>
                        </a:rPr>
                        <a:t>EBITDA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333333"/>
                          </a:solidFill>
                          <a:latin typeface="Calibri"/>
                        </a:rPr>
                        <a:t>8,2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333333"/>
                          </a:solidFill>
                          <a:latin typeface="Calibri"/>
                        </a:rPr>
                        <a:t>7,7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333333"/>
                          </a:solidFill>
                          <a:latin typeface="Calibri"/>
                        </a:rPr>
                        <a:t>+6,5%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Verde</a:t>
                      </a:r>
                    </a:p>
                  </a:txBody>
                  <a:tcPr marL="73152" marR="73152" marT="27432" marB="27432" anchor="ctr">
                    <a:solidFill>
                      <a:srgbClr val="2E7D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Barras de progresso com status por linha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CATÁLOGO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QUALIDADE DO DADO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14</a:t>
            </a:r>
          </a:p>
        </p:txBody>
      </p:sp>
      <p:pic>
        <p:nvPicPr>
          <p:cNvPr id="8" name="Picture 7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2A900"/>
                </a:solidFill>
                <a:latin typeface="Calibri"/>
              </a:rPr>
              <a:t>CONTROLE MÍNIMO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Responsável, data prometida, próximo marco e motivo do desvio obrigatórios em toda mudança de status.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Data de aprovação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874519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874519"/>
            <a:ext cx="2816352" cy="22860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178308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Calibri"/>
              </a:rPr>
              <a:t>31 sem registro (44%)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Data do pedido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37744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2377440"/>
            <a:ext cx="3968496" cy="228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228600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44 sem registro (62%)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78892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Entrega real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288036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2880360"/>
            <a:ext cx="5248655" cy="228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78892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58 sem registro (82%)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9184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Valor contratado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38328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0" y="3383280"/>
            <a:ext cx="1920240" cy="22860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329184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Calibri"/>
              </a:rPr>
              <a:t>21 sem registro (30%)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Barras de progresso em duas colunas (distribuição por categoria)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CATÁLOGO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DISTRIBUIÇÃO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Base de portfólio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15</a:t>
            </a:r>
          </a:p>
        </p:txBody>
      </p:sp>
      <p:pic>
        <p:nvPicPr>
          <p:cNvPr id="8" name="Picture 7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783080"/>
            <a:ext cx="17373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Categoria 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874519"/>
            <a:ext cx="27432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1874519"/>
            <a:ext cx="1920239" cy="2286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783080"/>
            <a:ext cx="8229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17373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Categoria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377440"/>
            <a:ext cx="27432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2377440"/>
            <a:ext cx="1645919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286000"/>
            <a:ext cx="8229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88920"/>
            <a:ext cx="17373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Categoria 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2880360"/>
            <a:ext cx="27432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0" y="2880360"/>
            <a:ext cx="1645919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788920"/>
            <a:ext cx="8229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40"/>
            <a:ext cx="17373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Categoria 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3383280"/>
            <a:ext cx="27432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0" y="3383280"/>
            <a:ext cx="1371600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3291840"/>
            <a:ext cx="8229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1783080"/>
            <a:ext cx="17373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Categoria 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65008" y="1874519"/>
            <a:ext cx="27432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65008" y="1874519"/>
            <a:ext cx="1371600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99648" y="1783080"/>
            <a:ext cx="8229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8" y="2286000"/>
            <a:ext cx="17373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Categoria 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65008" y="2377440"/>
            <a:ext cx="27432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65008" y="2377440"/>
            <a:ext cx="1371600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99648" y="2286000"/>
            <a:ext cx="8229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2788920"/>
            <a:ext cx="17373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Categoria 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65008" y="2880360"/>
            <a:ext cx="27432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65008" y="2880360"/>
            <a:ext cx="1371600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99648" y="2788920"/>
            <a:ext cx="8229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3291840"/>
            <a:ext cx="17373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Categoria 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8" y="3383280"/>
            <a:ext cx="27432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65008" y="3383280"/>
            <a:ext cx="1097280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899648" y="3291840"/>
            <a:ext cx="8229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6000" b="1" i="0">
                <a:solidFill>
                  <a:srgbClr val="F2A900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Estrutura</a:t>
            </a:r>
          </a:p>
        </p:txBody>
      </p:sp>
      <p:pic>
        <p:nvPicPr>
          <p:cNvPr id="4" name="Picture 3" descr="logo-placeholder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4572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Bullets com negrito inicial e sub-itens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CATÁLOGO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BULLETS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455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8C8C8C"/>
                </a:solidFill>
                <a:latin typeface="Calibri"/>
              </a:rPr>
              <a:t>Máximo 6 itens, 2 linhas cada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17</a:t>
            </a:r>
          </a:p>
        </p:txBody>
      </p:sp>
      <p:pic>
        <p:nvPicPr>
          <p:cNvPr id="9" name="Picture 8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2011680"/>
            <a:ext cx="11274552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600" b="1" i="0">
                <a:solidFill>
                  <a:srgbClr val="333333"/>
                </a:solidFill>
                <a:latin typeface="Calibri"/>
              </a:rPr>
              <a:t>Prazo: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go-live em 15/03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600" b="1" i="0">
                <a:solidFill>
                  <a:srgbClr val="333333"/>
                </a:solidFill>
                <a:latin typeface="Calibri"/>
              </a:rPr>
              <a:t>Custo: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3% abaixo do orçamento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600" b="1" i="0">
                <a:solidFill>
                  <a:srgbClr val="333333"/>
                </a:solidFill>
                <a:latin typeface="Calibri"/>
              </a:rPr>
              <a:t>Escopo: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sem mudanças aprovadas</a:t>
            </a:r>
          </a:p>
          <a:p>
            <a:pPr marL="228600" indent="-228600">
              <a:spcAft>
                <a:spcPts val="1000"/>
              </a:spcAft>
              <a:buClr>
                <a:srgbClr val="1F3A5F"/>
              </a:buClr>
              <a:buChar char="•"/>
            </a:pPr>
            <a:r>
              <a:rPr sz="1600" b="1" i="0">
                <a:solidFill>
                  <a:srgbClr val="333333"/>
                </a:solidFill>
                <a:latin typeface="Calibri"/>
              </a:rPr>
              <a:t>Riscos:</a:t>
            </a:r>
            <a:r>
              <a:rPr sz="1600" b="0" i="0">
                <a:solidFill>
                  <a:srgbClr val="333333"/>
                </a:solidFill>
                <a:latin typeface="Calibri"/>
              </a:rPr>
              <a:t> um crítico, fornecedor X</a:t>
            </a:r>
          </a:p>
          <a:p>
            <a:pPr marL="457200" indent="-228600">
              <a:spcAft>
                <a:spcPts val="500"/>
              </a:spcAft>
              <a:buClr>
                <a:srgbClr val="8C8C8C"/>
              </a:buClr>
              <a:buChar char="–"/>
            </a:pPr>
            <a:r>
              <a:rPr sz="1400" b="0" i="0">
                <a:solidFill>
                  <a:srgbClr val="333333"/>
                </a:solidFill>
                <a:latin typeface="Calibri"/>
              </a:rPr>
              <a:t>Plano B com fornecedor Y</a:t>
            </a:r>
          </a:p>
          <a:p>
            <a:pPr marL="457200" indent="-228600">
              <a:spcAft>
                <a:spcPts val="500"/>
              </a:spcAft>
              <a:buClr>
                <a:srgbClr val="8C8C8C"/>
              </a:buClr>
              <a:buChar char="–"/>
            </a:pPr>
            <a:r>
              <a:rPr sz="1400" b="0" i="0">
                <a:solidFill>
                  <a:srgbClr val="333333"/>
                </a:solidFill>
                <a:latin typeface="Calibri"/>
              </a:rPr>
              <a:t>Decisão até sexta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Duas colunas: certo vs. errado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CATÁLOGO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DUAS COLUNAS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18</a:t>
            </a:r>
          </a:p>
        </p:txBody>
      </p:sp>
      <p:pic>
        <p:nvPicPr>
          <p:cNvPr id="8" name="Picture 7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1737360"/>
            <a:ext cx="5500116" cy="5486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2E7D32"/>
                </a:solidFill>
                <a:latin typeface="Calibri"/>
              </a:rPr>
              <a:t>Certo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5500116" cy="274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5500116" cy="3611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2E7D32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Causa específica</a:t>
            </a:r>
          </a:p>
          <a:p>
            <a:pPr marL="228600" indent="-228600">
              <a:spcAft>
                <a:spcPts val="800"/>
              </a:spcAft>
              <a:buClr>
                <a:srgbClr val="2E7D32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Registrar na hora</a:t>
            </a:r>
          </a:p>
          <a:p>
            <a:pPr marL="228600" indent="-228600">
              <a:spcAft>
                <a:spcPts val="800"/>
              </a:spcAft>
              <a:buClr>
                <a:srgbClr val="2E7D32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Duração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1636" y="1737360"/>
            <a:ext cx="5500116" cy="5486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C62828"/>
                </a:solidFill>
                <a:latin typeface="Calibri"/>
              </a:rPr>
              <a:t>Errado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1636" y="2331720"/>
            <a:ext cx="5500116" cy="2743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2514600"/>
            <a:ext cx="5500116" cy="3611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C62828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'Outros'</a:t>
            </a:r>
          </a:p>
          <a:p>
            <a:pPr marL="228600" indent="-228600">
              <a:spcAft>
                <a:spcPts val="800"/>
              </a:spcAft>
              <a:buClr>
                <a:srgbClr val="C62828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Registrar no fim do turno</a:t>
            </a:r>
          </a:p>
          <a:p>
            <a:pPr marL="228600" indent="-228600">
              <a:spcAft>
                <a:spcPts val="800"/>
              </a:spcAft>
              <a:buClr>
                <a:srgbClr val="C62828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Arredondar para 30 min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Comparação de três opções com uma recomendada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CATÁLOGO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COMPARAÇÃO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19</a:t>
            </a:r>
          </a:p>
        </p:txBody>
      </p:sp>
      <p:pic>
        <p:nvPicPr>
          <p:cNvPr id="8" name="Picture 7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1737360"/>
            <a:ext cx="3575304" cy="4297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3575304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357530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Não fazer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60320"/>
            <a:ext cx="3300984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Custo: R$ 0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Perda: R$ 1,8 mi/ano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Risco: parada total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6824" y="1737360"/>
            <a:ext cx="3575304" cy="4297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6824" y="1737360"/>
            <a:ext cx="3575304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6824" y="1737360"/>
            <a:ext cx="357530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A: Reforma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4" y="2560320"/>
            <a:ext cx="3300984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Custo: R$ 0,9 mi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Economia: R$ 0,7 mi/ano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Risco: sem peças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6448" y="1737360"/>
            <a:ext cx="3575304" cy="4297680"/>
          </a:xfrm>
          <a:prstGeom prst="rect">
            <a:avLst/>
          </a:prstGeom>
          <a:solidFill>
            <a:srgbClr val="F2F2F2"/>
          </a:solidFill>
          <a:ln w="25400">
            <a:solidFill>
              <a:srgbClr val="F2A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6448" y="1737360"/>
            <a:ext cx="3575304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1737360"/>
            <a:ext cx="357530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B: Prensa nova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68712" y="1554480"/>
            <a:ext cx="1371600" cy="3200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8712" y="155448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Recomendada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560320"/>
            <a:ext cx="3300984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Custo: R$ 2,4 mi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Economia: R$ 1,45 mi/ano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Calibri"/>
              </a:rPr>
              <a:t>Risco: 5 dias parada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Takeaways numerados em três colunas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CATÁLOGO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LEITURA EXECUTIVA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20</a:t>
            </a:r>
          </a:p>
        </p:txBody>
      </p:sp>
      <p:pic>
        <p:nvPicPr>
          <p:cNvPr id="8" name="Picture 7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1F3A5F"/>
                </a:solidFill>
                <a:latin typeface="Calibri"/>
              </a:rPr>
              <a:t>PRINCÍPIO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Nenhuma iniciativa avança sem responder claramente aos três filtros.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3575304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357530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Execução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46120"/>
            <a:ext cx="3118104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A base contém 200 ensaios, dos quais 40 têm data até o corte.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06824" y="1828800"/>
            <a:ext cx="3575304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06824" y="1828800"/>
            <a:ext cx="3575304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4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4F81BD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Qualidade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3246120"/>
            <a:ext cx="3118104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19 resultados ficaram abaixo da meta, 47,5% do realizado.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56448" y="1828800"/>
            <a:ext cx="3575304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56448" y="1828800"/>
            <a:ext cx="3575304" cy="5486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8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F2A900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Governança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3246120"/>
            <a:ext cx="3118104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Quatro ensaios aguardam revisão, dois já aprovados tecnicamente.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Takeaways com tags de fase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CATÁLOGO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21</a:t>
            </a:r>
          </a:p>
        </p:txBody>
      </p:sp>
      <p:pic>
        <p:nvPicPr>
          <p:cNvPr id="8" name="Picture 7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2A900"/>
                </a:solidFill>
                <a:latin typeface="Calibri"/>
              </a:rPr>
              <a:t>DECISÃO ESPERADA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Aprovar a rotina semanal e nomear os donos dos quatro controles.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3575304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357530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057400"/>
            <a:ext cx="2194560" cy="29260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57400"/>
            <a:ext cx="2194560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AGORA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Sanear os itens atrasados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46120"/>
            <a:ext cx="3118104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Definir próximo marco, responsável e motivo do desvio para cada item.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06824" y="1828800"/>
            <a:ext cx="3575304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06824" y="1828800"/>
            <a:ext cx="3575304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35424" y="2057400"/>
            <a:ext cx="2194560" cy="292608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4" y="2057400"/>
            <a:ext cx="2194560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PRÓXIMAS 4 SEMANAS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Implantar a gestão à vista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3246120"/>
            <a:ext cx="3118104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Acompanhar SLA, risco alto e confirmação do fornecedor.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6448" y="1828800"/>
            <a:ext cx="3575304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56448" y="1828800"/>
            <a:ext cx="3575304" cy="5486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85048" y="2057400"/>
            <a:ext cx="2194560" cy="29260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5048" y="2057400"/>
            <a:ext cx="2194560" cy="29260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APÓS 30 DIAS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Revisar causa e capacidade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3246120"/>
            <a:ext cx="3118104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Comparar coortes, modalidades e carga por equipe.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Timeline com marcador de hoje e legenda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CATÁLOGO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22</a:t>
            </a:r>
          </a:p>
        </p:txBody>
      </p:sp>
      <p:pic>
        <p:nvPicPr>
          <p:cNvPr id="8" name="Picture 7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31520" y="3858768"/>
            <a:ext cx="10698480" cy="54864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3703320"/>
            <a:ext cx="365760" cy="365760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971800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8C8C8C"/>
                </a:solidFill>
                <a:latin typeface="Calibri"/>
              </a:rPr>
              <a:t>Jun/26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06240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Kickoff</a:t>
            </a:r>
          </a:p>
        </p:txBody>
      </p:sp>
      <p:sp>
        <p:nvSpPr>
          <p:cNvPr id="13" name="Oval 12"/>
          <p:cNvSpPr/>
          <p:nvPr/>
        </p:nvSpPr>
        <p:spPr>
          <a:xfrm>
            <a:off x="3451859" y="3703320"/>
            <a:ext cx="365760" cy="365760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1779" y="2971800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8C8C8C"/>
                </a:solidFill>
                <a:latin typeface="Calibri"/>
              </a:rPr>
              <a:t>Jul/26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1779" y="4206240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Design aprovado</a:t>
            </a:r>
          </a:p>
        </p:txBody>
      </p:sp>
      <p:sp>
        <p:nvSpPr>
          <p:cNvPr id="16" name="Oval 15"/>
          <p:cNvSpPr/>
          <p:nvPr/>
        </p:nvSpPr>
        <p:spPr>
          <a:xfrm>
            <a:off x="5897879" y="3703320"/>
            <a:ext cx="365760" cy="365760"/>
          </a:xfrm>
          <a:prstGeom prst="ellipse">
            <a:avLst/>
          </a:prstGeom>
          <a:solidFill>
            <a:srgbClr val="F9A82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799" y="2971800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8C8C8C"/>
                </a:solidFill>
                <a:latin typeface="Calibri"/>
              </a:rPr>
              <a:t>Set/26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799" y="4206240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Homologação</a:t>
            </a:r>
          </a:p>
        </p:txBody>
      </p:sp>
      <p:sp>
        <p:nvSpPr>
          <p:cNvPr id="19" name="Oval 18"/>
          <p:cNvSpPr/>
          <p:nvPr/>
        </p:nvSpPr>
        <p:spPr>
          <a:xfrm>
            <a:off x="8343900" y="3703320"/>
            <a:ext cx="365760" cy="365760"/>
          </a:xfrm>
          <a:prstGeom prst="ellipse">
            <a:avLst/>
          </a:prstGeom>
          <a:solidFill>
            <a:srgbClr val="C6282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3819" y="2971800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8C8C8C"/>
                </a:solidFill>
                <a:latin typeface="Calibri"/>
              </a:rPr>
              <a:t>Out/26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3819" y="4206240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Testes</a:t>
            </a:r>
          </a:p>
        </p:txBody>
      </p:sp>
      <p:sp>
        <p:nvSpPr>
          <p:cNvPr id="22" name="Oval 21"/>
          <p:cNvSpPr/>
          <p:nvPr/>
        </p:nvSpPr>
        <p:spPr>
          <a:xfrm>
            <a:off x="10789920" y="3703320"/>
            <a:ext cx="365760" cy="365760"/>
          </a:xfrm>
          <a:prstGeom prst="ellipse">
            <a:avLst/>
          </a:prstGeom>
          <a:solidFill>
            <a:srgbClr val="1F3A5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2971800"/>
            <a:ext cx="164592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8C8C8C"/>
                </a:solidFill>
                <a:latin typeface="Calibri"/>
              </a:rPr>
              <a:t>Nov/26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4206240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Go-live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03769" y="3246120"/>
            <a:ext cx="27432" cy="128016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46569" y="29260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2A900"/>
                </a:solidFill>
                <a:latin typeface="Calibri"/>
              </a:rPr>
              <a:t>Hoje</a:t>
            </a:r>
          </a:p>
        </p:txBody>
      </p:sp>
      <p:sp>
        <p:nvSpPr>
          <p:cNvPr id="27" name="Oval 26"/>
          <p:cNvSpPr/>
          <p:nvPr/>
        </p:nvSpPr>
        <p:spPr>
          <a:xfrm>
            <a:off x="457200" y="5852160"/>
            <a:ext cx="182880" cy="18288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80644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Calibri"/>
              </a:rPr>
              <a:t>Concluído</a:t>
            </a:r>
          </a:p>
        </p:txBody>
      </p:sp>
      <p:sp>
        <p:nvSpPr>
          <p:cNvPr id="29" name="Oval 28"/>
          <p:cNvSpPr/>
          <p:nvPr/>
        </p:nvSpPr>
        <p:spPr>
          <a:xfrm>
            <a:off x="2011680" y="5852160"/>
            <a:ext cx="182880" cy="182880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40280" y="580644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Calibri"/>
              </a:rPr>
              <a:t>Em risco</a:t>
            </a:r>
          </a:p>
        </p:txBody>
      </p:sp>
      <p:sp>
        <p:nvSpPr>
          <p:cNvPr id="31" name="Oval 30"/>
          <p:cNvSpPr/>
          <p:nvPr/>
        </p:nvSpPr>
        <p:spPr>
          <a:xfrm>
            <a:off x="3566160" y="5852160"/>
            <a:ext cx="182880" cy="182880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94760" y="580644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Calibri"/>
              </a:rPr>
              <a:t>Atrasado</a:t>
            </a:r>
          </a:p>
        </p:txBody>
      </p:sp>
      <p:sp>
        <p:nvSpPr>
          <p:cNvPr id="33" name="Oval 32"/>
          <p:cNvSpPr/>
          <p:nvPr/>
        </p:nvSpPr>
        <p:spPr>
          <a:xfrm>
            <a:off x="5120640" y="5852160"/>
            <a:ext cx="182880" cy="1828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9240" y="5806440"/>
            <a:ext cx="137160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8C8C8C"/>
                </a:solidFill>
                <a:latin typeface="Calibri"/>
              </a:rPr>
              <a:t>Planejado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Processo em chevrons com métrica por etapa e etapa atual destacada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CATÁLOGO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FLUXO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23</a:t>
            </a:r>
          </a:p>
        </p:txBody>
      </p:sp>
      <p:pic>
        <p:nvPicPr>
          <p:cNvPr id="8" name="Picture 7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FOCO DE MELHORIA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Confirmar data do fornecedor no pedido e escalar desvios antes do vencimento.</a:t>
            </a:r>
          </a:p>
        </p:txBody>
      </p:sp>
      <p:sp>
        <p:nvSpPr>
          <p:cNvPr id="13" name="Pentagon 12"/>
          <p:cNvSpPr/>
          <p:nvPr/>
        </p:nvSpPr>
        <p:spPr>
          <a:xfrm>
            <a:off x="457200" y="2194560"/>
            <a:ext cx="2727198" cy="1280160"/>
          </a:xfrm>
          <a:prstGeom prst="homePlat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1. Solicitação</a:t>
            </a:r>
          </a:p>
        </p:txBody>
      </p:sp>
      <p:sp>
        <p:nvSpPr>
          <p:cNvPr id="14" name="Chevron 13"/>
          <p:cNvSpPr/>
          <p:nvPr/>
        </p:nvSpPr>
        <p:spPr>
          <a:xfrm>
            <a:off x="3275838" y="2194560"/>
            <a:ext cx="2727198" cy="128016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2. Aprovação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7278" y="3657600"/>
            <a:ext cx="2544318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1F3A5F"/>
                </a:solidFill>
                <a:latin typeface="Calibri"/>
              </a:rPr>
              <a:t>7,2 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7278" y="4251960"/>
            <a:ext cx="2544318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até aprovação (n=40)</a:t>
            </a:r>
          </a:p>
        </p:txBody>
      </p:sp>
      <p:sp>
        <p:nvSpPr>
          <p:cNvPr id="17" name="Chevron 16"/>
          <p:cNvSpPr/>
          <p:nvPr/>
        </p:nvSpPr>
        <p:spPr>
          <a:xfrm>
            <a:off x="6094476" y="2194560"/>
            <a:ext cx="2727198" cy="128016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3. Pedido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5916" y="3657600"/>
            <a:ext cx="2544318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1F3A5F"/>
                </a:solidFill>
                <a:latin typeface="Calibri"/>
              </a:rPr>
              <a:t>4,3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5916" y="4251960"/>
            <a:ext cx="2544318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até pedido (n=27)</a:t>
            </a:r>
          </a:p>
        </p:txBody>
      </p:sp>
      <p:sp>
        <p:nvSpPr>
          <p:cNvPr id="20" name="Chevron 19"/>
          <p:cNvSpPr/>
          <p:nvPr/>
        </p:nvSpPr>
        <p:spPr>
          <a:xfrm>
            <a:off x="8913114" y="2194560"/>
            <a:ext cx="2727198" cy="1280160"/>
          </a:xfrm>
          <a:prstGeom prst="chevron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4. Entrega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4554" y="3657600"/>
            <a:ext cx="2544318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600" b="1" i="0">
                <a:solidFill>
                  <a:srgbClr val="F2A900"/>
                </a:solidFill>
                <a:latin typeface="Calibri"/>
              </a:rPr>
              <a:t>39,9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4554" y="4251960"/>
            <a:ext cx="2544318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até entrega real (n=13)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Matriz 2×2 com quadrante destacado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CATÁLOGO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MATRIZ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24</a:t>
            </a:r>
          </a:p>
        </p:txBody>
      </p:sp>
      <p:pic>
        <p:nvPicPr>
          <p:cNvPr id="8" name="Picture 7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463040" y="1737360"/>
            <a:ext cx="4069080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783080"/>
            <a:ext cx="3886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8C8C8C"/>
                </a:solidFill>
                <a:latin typeface="Calibri"/>
              </a:rPr>
              <a:t>PLANEJAR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48840"/>
            <a:ext cx="38862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400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Automação L4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737360"/>
            <a:ext cx="4069080" cy="1920240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1783080"/>
            <a:ext cx="3886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8C8C8C"/>
                </a:solidFill>
                <a:latin typeface="Calibri"/>
              </a:rPr>
              <a:t>FAZER AGORA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148840"/>
            <a:ext cx="38862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400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SMED turno C</a:t>
            </a:r>
          </a:p>
          <a:p>
            <a:pPr marL="228600" indent="-228600">
              <a:spcAft>
                <a:spcPts val="400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Kit de material</a:t>
            </a:r>
          </a:p>
          <a:p>
            <a:pPr marL="228600" indent="-228600">
              <a:spcAft>
                <a:spcPts val="400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Alerta de energia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749040"/>
            <a:ext cx="4069080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794760"/>
            <a:ext cx="3886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8C8C8C"/>
                </a:solidFill>
                <a:latin typeface="Calibri"/>
              </a:rPr>
              <a:t>DESCARTAR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160520"/>
            <a:ext cx="38862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400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Layout do refeitório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3749040"/>
            <a:ext cx="4069080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3794760"/>
            <a:ext cx="3886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8C8C8C"/>
                </a:solidFill>
                <a:latin typeface="Calibri"/>
              </a:rPr>
              <a:t>DELEGAR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4160520"/>
            <a:ext cx="38862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400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333333"/>
                </a:solidFill>
                <a:latin typeface="Calibri"/>
              </a:rPr>
              <a:t>Revisão de checklist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71500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8C8C8C"/>
                </a:solidFill>
                <a:latin typeface="Calibri"/>
              </a:rPr>
              <a:t>Facilidade  →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457200" y="352044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8C8C8C"/>
                </a:solidFill>
                <a:latin typeface="Calibri"/>
              </a:rPr>
              <a:t>Impacto  →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972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0" b="1" i="0">
                <a:solidFill>
                  <a:srgbClr val="F2A900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5752" cy="2377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800" b="0" i="1">
                <a:solidFill>
                  <a:srgbClr val="FFFFFF"/>
                </a:solidFill>
                <a:latin typeface="Calibri"/>
              </a:rPr>
              <a:t>Em 6 meses reduzimos 18% do custo de energia e descobrimos duas máquinas que consumiam paradas.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44575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 i="0">
                <a:solidFill>
                  <a:srgbClr val="D9E1EA"/>
                </a:solidFill>
                <a:latin typeface="Calibri"/>
              </a:rPr>
              <a:t>— Gerente industrial, cliente do setor metalúrgico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6000" b="1" i="0">
                <a:solidFill>
                  <a:srgbClr val="F2A900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Fechamento</a:t>
            </a:r>
          </a:p>
        </p:txBody>
      </p:sp>
      <p:pic>
        <p:nvPicPr>
          <p:cNvPr id="4" name="Picture 3" descr="logo-placeholder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4572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Plano de ação com decisão pedida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CATÁLOGO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PLANO DE 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27</a:t>
            </a:r>
          </a:p>
        </p:txBody>
      </p:sp>
      <p:pic>
        <p:nvPicPr>
          <p:cNvPr id="8" name="Picture 7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2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Aprovar fornecedor 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Sponsor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05/09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F9A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Replanejar testes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GP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10/09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Calibr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Treinar turno C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Supervisor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28/08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Atrasada</a:t>
                      </a:r>
                    </a:p>
                  </a:txBody>
                  <a:tcPr anchor="ctr" marL="73152" marR="73152">
                    <a:solidFill>
                      <a:srgbClr val="C628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Mapear processo atual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Carlos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20/08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Concluída</a:t>
                      </a:r>
                    </a:p>
                  </a:txBody>
                  <a:tcPr anchor="ctr" marL="73152" marR="73152">
                    <a:solidFill>
                      <a:srgbClr val="2E7D3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394960"/>
            <a:ext cx="73152" cy="68580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394960"/>
            <a:ext cx="108813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/>
            </a:r>
            <a:r>
              <a:rPr sz="1600" b="1" i="0">
                <a:solidFill>
                  <a:srgbClr val="F2A900"/>
                </a:solidFill>
                <a:latin typeface="Calibri"/>
              </a:rPr>
              <a:t>Decisão pedida:  </a:t>
            </a:r>
            <a:r>
              <a:rPr sz="1600" b="1" i="0">
                <a:solidFill>
                  <a:srgbClr val="333333"/>
                </a:solidFill>
                <a:latin typeface="Calibri"/>
              </a:rPr>
              <a:t>Aprovar o fornecedor Y como plano B (R$ 40 mil adicionais)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Quadro de decisões editável (headers alternativos)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CATÁLOGO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Calibri"/>
              </a:rPr>
              <a:t>set/2026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FECHAMENTO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28</a:t>
            </a:r>
          </a:p>
        </p:txBody>
      </p:sp>
      <p:pic>
        <p:nvPicPr>
          <p:cNvPr id="8" name="Picture 7" descr="logo-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6245352"/>
            <a:ext cx="822960" cy="2743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CRITÉRIO DE SAÍDA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Cada tema relevante precisa de decisão ou de um responsável por fechar a pendência.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1737360"/>
          <a:ext cx="11274552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Decisão / direcionamento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Responsável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Pendência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Próxima revisão: 15/09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 i="0">
                <a:solidFill>
                  <a:srgbClr val="D9E1EA"/>
                </a:solidFill>
                <a:latin typeface="Calibri"/>
              </a:rPr>
              <a:t>pmo@empresa.com | Anexos: cronograma completo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placeholder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0"/>
            <a:ext cx="13716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