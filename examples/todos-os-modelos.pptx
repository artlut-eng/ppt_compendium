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Receita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dPt>
            <c:idx val="0"/>
            <c:spPr>
              <a:solidFill>
                <a:srgbClr val="F2A900"/>
              </a:solidFill>
            </c:spPr>
          </c:dPt>
          <c:cat>
            <c:strRef>
              <c:f>Sheet1!$A$2:$A$5</c:f>
              <c:strCache>
                <c:ptCount val="4"/>
                <c:pt idx="0">
                  <c:v>Sudeste</c:v>
                </c:pt>
                <c:pt idx="1">
                  <c:v>Sul</c:v>
                </c:pt>
                <c:pt idx="2">
                  <c:v>Nordeste</c:v>
                </c:pt>
                <c:pt idx="3">
                  <c:v>Centro-Oeste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2.0</c:v>
                </c:pt>
                <c:pt idx="1">
                  <c:v>1.35</c:v>
                </c:pt>
                <c:pt idx="2">
                  <c:v>0.8</c:v>
                </c:pt>
                <c:pt idx="3">
                  <c:v>0.58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>
                  <a:solidFill>
                    <a:srgbClr val="333333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8C8C8C"/>
            </a:solidFill>
          </a:ln>
        </c:spPr>
        <c:txPr>
          <a:bodyPr/>
          <a:lstStyle/>
          <a:p>
            <a:pPr>
              <a:defRPr sz="1100">
                <a:solidFill>
                  <a:srgbClr val="8C8C8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F2F2F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C8C8C"/>
                </a:solidFill>
              </a:defRPr>
            </a:pPr>
          </a:p>
        </c:txPr>
        <c:crossAx val="-2068027336"/>
        <c:crosses val="max"/>
      </c:valAx>
    </c:plotArea>
    <c:dispBlanksAs val="gap"/>
  </c:chart>
  <c:txPr>
    <a:bodyPr/>
    <a:lstStyle/>
    <a:p>
      <a:pPr>
        <a:defRPr sz="1100">
          <a:solidFill>
            <a:srgbClr val="3333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Planejado</c:v>
                </c:pt>
              </c:strCache>
            </c:strRef>
          </c:tx>
          <c:spPr>
            <a:ln w="31750">
              <a:solidFill>
                <a:srgbClr val="8C8C8C"/>
              </a:solidFill>
              <a:prstDash val="dash"/>
            </a:ln>
          </c:spPr>
          <c:marker>
            <c:spPr>
              <a:solidFill>
                <a:srgbClr val="8C8C8C"/>
              </a:solidFill>
              <a:ln>
                <a:solidFill>
                  <a:srgbClr val="8C8C8C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S28</c:v>
                </c:pt>
                <c:pt idx="1">
                  <c:v>S29</c:v>
                </c:pt>
                <c:pt idx="2">
                  <c:v>S30</c:v>
                </c:pt>
                <c:pt idx="3">
                  <c:v>S31</c:v>
                </c:pt>
                <c:pt idx="4">
                  <c:v>S32</c:v>
                </c:pt>
                <c:pt idx="5">
                  <c:v>S33</c:v>
                </c:pt>
                <c:pt idx="6">
                  <c:v>S34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</c:v>
                </c:pt>
                <c:pt idx="1">
                  <c:v>45</c:v>
                </c:pt>
                <c:pt idx="2">
                  <c:v>50</c:v>
                </c:pt>
                <c:pt idx="3">
                  <c:v>55</c:v>
                </c:pt>
                <c:pt idx="4">
                  <c:v>60</c:v>
                </c:pt>
                <c:pt idx="5">
                  <c:v>64</c:v>
                </c:pt>
                <c:pt idx="6">
                  <c:v>68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</c:v>
                </c:pt>
              </c:strCache>
            </c:strRef>
          </c:tx>
          <c:spPr>
            <a:ln w="31750">
              <a:solidFill>
                <a:srgbClr val="4F81BD"/>
              </a:solidFill>
            </a:ln>
          </c:spPr>
          <c:marker>
            <c:spPr>
              <a:solidFill>
                <a:srgbClr val="4F81BD"/>
              </a:solidFill>
              <a:ln>
                <a:solidFill>
                  <a:srgbClr val="4F81BD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S28</c:v>
                </c:pt>
                <c:pt idx="1">
                  <c:v>S29</c:v>
                </c:pt>
                <c:pt idx="2">
                  <c:v>S30</c:v>
                </c:pt>
                <c:pt idx="3">
                  <c:v>S31</c:v>
                </c:pt>
                <c:pt idx="4">
                  <c:v>S32</c:v>
                </c:pt>
                <c:pt idx="5">
                  <c:v>S33</c:v>
                </c:pt>
                <c:pt idx="6">
                  <c:v>S34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40</c:v>
                </c:pt>
                <c:pt idx="1">
                  <c:v>44</c:v>
                </c:pt>
                <c:pt idx="2">
                  <c:v>48</c:v>
                </c:pt>
                <c:pt idx="3">
                  <c:v>52</c:v>
                </c:pt>
                <c:pt idx="4">
                  <c:v>56</c:v>
                </c:pt>
                <c:pt idx="5">
                  <c:v>59</c:v>
                </c:pt>
                <c:pt idx="6">
                  <c:v>62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C8C8C"/>
            </a:solidFill>
          </a:ln>
        </c:spPr>
        <c:txPr>
          <a:bodyPr/>
          <a:lstStyle/>
          <a:p>
            <a:pPr>
              <a:defRPr sz="1100">
                <a:solidFill>
                  <a:srgbClr val="8C8C8C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F2F2F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C8C8C"/>
                </a:solidFill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solidFill>
            <a:srgbClr val="3333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Produto A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1T</c:v>
                </c:pt>
                <c:pt idx="1">
                  <c:v>2T</c:v>
                </c:pt>
                <c:pt idx="2">
                  <c:v>3T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</c:v>
                </c:pt>
                <c:pt idx="1">
                  <c:v>12</c:v>
                </c:pt>
                <c:pt idx="2">
                  <c:v>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Produto B</c:v>
                </c:pt>
              </c:strCache>
            </c:strRef>
          </c:tx>
          <c:spPr>
            <a:solidFill>
              <a:srgbClr val="4F81BD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1T</c:v>
                </c:pt>
                <c:pt idx="1">
                  <c:v>2T</c:v>
                </c:pt>
                <c:pt idx="2">
                  <c:v>3T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</c:v>
                </c:pt>
                <c:pt idx="1">
                  <c:v>7</c:v>
                </c:pt>
                <c:pt idx="2">
                  <c:v>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Serviços</c:v>
                </c:pt>
              </c:strCache>
            </c:strRef>
          </c:tx>
          <c:spPr>
            <a:solidFill>
              <a:srgbClr val="F2A900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1T</c:v>
                </c:pt>
                <c:pt idx="1">
                  <c:v>2T</c:v>
                </c:pt>
                <c:pt idx="2">
                  <c:v>3T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</c:v>
                </c:pt>
                <c:pt idx="1">
                  <c:v>4</c:v>
                </c:pt>
                <c:pt idx="2">
                  <c:v>5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C8C8C"/>
            </a:solidFill>
          </a:ln>
        </c:spPr>
        <c:txPr>
          <a:bodyPr/>
          <a:lstStyle/>
          <a:p>
            <a:pPr>
              <a:defRPr sz="1100">
                <a:solidFill>
                  <a:srgbClr val="8C8C8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F2F2F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C8C8C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100">
          <a:solidFill>
            <a:srgbClr val="3333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>min</c:v>
                </c:pt>
              </c:strCache>
            </c:strRef>
          </c:tx>
          <c:dPt>
            <c:idx val="0"/>
            <c:spPr>
              <a:solidFill>
                <a:srgbClr val="1F3A5F"/>
              </a:solidFill>
            </c:spPr>
          </c:dPt>
          <c:dPt>
            <c:idx val="1"/>
            <c:spPr>
              <a:solidFill>
                <a:srgbClr val="4F81BD"/>
              </a:solidFill>
            </c:spPr>
          </c:dPt>
          <c:dPt>
            <c:idx val="2"/>
            <c:spPr>
              <a:solidFill>
                <a:srgbClr val="F2A900"/>
              </a:solidFill>
            </c:spPr>
          </c:dPt>
          <c:dPt>
            <c:idx val="3"/>
            <c:spPr>
              <a:solidFill>
                <a:srgbClr val="8C8C8C"/>
              </a:solidFill>
            </c:spPr>
          </c:dPt>
          <c:cat>
            <c:strRef>
              <c:f>Sheet1!$A$2:$A$5</c:f>
              <c:strCache>
                <c:ptCount val="4"/>
                <c:pt idx="0">
                  <c:v>Troca de ferramenta</c:v>
                </c:pt>
                <c:pt idx="1">
                  <c:v>Falta de material</c:v>
                </c:pt>
                <c:pt idx="2">
                  <c:v>Falha hidráulica</c:v>
                </c:pt>
                <c:pt idx="3">
                  <c:v>Outros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95</c:v>
                </c:pt>
                <c:pt idx="2">
                  <c:v>50</c:v>
                </c:pt>
                <c:pt idx="3">
                  <c:v>45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333333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solidFill>
            <a:srgbClr val="333333"/>
          </a:solidFill>
          <a:latin typeface="Calibri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Deck de teste: exercita todos os modelos.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D9E1EA"/>
                </a:solidFill>
                <a:latin typeface="Calibri"/>
              </a:rPr>
              <a:t>EMPRESA EXEMPLO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F2A900"/>
                </a:solidFill>
                <a:latin typeface="Calibri"/>
              </a:rPr>
              <a:t>CATÁLOGO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7315200" cy="17373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Catálogo de modelos de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49039"/>
            <a:ext cx="73152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D9E1EA"/>
                </a:solidFill>
                <a:latin typeface="Calibri"/>
              </a:rPr>
              <a:t>Um slide de cada tipo suportado pela spec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0" y="1920240"/>
            <a:ext cx="3319272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0" y="1920240"/>
            <a:ext cx="73152" cy="246888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80" y="2057400"/>
            <a:ext cx="2971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TESE CENTRAL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2423160"/>
            <a:ext cx="2971800" cy="187451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Todos os modelos geram slides dentro do grid, com cabeçalho, kicker, logotipo e callouts opcionais.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BFC9D4"/>
                </a:solidFill>
                <a:latin typeface="Calibri"/>
              </a:rPr>
              <a:t>set/2026 | Uso interno</a:t>
            </a:r>
          </a:p>
        </p:txBody>
      </p:sp>
      <p:pic>
        <p:nvPicPr>
          <p:cNvPr id="12" name="Picture 11" descr="logo-placeholder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457200"/>
            <a:ext cx="13716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2</a:t>
            </a:r>
          </a:p>
        </p:txBody>
      </p:sp>
      <p:pic>
        <p:nvPicPr>
          <p:cNvPr id="7" name="Picture 6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457200" y="15544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5544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000" b="0" i="0">
                <a:solidFill>
                  <a:srgbClr val="333333"/>
                </a:solidFill>
                <a:latin typeface="Calibri"/>
              </a:rPr>
              <a:t>Abertura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1554480"/>
            <a:ext cx="36576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8C8C8C"/>
                </a:solidFill>
                <a:latin typeface="Calibri"/>
              </a:rPr>
              <a:t>5 min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402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2402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000" b="0" i="0">
                <a:solidFill>
                  <a:srgbClr val="333333"/>
                </a:solidFill>
                <a:latin typeface="Calibri"/>
              </a:rPr>
              <a:t>Dados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240280"/>
            <a:ext cx="36576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8C8C8C"/>
                </a:solidFill>
                <a:latin typeface="Calibri"/>
              </a:rPr>
              <a:t>15 min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29260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9260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000" b="0" i="0">
                <a:solidFill>
                  <a:srgbClr val="333333"/>
                </a:solidFill>
                <a:latin typeface="Calibri"/>
              </a:rPr>
              <a:t>Estrutura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926080"/>
            <a:ext cx="36576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8C8C8C"/>
                </a:solidFill>
                <a:latin typeface="Calibri"/>
              </a:rPr>
              <a:t>10 min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36118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6118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000" b="0" i="0">
                <a:solidFill>
                  <a:srgbClr val="333333"/>
                </a:solidFill>
                <a:latin typeface="Calibri"/>
              </a:rPr>
              <a:t>Fechamento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611880"/>
            <a:ext cx="36576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8C8C8C"/>
                </a:solidFill>
                <a:latin typeface="Calibri"/>
              </a:rPr>
              <a:t>5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8288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000" b="1" i="0">
                <a:solidFill>
                  <a:srgbClr val="F2A900"/>
                </a:solidFill>
                <a:latin typeface="Calibri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Abertura</a:t>
            </a:r>
          </a:p>
        </p:txBody>
      </p:sp>
      <p:pic>
        <p:nvPicPr>
          <p:cNvPr id="4" name="Picture 3" descr="logo-placeholder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457200"/>
            <a:ext cx="109728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4114800"/>
            <a:ext cx="10698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D9E1EA"/>
                </a:solidFill>
                <a:latin typeface="Calibri"/>
              </a:rPr>
              <a:t>Sumário, KPIs e número grande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Sumário executivo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SUMÁRIO EXECUTIVO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build_examples.py   |   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4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1645920"/>
            <a:ext cx="11274552" cy="1005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45920"/>
            <a:ext cx="73152" cy="10058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45920"/>
            <a:ext cx="10881360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Calibri"/>
              </a:rPr>
              <a:t>Todos os 19 modelos geram slides dentro do grid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971800"/>
            <a:ext cx="411480" cy="4114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926080"/>
            <a:ext cx="10515600" cy="792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alibri"/>
              </a:rPr>
              <a:t>Título no placeholder nativo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764279"/>
            <a:ext cx="411480" cy="4114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718560"/>
            <a:ext cx="10515600" cy="792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alibri"/>
              </a:rPr>
              <a:t>Rodapé com fonte, logotipo e página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556760"/>
            <a:ext cx="411480" cy="4114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511040"/>
            <a:ext cx="10515600" cy="792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alibri"/>
              </a:rPr>
              <a:t>Cores só por papel da paleta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394960"/>
            <a:ext cx="11274552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F2A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394960"/>
            <a:ext cx="109728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Calibri"/>
              </a:rPr>
              <a:t/>
            </a:r>
            <a:r>
              <a:rPr sz="1600" b="1" i="0">
                <a:solidFill>
                  <a:srgbClr val="F2A900"/>
                </a:solidFill>
                <a:latin typeface="Calibri"/>
              </a:rPr>
              <a:t>Pedimos: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Revisar visualmente e ajustar coordenadas se necessário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Seis KPIs cabem em uma linha com fonte reduzida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VISÃO GERAL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MES   |   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5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5349240"/>
            <a:ext cx="73152" cy="731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1F3A5F"/>
                </a:solidFill>
                <a:latin typeface="Calibri"/>
              </a:rPr>
              <a:t>CONCLUSÃO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Calibri"/>
              </a:rPr>
              <a:t>Três indicadores no vermelho concentram-se na Linha 2; o restante segue no alvo.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828800"/>
            <a:ext cx="1650492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1828800"/>
            <a:ext cx="1650492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057400"/>
            <a:ext cx="13761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SEGURANÇA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423160"/>
            <a:ext cx="137617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333333"/>
                </a:solidFill>
                <a:latin typeface="Calibri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429000"/>
            <a:ext cx="137617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142 dias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2012" y="1828800"/>
            <a:ext cx="1650492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2012" y="1828800"/>
            <a:ext cx="1650492" cy="7315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19172" y="2057400"/>
            <a:ext cx="13761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PRODUÇÃO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19172" y="2423160"/>
            <a:ext cx="137617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333333"/>
                </a:solidFill>
                <a:latin typeface="Calibri"/>
              </a:rPr>
              <a:t>4.120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9172" y="3429000"/>
            <a:ext cx="137617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C62828"/>
                </a:solidFill>
                <a:latin typeface="Calibri"/>
              </a:rPr>
              <a:t>meta 4.500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06824" y="1828800"/>
            <a:ext cx="1650492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06824" y="1828800"/>
            <a:ext cx="1650492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43984" y="2057400"/>
            <a:ext cx="13761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QUALIDADE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984" y="2423160"/>
            <a:ext cx="137617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333333"/>
                </a:solidFill>
                <a:latin typeface="Calibri"/>
              </a:rPr>
              <a:t>1,8%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43984" y="3429000"/>
            <a:ext cx="137617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meta 2%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31636" y="1828800"/>
            <a:ext cx="1650492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31636" y="1828800"/>
            <a:ext cx="1650492" cy="7315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8796" y="2057400"/>
            <a:ext cx="13761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OEE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68796" y="2423160"/>
            <a:ext cx="137617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333333"/>
                </a:solidFill>
                <a:latin typeface="Calibri"/>
              </a:rPr>
              <a:t>68%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68796" y="3429000"/>
            <a:ext cx="137617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C62828"/>
                </a:solidFill>
                <a:latin typeface="Calibri"/>
              </a:rPr>
              <a:t>meta 75%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56448" y="1828800"/>
            <a:ext cx="1650492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56448" y="1828800"/>
            <a:ext cx="1650492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93608" y="2057400"/>
            <a:ext cx="13761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OTIF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93608" y="2423160"/>
            <a:ext cx="137617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333333"/>
                </a:solidFill>
                <a:latin typeface="Calibri"/>
              </a:rPr>
              <a:t>96%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3608" y="3429000"/>
            <a:ext cx="137617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meta 95%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081260" y="1828800"/>
            <a:ext cx="1650492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81260" y="1828800"/>
            <a:ext cx="1650492" cy="731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18420" y="2057400"/>
            <a:ext cx="13761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CUSTO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18420" y="2423160"/>
            <a:ext cx="137617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300" b="1" i="0">
                <a:solidFill>
                  <a:srgbClr val="333333"/>
                </a:solidFill>
                <a:latin typeface="Calibri"/>
              </a:rPr>
              <a:t>R$ 1,2 mi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18420" y="3429000"/>
            <a:ext cx="137617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8C8C8C"/>
                </a:solidFill>
                <a:latin typeface="Calibri"/>
              </a:rPr>
              <a:t>no orçamento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297680"/>
            <a:ext cx="11274552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Contexto opcional abaixo dos cartões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Segunda linha de contexto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Quatro KPIs com linha de cobertura sob o delta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KPIS COM DESCRIÇÃO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Base de solicitações (n=71)   |   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6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FF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5349240"/>
            <a:ext cx="73152" cy="73152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F9A825"/>
                </a:solidFill>
                <a:latin typeface="Calibri"/>
              </a:rPr>
              <a:t>CUIDADO DE LEITURA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Calibri"/>
              </a:rPr>
              <a:t>21 solicitações ainda não possuem valor contratado; o saving reflete apenas itens contratados.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828800"/>
            <a:ext cx="2612898" cy="2651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1828800"/>
            <a:ext cx="2612898" cy="7315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05740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FORA DO PRAZO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42316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333333"/>
                </a:solidFill>
                <a:latin typeface="Calibri"/>
              </a:rPr>
              <a:t>76%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42900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C62828"/>
                </a:solidFill>
                <a:latin typeface="Calibri"/>
              </a:rPr>
              <a:t>54 de 71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94760"/>
            <a:ext cx="2338578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classificadas como atrasadas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44418" y="1828800"/>
            <a:ext cx="2612898" cy="2651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44418" y="1828800"/>
            <a:ext cx="2612898" cy="7315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81577" y="205740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ATRASO MÉDIO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81577" y="242316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900" b="1" i="0">
                <a:solidFill>
                  <a:srgbClr val="333333"/>
                </a:solidFill>
                <a:latin typeface="Calibri"/>
              </a:rPr>
              <a:t>62 dias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81577" y="342900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C62828"/>
                </a:solidFill>
                <a:latin typeface="Calibri"/>
              </a:rPr>
              <a:t>mediana 61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81577" y="3794760"/>
            <a:ext cx="2338578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entre os itens atrasados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31636" y="1828800"/>
            <a:ext cx="2612898" cy="2651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1636" y="1828800"/>
            <a:ext cx="2612898" cy="73152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68796" y="205740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RISCO ALTO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8796" y="242316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333333"/>
                </a:solidFill>
                <a:latin typeface="Calibri"/>
              </a:rPr>
              <a:t>70%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8796" y="342900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9A825"/>
                </a:solidFill>
                <a:latin typeface="Calibri"/>
              </a:rPr>
              <a:t>50 solicitações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8796" y="3794760"/>
            <a:ext cx="2338578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nível de risco registrado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18854" y="1828800"/>
            <a:ext cx="2612898" cy="2651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118854" y="1828800"/>
            <a:ext cx="2612898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56014" y="205740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SAVING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6014" y="242316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333333"/>
                </a:solidFill>
                <a:latin typeface="Calibri"/>
              </a:rPr>
              <a:t>4,3%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56014" y="342900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R$ 68,6 mil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56014" y="3794760"/>
            <a:ext cx="2338578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só itens com valor contratado (n=50)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Um número que é a mensagem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NÚMERO GRANDE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Faturas 2025   |   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7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011680"/>
            <a:ext cx="11274552" cy="1828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8000" b="1" i="0">
                <a:solidFill>
                  <a:srgbClr val="1F3A5F"/>
                </a:solidFill>
                <a:latin typeface="Calibri"/>
              </a:rPr>
              <a:t>R$ 2,1 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31920"/>
            <a:ext cx="11274552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0" i="0">
                <a:solidFill>
                  <a:srgbClr val="8C8C8C"/>
                </a:solidFill>
                <a:latin typeface="Calibri"/>
              </a:rPr>
              <a:t>custo anual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663440"/>
            <a:ext cx="9445752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600" b="0" i="0">
                <a:solidFill>
                  <a:srgbClr val="333333"/>
                </a:solidFill>
                <a:latin typeface="Calibri"/>
              </a:rPr>
              <a:t>Equivale a 8% do faturamento. Comparação obrigatória.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8288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000" b="1" i="0">
                <a:solidFill>
                  <a:srgbClr val="F2A900"/>
                </a:solidFill>
                <a:latin typeface="Calibri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Dados</a:t>
            </a:r>
          </a:p>
        </p:txBody>
      </p:sp>
      <p:pic>
        <p:nvPicPr>
          <p:cNvPr id="4" name="Picture 3" descr="logo-placeholder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457200"/>
            <a:ext cx="10972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Barras horizontais ordenadas com destaque em accent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RANKING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27455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8C8C8C"/>
                </a:solidFill>
                <a:latin typeface="Calibri"/>
              </a:rPr>
              <a:t>R$ mi, agosto/26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CRM   |   Uso interno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9</a:t>
            </a:r>
          </a:p>
        </p:txBody>
      </p:sp>
      <p:pic>
        <p:nvPicPr>
          <p:cNvPr id="9" name="Picture 8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graphicFrame>
        <p:nvGraphicFramePr>
          <p:cNvPr id="10" name="Chart 9" descr="Barras horizontais ordenadas com destaque em accent"/>
          <p:cNvGraphicFramePr>
            <a:graphicFrameLocks noGrp="1"/>
          </p:cNvGraphicFramePr>
          <p:nvPr/>
        </p:nvGraphicFramePr>
        <p:xfrm>
          <a:off x="457200" y="2011680"/>
          <a:ext cx="11274552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Linha com meta tracejada, comentários e callout de recomendação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EVOLUÇÃO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Cronograma   |   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10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5349240"/>
            <a:ext cx="73152" cy="7315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  <a:latin typeface="Calibri"/>
              </a:rPr>
              <a:t>RECOMENDAÇÃO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Calibri"/>
              </a:rPr>
              <a:t>Acionar o fornecedor alternativo e replanejar os testes integrados.</a:t>
            </a:r>
          </a:p>
        </p:txBody>
      </p:sp>
      <p:graphicFrame>
        <p:nvGraphicFramePr>
          <p:cNvPr id="13" name="Chart 12" descr="Linha com meta tracejada, comentários e callout de recomendação"/>
          <p:cNvGraphicFramePr>
            <a:graphicFrameLocks noGrp="1"/>
          </p:cNvGraphicFramePr>
          <p:nvPr/>
        </p:nvGraphicFramePr>
        <p:xfrm>
          <a:off x="457200" y="1737360"/>
          <a:ext cx="7315200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8046720" y="1828800"/>
            <a:ext cx="3685032" cy="3291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400" b="0" i="0">
                <a:solidFill>
                  <a:srgbClr val="333333"/>
                </a:solidFill>
                <a:latin typeface="Calibri"/>
              </a:rPr>
              <a:t>Gap abre a partir da S31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400" b="0" i="0">
                <a:solidFill>
                  <a:srgbClr val="333333"/>
                </a:solidFill>
                <a:latin typeface="Calibri"/>
              </a:rPr>
              <a:t>Causa: homologação do fornecedor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400" b="0" i="0">
                <a:solidFill>
                  <a:srgbClr val="333333"/>
                </a:solidFill>
                <a:latin typeface="Calibri"/>
              </a:rPr>
              <a:t>Recuperação prevista na S38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Composição com colunas empilhadas (sem kicker)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ERP   |  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11</a:t>
            </a:r>
          </a:p>
        </p:txBody>
      </p:sp>
      <p:pic>
        <p:nvPicPr>
          <p:cNvPr id="7" name="Picture 6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graphicFrame>
        <p:nvGraphicFramePr>
          <p:cNvPr id="8" name="Chart 7" descr="Composição com colunas empilhadas (sem kicker)"/>
          <p:cNvGraphicFramePr>
            <a:graphicFrameLocks noGrp="1"/>
          </p:cNvGraphicFramePr>
          <p:nvPr/>
        </p:nvGraphicFramePr>
        <p:xfrm>
          <a:off x="457200" y="1463040"/>
          <a:ext cx="11274552" cy="4663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Rosca com até 4 fatias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COMPOSIÇÃO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Apontamento de paradas   |   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12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graphicFrame>
        <p:nvGraphicFramePr>
          <p:cNvPr id="9" name="Chart 8" descr="Rosca com até 4 fatias"/>
          <p:cNvGraphicFramePr>
            <a:graphicFrameLocks noGrp="1"/>
          </p:cNvGraphicFramePr>
          <p:nvPr/>
        </p:nvGraphicFramePr>
        <p:xfrm>
          <a:off x="457200" y="1737360"/>
          <a:ext cx="11274552" cy="4389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Tabela com colunas de status, linha de total e destaque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TABELA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DRE gerencial   |   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13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11274552" cy="2286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59352"/>
                <a:gridCol w="1828800"/>
                <a:gridCol w="1828800"/>
                <a:gridCol w="1828800"/>
                <a:gridCol w="18288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Real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Orçado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Var. %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Receita</a:t>
                      </a:r>
                    </a:p>
                  </a:txBody>
                  <a:tcPr marL="73152" marR="73152" marT="27432" marB="27432" anchor="ctr">
                    <a:solidFill>
                      <a:srgbClr val="FFF3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41,3</a:t>
                      </a:r>
                    </a:p>
                  </a:txBody>
                  <a:tcPr marL="73152" marR="73152" marT="27432" marB="27432" anchor="ctr">
                    <a:solidFill>
                      <a:srgbClr val="FFF3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42,1</a:t>
                      </a:r>
                    </a:p>
                  </a:txBody>
                  <a:tcPr marL="73152" marR="73152" marT="27432" marB="27432" anchor="ctr">
                    <a:solidFill>
                      <a:srgbClr val="FFF3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-1,9%</a:t>
                      </a:r>
                    </a:p>
                  </a:txBody>
                  <a:tcPr marL="73152" marR="73152" marT="27432" marB="27432" anchor="ctr">
                    <a:solidFill>
                      <a:srgbClr val="FFF3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Amarelo</a:t>
                      </a:r>
                    </a:p>
                  </a:txBody>
                  <a:tcPr marL="73152" marR="73152" marT="27432" marB="27432" anchor="ctr">
                    <a:solidFill>
                      <a:srgbClr val="F9A82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Custo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27,0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28,3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-4,6%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Verde</a:t>
                      </a:r>
                    </a:p>
                  </a:txBody>
                  <a:tcPr marL="73152" marR="73152" marT="27432" marB="27432" anchor="ctr">
                    <a:solidFill>
                      <a:srgbClr val="2E7D3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Despesas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6,1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6,1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0,0%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Verde</a:t>
                      </a:r>
                    </a:p>
                  </a:txBody>
                  <a:tcPr marL="73152" marR="73152" marT="27432" marB="27432" anchor="ctr">
                    <a:solidFill>
                      <a:srgbClr val="2E7D3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EBITDA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8,2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7,7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+6,5%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Verde</a:t>
                      </a:r>
                    </a:p>
                  </a:txBody>
                  <a:tcPr marL="73152" marR="73152" marT="27432" marB="27432" anchor="ctr">
                    <a:solidFill>
                      <a:srgbClr val="2E7D3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Ganho de custo compensou volume menor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PONTE DE EBITDA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27455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8C8C8C"/>
                </a:solidFill>
                <a:latin typeface="Calibri"/>
              </a:rPr>
              <a:t>R$ mi, 2T26 vs. orçamento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DRE gerencial, jun/26   |   Uso interno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14</a:t>
            </a:r>
          </a:p>
        </p:txBody>
      </p:sp>
      <p:pic>
        <p:nvPicPr>
          <p:cNvPr id="9" name="Picture 8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457200" y="5394960"/>
            <a:ext cx="11274552" cy="0"/>
          </a:xfrm>
          <a:prstGeom prst="line">
            <a:avLst/>
          </a:prstGeom>
          <a:ln w="952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814227" y="2537191"/>
            <a:ext cx="1165037" cy="28577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907" y="2189719"/>
            <a:ext cx="1713677" cy="3200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333333"/>
                </a:solidFill>
                <a:latin typeface="Calibri"/>
              </a:rPr>
              <a:t>7,7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468112"/>
            <a:ext cx="1879092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  <a:latin typeface="Calibri"/>
              </a:rPr>
              <a:t>EBITDA orçado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3319" y="2537191"/>
            <a:ext cx="1165037" cy="334024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18999" y="2189719"/>
            <a:ext cx="1713677" cy="3200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C62828"/>
                </a:solidFill>
                <a:latin typeface="Calibri"/>
              </a:rPr>
              <a:t>-0,9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6292" y="5468112"/>
            <a:ext cx="1879092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  <a:latin typeface="Calibri"/>
              </a:rPr>
              <a:t>Volume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79264" y="2537191"/>
            <a:ext cx="714055" cy="0"/>
          </a:xfrm>
          <a:prstGeom prst="line">
            <a:avLst/>
          </a:prstGeom>
          <a:ln w="9525">
            <a:solidFill>
              <a:srgbClr val="8C8C8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4572411" y="2759874"/>
            <a:ext cx="1165037" cy="111341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8091" y="2412402"/>
            <a:ext cx="1713677" cy="3200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2E7D32"/>
                </a:solidFill>
                <a:latin typeface="Calibri"/>
              </a:rPr>
              <a:t>+0,3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15384" y="5468112"/>
            <a:ext cx="1879092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  <a:latin typeface="Calibri"/>
              </a:rPr>
              <a:t>Preço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858356" y="2871216"/>
            <a:ext cx="714055" cy="0"/>
          </a:xfrm>
          <a:prstGeom prst="line">
            <a:avLst/>
          </a:prstGeom>
          <a:ln w="9525">
            <a:solidFill>
              <a:srgbClr val="8C8C8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6451503" y="2240280"/>
            <a:ext cx="1165037" cy="519594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7183" y="1892808"/>
            <a:ext cx="1713677" cy="3200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2E7D32"/>
                </a:solidFill>
                <a:latin typeface="Calibri"/>
              </a:rPr>
              <a:t>+1,4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4476" y="5468112"/>
            <a:ext cx="1879092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  <a:latin typeface="Calibri"/>
              </a:rPr>
              <a:t>Custo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737448" y="2759874"/>
            <a:ext cx="714055" cy="0"/>
          </a:xfrm>
          <a:prstGeom prst="line">
            <a:avLst/>
          </a:prstGeom>
          <a:ln w="9525">
            <a:solidFill>
              <a:srgbClr val="8C8C8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8330595" y="2240280"/>
            <a:ext cx="1165037" cy="111341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56275" y="1892808"/>
            <a:ext cx="1713677" cy="3200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C62828"/>
                </a:solidFill>
                <a:latin typeface="Calibri"/>
              </a:rPr>
              <a:t>-0,3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73568" y="5468112"/>
            <a:ext cx="1879092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  <a:latin typeface="Calibri"/>
              </a:rPr>
              <a:t>Despesas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616540" y="2240280"/>
            <a:ext cx="714055" cy="0"/>
          </a:xfrm>
          <a:prstGeom prst="line">
            <a:avLst/>
          </a:prstGeom>
          <a:ln w="9525">
            <a:solidFill>
              <a:srgbClr val="8C8C8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10209687" y="2351621"/>
            <a:ext cx="1165037" cy="304333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35367" y="2004149"/>
            <a:ext cx="1713677" cy="3200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333333"/>
                </a:solidFill>
                <a:latin typeface="Calibri"/>
              </a:rPr>
              <a:t>8,2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2660" y="5468112"/>
            <a:ext cx="1879092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  <a:latin typeface="Calibri"/>
              </a:rPr>
              <a:t>EBITDA real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495632" y="2351621"/>
            <a:ext cx="714055" cy="0"/>
          </a:xfrm>
          <a:prstGeom prst="line">
            <a:avLst/>
          </a:prstGeom>
          <a:ln w="9525">
            <a:solidFill>
              <a:srgbClr val="8C8C8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Troca de ferramenta e falta de material somam 70% das paradas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CAUSAS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Apontamento de paradas, semana 36   |   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15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5349240"/>
            <a:ext cx="73152" cy="7315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  <a:latin typeface="Calibri"/>
              </a:rPr>
              <a:t>FOCO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Calibri"/>
              </a:rPr>
              <a:t>SMED no turno C e kit de material de 2 h na linha atacam 70% do tempo parado.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7200" y="4389120"/>
            <a:ext cx="10177272" cy="0"/>
          </a:xfrm>
          <a:prstGeom prst="line">
            <a:avLst/>
          </a:prstGeom>
          <a:ln w="952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4290" y="2011680"/>
            <a:ext cx="1221272" cy="23774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1410" y="1719072"/>
            <a:ext cx="1587032" cy="27432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100" b="1" i="0">
                <a:solidFill>
                  <a:srgbClr val="333333"/>
                </a:solidFill>
                <a:latin typeface="Calibri"/>
              </a:rPr>
              <a:t>120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443984"/>
            <a:ext cx="203545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  <a:latin typeface="Calibri"/>
              </a:rPr>
              <a:t>Troca de ferramenta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99745" y="2506980"/>
            <a:ext cx="1221272" cy="1882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16865" y="2214372"/>
            <a:ext cx="1587032" cy="27432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100" b="1" i="0">
                <a:solidFill>
                  <a:srgbClr val="333333"/>
                </a:solidFill>
                <a:latin typeface="Calibri"/>
              </a:rPr>
              <a:t>95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92654" y="4443984"/>
            <a:ext cx="203545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  <a:latin typeface="Calibri"/>
              </a:rPr>
              <a:t>Falta de material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5199" y="3398520"/>
            <a:ext cx="1221272" cy="9906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2319" y="3105912"/>
            <a:ext cx="1587032" cy="27432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100" b="1" i="0">
                <a:solidFill>
                  <a:srgbClr val="333333"/>
                </a:solidFill>
                <a:latin typeface="Calibri"/>
              </a:rPr>
              <a:t>50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8108" y="4443984"/>
            <a:ext cx="203545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  <a:latin typeface="Calibri"/>
              </a:rPr>
              <a:t>Falha hidráulica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70654" y="3794760"/>
            <a:ext cx="1221272" cy="5943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87774" y="3502152"/>
            <a:ext cx="1587032" cy="27432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100" b="1" i="0">
                <a:solidFill>
                  <a:srgbClr val="333333"/>
                </a:solidFill>
                <a:latin typeface="Calibri"/>
              </a:rPr>
              <a:t>30 min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63563" y="4443984"/>
            <a:ext cx="203545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  <a:latin typeface="Calibri"/>
              </a:rPr>
              <a:t>Ajuste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06108" y="4091940"/>
            <a:ext cx="1221272" cy="2971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23228" y="3799332"/>
            <a:ext cx="1587032" cy="27432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100" b="1" i="0">
                <a:solidFill>
                  <a:srgbClr val="333333"/>
                </a:solidFill>
                <a:latin typeface="Calibri"/>
              </a:rPr>
              <a:t>15 min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9017" y="4443984"/>
            <a:ext cx="203545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  <a:latin typeface="Calibri"/>
              </a:rPr>
              <a:t>Outros</a:t>
            </a:r>
          </a:p>
        </p:txBody>
      </p:sp>
      <p:cxnSp>
        <p:nvCxnSpPr>
          <p:cNvPr id="29" name="Connector 28"/>
          <p:cNvCxnSpPr/>
          <p:nvPr/>
        </p:nvCxnSpPr>
        <p:spPr>
          <a:xfrm flipV="1">
            <a:off x="1474927" y="2740250"/>
            <a:ext cx="2035454" cy="728570"/>
          </a:xfrm>
          <a:prstGeom prst="line">
            <a:avLst/>
          </a:prstGeom>
          <a:ln w="22225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3510381" y="2356792"/>
            <a:ext cx="2035455" cy="383458"/>
          </a:xfrm>
          <a:prstGeom prst="line">
            <a:avLst/>
          </a:prstGeom>
          <a:ln w="22225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5545836" y="2126717"/>
            <a:ext cx="2035454" cy="230075"/>
          </a:xfrm>
          <a:prstGeom prst="line">
            <a:avLst/>
          </a:prstGeom>
          <a:ln w="22225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7581290" y="2011680"/>
            <a:ext cx="2035454" cy="115037"/>
          </a:xfrm>
          <a:prstGeom prst="line">
            <a:avLst/>
          </a:prstGeom>
          <a:ln w="22225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410919" y="3404812"/>
            <a:ext cx="128016" cy="128016"/>
          </a:xfrm>
          <a:prstGeom prst="ellipse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7727" y="3103060"/>
            <a:ext cx="914400" cy="27432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>39%</a:t>
            </a:r>
          </a:p>
        </p:txBody>
      </p:sp>
      <p:sp>
        <p:nvSpPr>
          <p:cNvPr id="35" name="Oval 34"/>
          <p:cNvSpPr/>
          <p:nvPr/>
        </p:nvSpPr>
        <p:spPr>
          <a:xfrm>
            <a:off x="3446373" y="2676242"/>
            <a:ext cx="128016" cy="128016"/>
          </a:xfrm>
          <a:prstGeom prst="ellipse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53181" y="2374490"/>
            <a:ext cx="914400" cy="27432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>69%</a:t>
            </a:r>
          </a:p>
        </p:txBody>
      </p:sp>
      <p:sp>
        <p:nvSpPr>
          <p:cNvPr id="37" name="Oval 36"/>
          <p:cNvSpPr/>
          <p:nvPr/>
        </p:nvSpPr>
        <p:spPr>
          <a:xfrm>
            <a:off x="5481827" y="2292784"/>
            <a:ext cx="128016" cy="128016"/>
          </a:xfrm>
          <a:prstGeom prst="ellipse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88636" y="1991032"/>
            <a:ext cx="914400" cy="27432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>85%</a:t>
            </a:r>
          </a:p>
        </p:txBody>
      </p:sp>
      <p:sp>
        <p:nvSpPr>
          <p:cNvPr id="39" name="Oval 38"/>
          <p:cNvSpPr/>
          <p:nvPr/>
        </p:nvSpPr>
        <p:spPr>
          <a:xfrm>
            <a:off x="7517282" y="2062709"/>
            <a:ext cx="128016" cy="128016"/>
          </a:xfrm>
          <a:prstGeom prst="ellipse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24090" y="1760957"/>
            <a:ext cx="914400" cy="27432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>95%</a:t>
            </a:r>
          </a:p>
        </p:txBody>
      </p:sp>
      <p:sp>
        <p:nvSpPr>
          <p:cNvPr id="41" name="Oval 40"/>
          <p:cNvSpPr/>
          <p:nvPr/>
        </p:nvSpPr>
        <p:spPr>
          <a:xfrm>
            <a:off x="9552736" y="1947672"/>
            <a:ext cx="128016" cy="128016"/>
          </a:xfrm>
          <a:prstGeom prst="ellipse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59544" y="1645920"/>
            <a:ext cx="914400" cy="27432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>100%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457200" y="2487168"/>
            <a:ext cx="10177272" cy="0"/>
          </a:xfrm>
          <a:prstGeom prst="line">
            <a:avLst/>
          </a:prstGeom>
          <a:ln w="9525">
            <a:solidFill>
              <a:srgbClr val="8C8C8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680192" y="2350008"/>
            <a:ext cx="100584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80% acum.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Go-live em março, com piloto em janeiro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CRONOGRAMA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Plano do projeto, base 10/09   |   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16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200400" y="1783080"/>
            <a:ext cx="8531352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783080"/>
            <a:ext cx="1218764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9164" y="1783080"/>
            <a:ext cx="1218764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37929" y="1783080"/>
            <a:ext cx="1218764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nov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6693" y="1783080"/>
            <a:ext cx="1218764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dez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75458" y="1783080"/>
            <a:ext cx="1218764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jan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94222" y="1783080"/>
            <a:ext cx="1218764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fev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2987" y="1783080"/>
            <a:ext cx="1218764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148840"/>
            <a:ext cx="265176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Diagnóstico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2263140"/>
            <a:ext cx="1828146" cy="2286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606040"/>
            <a:ext cx="11274552" cy="457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2606040"/>
            <a:ext cx="265176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Desenho e piloto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8546" y="2720340"/>
            <a:ext cx="3046911" cy="22860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266" y="2606040"/>
            <a:ext cx="3046911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piloto em 1 rota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063240"/>
            <a:ext cx="265176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Integração TMS-ERP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37929" y="3177540"/>
            <a:ext cx="3656293" cy="2286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520440"/>
            <a:ext cx="11274552" cy="457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520440"/>
            <a:ext cx="265176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Implantação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75458" y="3634740"/>
            <a:ext cx="2437529" cy="2286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3977639"/>
            <a:ext cx="265176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Treinamento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903605" y="4091939"/>
            <a:ext cx="1218764" cy="2286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4434840"/>
            <a:ext cx="11274552" cy="457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4434840"/>
            <a:ext cx="265176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Go-live</a:t>
            </a:r>
          </a:p>
        </p:txBody>
      </p:sp>
      <p:sp>
        <p:nvSpPr>
          <p:cNvPr id="32" name="Diamond 31"/>
          <p:cNvSpPr/>
          <p:nvPr/>
        </p:nvSpPr>
        <p:spPr>
          <a:xfrm>
            <a:off x="10994353" y="4535424"/>
            <a:ext cx="256032" cy="256032"/>
          </a:xfrm>
          <a:prstGeom prst="diamond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3200400" y="2148840"/>
            <a:ext cx="0" cy="2743200"/>
          </a:xfrm>
          <a:prstGeom prst="line">
            <a:avLst/>
          </a:prstGeom>
          <a:ln w="6350">
            <a:solidFill>
              <a:srgbClr val="F2F2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419164" y="2148840"/>
            <a:ext cx="0" cy="2743200"/>
          </a:xfrm>
          <a:prstGeom prst="line">
            <a:avLst/>
          </a:prstGeom>
          <a:ln w="6350">
            <a:solidFill>
              <a:srgbClr val="F2F2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637929" y="2148840"/>
            <a:ext cx="0" cy="2743200"/>
          </a:xfrm>
          <a:prstGeom prst="line">
            <a:avLst/>
          </a:prstGeom>
          <a:ln w="6350">
            <a:solidFill>
              <a:srgbClr val="F2F2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856693" y="2148840"/>
            <a:ext cx="0" cy="2743200"/>
          </a:xfrm>
          <a:prstGeom prst="line">
            <a:avLst/>
          </a:prstGeom>
          <a:ln w="6350">
            <a:solidFill>
              <a:srgbClr val="F2F2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075458" y="2148840"/>
            <a:ext cx="0" cy="2743200"/>
          </a:xfrm>
          <a:prstGeom prst="line">
            <a:avLst/>
          </a:prstGeom>
          <a:ln w="6350">
            <a:solidFill>
              <a:srgbClr val="F2F2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294222" y="2148840"/>
            <a:ext cx="0" cy="2743200"/>
          </a:xfrm>
          <a:prstGeom prst="line">
            <a:avLst/>
          </a:prstGeom>
          <a:ln w="6350">
            <a:solidFill>
              <a:srgbClr val="F2F2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0512987" y="2148840"/>
            <a:ext cx="0" cy="2743200"/>
          </a:xfrm>
          <a:prstGeom prst="line">
            <a:avLst/>
          </a:prstGeom>
          <a:ln w="6350">
            <a:solidFill>
              <a:srgbClr val="F2F2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1731752" y="2148840"/>
            <a:ext cx="0" cy="2743200"/>
          </a:xfrm>
          <a:prstGeom prst="line">
            <a:avLst/>
          </a:prstGeom>
          <a:ln w="6350">
            <a:solidFill>
              <a:srgbClr val="F2F2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003558" y="1783080"/>
            <a:ext cx="0" cy="3108960"/>
          </a:xfrm>
          <a:prstGeom prst="line">
            <a:avLst/>
          </a:prstGeom>
          <a:ln w="19050">
            <a:solidFill>
              <a:srgbClr val="F2A9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637798" y="4910327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00" b="1" i="0">
                <a:solidFill>
                  <a:srgbClr val="F2A900"/>
                </a:solidFill>
                <a:latin typeface="Calibri"/>
              </a:rPr>
              <a:t>Hoje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Barras de progresso com status por linha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QUALIDADE DO DADO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17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142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F2A900"/>
                </a:solidFill>
                <a:latin typeface="Calibri"/>
              </a:rPr>
              <a:t>CONTROLE MÍNIMO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Responsável, data prometida, próximo marco e motivo do desvio obrigatórios em toda mudança de status.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783080"/>
            <a:ext cx="274320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Data de aprovação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1874519"/>
            <a:ext cx="6400800" cy="228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91840" y="1874519"/>
            <a:ext cx="2816352" cy="22860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1783080"/>
            <a:ext cx="1947672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9A825"/>
                </a:solidFill>
                <a:latin typeface="Calibri"/>
              </a:rPr>
              <a:t>31 sem registro (44%)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286000"/>
            <a:ext cx="274320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Data do pedido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2377440"/>
            <a:ext cx="6400800" cy="228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91840" y="2377440"/>
            <a:ext cx="3968496" cy="2286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0" y="2286000"/>
            <a:ext cx="1947672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C62828"/>
                </a:solidFill>
                <a:latin typeface="Calibri"/>
              </a:rPr>
              <a:t>44 sem registro (62%)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788920"/>
            <a:ext cx="274320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Entrega real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91840" y="2880360"/>
            <a:ext cx="6400800" cy="228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91840" y="2880360"/>
            <a:ext cx="5248655" cy="2286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84080" y="2788920"/>
            <a:ext cx="1947672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C62828"/>
                </a:solidFill>
                <a:latin typeface="Calibri"/>
              </a:rPr>
              <a:t>58 sem registro (82%)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91840"/>
            <a:ext cx="274320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Valor contratado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0" y="3383280"/>
            <a:ext cx="6400800" cy="228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91840" y="3383280"/>
            <a:ext cx="1920240" cy="22860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84080" y="3291840"/>
            <a:ext cx="1947672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9A825"/>
                </a:solidFill>
                <a:latin typeface="Calibri"/>
              </a:rPr>
              <a:t>21 sem registro (30%)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Barras de progresso em duas colunas (distribuição por categoria)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DISTRIBUIÇÃO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Base de portfólio   |   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18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178308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Categoria A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0" y="1874519"/>
            <a:ext cx="2743200" cy="228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86000" y="1874519"/>
            <a:ext cx="1920239" cy="2286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1783080"/>
            <a:ext cx="8229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333333"/>
                </a:solidFill>
                <a:latin typeface="Calibri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28600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Categoria B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0" y="2377440"/>
            <a:ext cx="2743200" cy="228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86000" y="2377440"/>
            <a:ext cx="1645919" cy="2286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2286000"/>
            <a:ext cx="8229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333333"/>
                </a:solidFill>
                <a:latin typeface="Calibr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78892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Categoria 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0" y="2880360"/>
            <a:ext cx="2743200" cy="228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286000" y="2880360"/>
            <a:ext cx="1645919" cy="2286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0" y="2788920"/>
            <a:ext cx="8229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333333"/>
                </a:solidFill>
                <a:latin typeface="Calibri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Categoria 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86000" y="3383280"/>
            <a:ext cx="2743200" cy="228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86000" y="3383280"/>
            <a:ext cx="1371600" cy="2286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20640" y="3291840"/>
            <a:ext cx="8229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333333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36208" y="178308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Categoria 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65008" y="1874519"/>
            <a:ext cx="2743200" cy="228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65008" y="1874519"/>
            <a:ext cx="1371600" cy="2286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899648" y="1783080"/>
            <a:ext cx="8229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333333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36208" y="228600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Categoria F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2377440"/>
            <a:ext cx="2743200" cy="228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65008" y="2377440"/>
            <a:ext cx="1371600" cy="2286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899648" y="2286000"/>
            <a:ext cx="8229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333333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6208" y="278892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Categoria 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65008" y="2880360"/>
            <a:ext cx="2743200" cy="228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65008" y="2880360"/>
            <a:ext cx="1371600" cy="2286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899648" y="2788920"/>
            <a:ext cx="8229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333333"/>
                </a:solidFill>
                <a:latin typeface="Calibr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6208" y="32918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Categoria 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65008" y="3383280"/>
            <a:ext cx="2743200" cy="228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65008" y="3383280"/>
            <a:ext cx="1097280" cy="2286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899648" y="3291840"/>
            <a:ext cx="8229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333333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8288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000" b="1" i="0">
                <a:solidFill>
                  <a:srgbClr val="F2A900"/>
                </a:solidFill>
                <a:latin typeface="Calibri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Estrutura</a:t>
            </a:r>
          </a:p>
        </p:txBody>
      </p:sp>
      <p:pic>
        <p:nvPicPr>
          <p:cNvPr id="4" name="Picture 3" descr="logo-placeholder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457200"/>
            <a:ext cx="10972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Bullets com negrito inicial e sub-itens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BULLETS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27455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8C8C8C"/>
                </a:solidFill>
                <a:latin typeface="Calibri"/>
              </a:rPr>
              <a:t>Máximo 6 itens, 2 linhas cada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20</a:t>
            </a:r>
          </a:p>
        </p:txBody>
      </p:sp>
      <p:pic>
        <p:nvPicPr>
          <p:cNvPr id="9" name="Picture 8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2011680"/>
            <a:ext cx="11274552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600" b="1" i="0">
                <a:solidFill>
                  <a:srgbClr val="333333"/>
                </a:solidFill>
                <a:latin typeface="Calibri"/>
              </a:rPr>
              <a:t>Prazo: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go-live em 15/03</a:t>
            </a:r>
          </a:p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600" b="1" i="0">
                <a:solidFill>
                  <a:srgbClr val="333333"/>
                </a:solidFill>
                <a:latin typeface="Calibri"/>
              </a:rPr>
              <a:t>Custo: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3% abaixo do orçamento</a:t>
            </a:r>
          </a:p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600" b="1" i="0">
                <a:solidFill>
                  <a:srgbClr val="333333"/>
                </a:solidFill>
                <a:latin typeface="Calibri"/>
              </a:rPr>
              <a:t>Escopo: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sem mudanças aprovadas</a:t>
            </a:r>
          </a:p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600" b="1" i="0">
                <a:solidFill>
                  <a:srgbClr val="333333"/>
                </a:solidFill>
                <a:latin typeface="Calibri"/>
              </a:rPr>
              <a:t>Riscos: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um crítico, fornecedor X</a:t>
            </a:r>
          </a:p>
          <a:p>
            <a:pPr marL="457200" indent="-228600">
              <a:spcAft>
                <a:spcPts val="500"/>
              </a:spcAft>
              <a:buClr>
                <a:srgbClr val="8C8C8C"/>
              </a:buClr>
              <a:buChar char="–"/>
            </a:pPr>
            <a:r>
              <a:rPr sz="1400" b="0" i="0">
                <a:solidFill>
                  <a:srgbClr val="333333"/>
                </a:solidFill>
                <a:latin typeface="Calibri"/>
              </a:rPr>
              <a:t>Plano B com fornecedor Y</a:t>
            </a:r>
          </a:p>
          <a:p>
            <a:pPr marL="457200" indent="-228600">
              <a:spcAft>
                <a:spcPts val="500"/>
              </a:spcAft>
              <a:buClr>
                <a:srgbClr val="8C8C8C"/>
              </a:buClr>
              <a:buChar char="–"/>
            </a:pPr>
            <a:r>
              <a:rPr sz="1400" b="0" i="0">
                <a:solidFill>
                  <a:srgbClr val="333333"/>
                </a:solidFill>
                <a:latin typeface="Calibri"/>
              </a:rPr>
              <a:t>Decisão até sexta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Print de tela com destaques numerados e bullets ao lado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PASSO A PASSO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21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pic>
        <p:nvPicPr>
          <p:cNvPr id="9" name="Picture 8" descr="Formulário de registro de para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120" y="1737360"/>
            <a:ext cx="7071360" cy="3977640"/>
          </a:xfrm>
          <a:prstGeom prst="rect">
            <a:avLst/>
          </a:prstGeom>
          <a:ln w="9525">
            <a:solidFill>
              <a:srgbClr val="F2F2F2"/>
            </a:solidFill>
          </a:ln>
        </p:spPr>
      </p:pic>
      <p:sp>
        <p:nvSpPr>
          <p:cNvPr id="10" name="Rectangle 9"/>
          <p:cNvSpPr/>
          <p:nvPr/>
        </p:nvSpPr>
        <p:spPr>
          <a:xfrm>
            <a:off x="1993392" y="2612440"/>
            <a:ext cx="3889248" cy="278434"/>
          </a:xfrm>
          <a:prstGeom prst="rect">
            <a:avLst/>
          </a:prstGeom>
          <a:noFill/>
          <a:ln w="28575">
            <a:solidFill>
              <a:srgbClr val="F2A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828800" y="2447848"/>
            <a:ext cx="329184" cy="329184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93392" y="3089757"/>
            <a:ext cx="3889248" cy="278434"/>
          </a:xfrm>
          <a:prstGeom prst="rect">
            <a:avLst/>
          </a:prstGeom>
          <a:noFill/>
          <a:ln w="28575">
            <a:solidFill>
              <a:srgbClr val="F2A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828800" y="2925165"/>
            <a:ext cx="329184" cy="329184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93392" y="4641037"/>
            <a:ext cx="1060704" cy="318211"/>
          </a:xfrm>
          <a:prstGeom prst="rect">
            <a:avLst/>
          </a:prstGeom>
          <a:noFill/>
          <a:ln w="28575">
            <a:solidFill>
              <a:srgbClr val="F2A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828800" y="4476445"/>
            <a:ext cx="329184" cy="329184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76072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1">
                <a:solidFill>
                  <a:srgbClr val="8C8C8C"/>
                </a:solidFill>
                <a:latin typeface="Calibri"/>
              </a:rPr>
              <a:t>Tela Paradas &gt; Nova parada (ambiente de teste)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1737360"/>
            <a:ext cx="3685032" cy="3977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Selecionar a máquina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Escolher a causa na lista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Confirmar e informar a duração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Imagem em largura total com legenda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IMAGEM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22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5349240"/>
            <a:ext cx="73152" cy="731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1F3A5F"/>
                </a:solidFill>
                <a:latin typeface="Calibri"/>
              </a:rPr>
              <a:t>LEITURA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Calibri"/>
              </a:rPr>
              <a:t>Uma imagem por slide; o título continua sendo a conclusão.</a:t>
            </a:r>
          </a:p>
        </p:txBody>
      </p:sp>
      <p:pic>
        <p:nvPicPr>
          <p:cNvPr id="13" name="Picture 12" descr="Print ajustado à área de conteúdo, proporção preserva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1596" y="1737360"/>
            <a:ext cx="5445760" cy="3063240"/>
          </a:xfrm>
          <a:prstGeom prst="rect">
            <a:avLst/>
          </a:prstGeom>
          <a:ln w="9525">
            <a:solidFill>
              <a:srgbClr val="F2F2F2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457200" y="4846320"/>
            <a:ext cx="1127455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1">
                <a:solidFill>
                  <a:srgbClr val="8C8C8C"/>
                </a:solidFill>
                <a:latin typeface="Calibri"/>
              </a:rPr>
              <a:t>Print ajustado à área de conteúdo, proporção preservada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Duas colunas: certo vs. errado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DUAS COLUNAS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23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1737360"/>
            <a:ext cx="5500116" cy="5486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2E7D32"/>
                </a:solidFill>
                <a:latin typeface="Calibri"/>
              </a:rPr>
              <a:t>Certo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31720"/>
            <a:ext cx="5500116" cy="2743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514600"/>
            <a:ext cx="5500116" cy="3611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2E7D32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Causa específica</a:t>
            </a:r>
          </a:p>
          <a:p>
            <a:pPr marL="228600" indent="-228600">
              <a:spcAft>
                <a:spcPts val="800"/>
              </a:spcAft>
              <a:buClr>
                <a:srgbClr val="2E7D32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Registrar na hora</a:t>
            </a:r>
          </a:p>
          <a:p>
            <a:pPr marL="228600" indent="-228600">
              <a:spcAft>
                <a:spcPts val="800"/>
              </a:spcAft>
              <a:buClr>
                <a:srgbClr val="2E7D32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Duração real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737360"/>
            <a:ext cx="5500116" cy="5486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C62828"/>
                </a:solidFill>
                <a:latin typeface="Calibri"/>
              </a:rPr>
              <a:t>Errado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1636" y="2331720"/>
            <a:ext cx="5500116" cy="2743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1636" y="2514600"/>
            <a:ext cx="5500116" cy="3611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C62828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'Outros'</a:t>
            </a:r>
          </a:p>
          <a:p>
            <a:pPr marL="228600" indent="-228600">
              <a:spcAft>
                <a:spcPts val="800"/>
              </a:spcAft>
              <a:buClr>
                <a:srgbClr val="C62828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Registrar no fim do turno</a:t>
            </a:r>
          </a:p>
          <a:p>
            <a:pPr marL="228600" indent="-228600">
              <a:spcAft>
                <a:spcPts val="800"/>
              </a:spcAft>
              <a:buClr>
                <a:srgbClr val="C62828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Arredondar para 30 min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Comparação de três opções com uma recomendada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COMPARAÇÃO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24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1737360"/>
            <a:ext cx="3575304" cy="4297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3575304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737360"/>
            <a:ext cx="357530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Não fazer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560320"/>
            <a:ext cx="3300984" cy="338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Custo: R$ 0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Perda: R$ 1,8 mi/ano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Risco: parada total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06824" y="1737360"/>
            <a:ext cx="3575304" cy="4297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06824" y="1737360"/>
            <a:ext cx="3575304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06824" y="1737360"/>
            <a:ext cx="357530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A: Reforma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3984" y="2560320"/>
            <a:ext cx="3300984" cy="338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Custo: R$ 0,9 mi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Economia: R$ 0,7 mi/ano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Risco: sem peças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56448" y="1737360"/>
            <a:ext cx="3575304" cy="4297680"/>
          </a:xfrm>
          <a:prstGeom prst="rect">
            <a:avLst/>
          </a:prstGeom>
          <a:solidFill>
            <a:srgbClr val="F2F2F2"/>
          </a:solidFill>
          <a:ln w="25400">
            <a:solidFill>
              <a:srgbClr val="F2A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56448" y="1737360"/>
            <a:ext cx="3575304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56448" y="1737360"/>
            <a:ext cx="357530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B: Prensa nova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268712" y="1554480"/>
            <a:ext cx="1371600" cy="3200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8712" y="1554480"/>
            <a:ext cx="137160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Recomendada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2560320"/>
            <a:ext cx="3300984" cy="338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Custo: R$ 2,4 mi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Economia: R$ 1,45 mi/ano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Risco: 5 dias parada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Takeaways numerados em três colunas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LEITURA EXECUTIVA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25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5349240"/>
            <a:ext cx="73152" cy="731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1F3A5F"/>
                </a:solidFill>
                <a:latin typeface="Calibri"/>
              </a:rPr>
              <a:t>PRINCÍPIO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Calibri"/>
              </a:rPr>
              <a:t>Nenhuma iniciativa avança sem responder claramente aos três filtros.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828800"/>
            <a:ext cx="3575304" cy="3291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1828800"/>
            <a:ext cx="3575304" cy="5486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011680"/>
            <a:ext cx="1371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Calibr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560320"/>
            <a:ext cx="3118104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333333"/>
                </a:solidFill>
                <a:latin typeface="Calibri"/>
              </a:rPr>
              <a:t>Execução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246120"/>
            <a:ext cx="3118104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A base contém 200 ensaios, dos quais 40 têm data até o corte.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06824" y="1828800"/>
            <a:ext cx="3575304" cy="3291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06824" y="1828800"/>
            <a:ext cx="3575304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35424" y="2011680"/>
            <a:ext cx="1371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 i="0">
                <a:solidFill>
                  <a:srgbClr val="4F81BD"/>
                </a:solidFill>
                <a:latin typeface="Calibr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5424" y="2560320"/>
            <a:ext cx="3118104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333333"/>
                </a:solidFill>
                <a:latin typeface="Calibri"/>
              </a:rPr>
              <a:t>Qualidade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5424" y="3246120"/>
            <a:ext cx="3118104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19 resultados ficaram abaixo da meta, 47,5% do realizado.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56448" y="1828800"/>
            <a:ext cx="3575304" cy="3291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56448" y="1828800"/>
            <a:ext cx="3575304" cy="54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85048" y="2011680"/>
            <a:ext cx="1371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 i="0">
                <a:solidFill>
                  <a:srgbClr val="F2A900"/>
                </a:solidFill>
                <a:latin typeface="Calibr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5048" y="2560320"/>
            <a:ext cx="3118104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333333"/>
                </a:solidFill>
                <a:latin typeface="Calibri"/>
              </a:rPr>
              <a:t>Governança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5048" y="3246120"/>
            <a:ext cx="3118104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Quatro ensaios aguardam revisão, dois já aprovados tecnicamente.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Takeaways com tags de fase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PRÓXIMOS PASSOS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26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142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F2A900"/>
                </a:solidFill>
                <a:latin typeface="Calibri"/>
              </a:rPr>
              <a:t>DECISÃO ESPERADA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Aprovar a rotina semanal e nomear os donos dos quatro controles.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828800"/>
            <a:ext cx="3575304" cy="3291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828800"/>
            <a:ext cx="3575304" cy="5486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2057400"/>
            <a:ext cx="2194560" cy="29260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057400"/>
            <a:ext cx="2194560" cy="2926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AGORA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560320"/>
            <a:ext cx="3118104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333333"/>
                </a:solidFill>
                <a:latin typeface="Calibri"/>
              </a:rPr>
              <a:t>Sanear os itens atrasados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246120"/>
            <a:ext cx="3118104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Definir próximo marco, responsável e motivo do desvio para cada item.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06824" y="1828800"/>
            <a:ext cx="3575304" cy="3291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06824" y="1828800"/>
            <a:ext cx="3575304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35424" y="2057400"/>
            <a:ext cx="2194560" cy="292608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35424" y="2057400"/>
            <a:ext cx="2194560" cy="2926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PRÓXIMAS 4 SEMANAS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5424" y="2560320"/>
            <a:ext cx="3118104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333333"/>
                </a:solidFill>
                <a:latin typeface="Calibri"/>
              </a:rPr>
              <a:t>Implantar a gestão à vista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424" y="3246120"/>
            <a:ext cx="3118104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Acompanhar SLA, risco alto e confirmação do fornecedor.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56448" y="1828800"/>
            <a:ext cx="3575304" cy="3291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56448" y="1828800"/>
            <a:ext cx="3575304" cy="54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385048" y="2057400"/>
            <a:ext cx="2194560" cy="2926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85048" y="2057400"/>
            <a:ext cx="2194560" cy="2926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APÓS 30 DIAS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5048" y="2560320"/>
            <a:ext cx="3118104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333333"/>
                </a:solidFill>
                <a:latin typeface="Calibri"/>
              </a:rPr>
              <a:t>Revisar causa e capacidade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85048" y="3246120"/>
            <a:ext cx="3118104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Comparar coortes, modalidades e carga por equipe.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Timeline com marcador de hoje e legenda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27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31520" y="3858768"/>
            <a:ext cx="10698480" cy="54864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3703320"/>
            <a:ext cx="365760" cy="365760"/>
          </a:xfrm>
          <a:prstGeom prst="ellipse">
            <a:avLst/>
          </a:prstGeom>
          <a:solidFill>
            <a:srgbClr val="2E7D3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971800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8C8C8C"/>
                </a:solidFill>
                <a:latin typeface="Calibri"/>
              </a:rPr>
              <a:t>Jun/26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206240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Kickoff</a:t>
            </a:r>
          </a:p>
        </p:txBody>
      </p:sp>
      <p:sp>
        <p:nvSpPr>
          <p:cNvPr id="13" name="Oval 12"/>
          <p:cNvSpPr/>
          <p:nvPr/>
        </p:nvSpPr>
        <p:spPr>
          <a:xfrm>
            <a:off x="3451859" y="3703320"/>
            <a:ext cx="365760" cy="365760"/>
          </a:xfrm>
          <a:prstGeom prst="ellipse">
            <a:avLst/>
          </a:prstGeom>
          <a:solidFill>
            <a:srgbClr val="2E7D3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11779" y="2971800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8C8C8C"/>
                </a:solidFill>
                <a:latin typeface="Calibri"/>
              </a:rPr>
              <a:t>Jul/26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11779" y="4206240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Design aprovado</a:t>
            </a:r>
          </a:p>
        </p:txBody>
      </p:sp>
      <p:sp>
        <p:nvSpPr>
          <p:cNvPr id="16" name="Oval 15"/>
          <p:cNvSpPr/>
          <p:nvPr/>
        </p:nvSpPr>
        <p:spPr>
          <a:xfrm>
            <a:off x="5897879" y="3703320"/>
            <a:ext cx="365760" cy="365760"/>
          </a:xfrm>
          <a:prstGeom prst="ellipse">
            <a:avLst/>
          </a:prstGeom>
          <a:solidFill>
            <a:srgbClr val="F9A82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57799" y="2971800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8C8C8C"/>
                </a:solidFill>
                <a:latin typeface="Calibri"/>
              </a:rPr>
              <a:t>Set/26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799" y="4206240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Homologação</a:t>
            </a:r>
          </a:p>
        </p:txBody>
      </p:sp>
      <p:sp>
        <p:nvSpPr>
          <p:cNvPr id="19" name="Oval 18"/>
          <p:cNvSpPr/>
          <p:nvPr/>
        </p:nvSpPr>
        <p:spPr>
          <a:xfrm>
            <a:off x="8343900" y="3703320"/>
            <a:ext cx="365760" cy="365760"/>
          </a:xfrm>
          <a:prstGeom prst="ellipse">
            <a:avLst/>
          </a:prstGeom>
          <a:solidFill>
            <a:srgbClr val="C62828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03819" y="2971800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8C8C8C"/>
                </a:solidFill>
                <a:latin typeface="Calibri"/>
              </a:rPr>
              <a:t>Out/26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03819" y="4206240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Testes</a:t>
            </a:r>
          </a:p>
        </p:txBody>
      </p:sp>
      <p:sp>
        <p:nvSpPr>
          <p:cNvPr id="22" name="Oval 21"/>
          <p:cNvSpPr/>
          <p:nvPr/>
        </p:nvSpPr>
        <p:spPr>
          <a:xfrm>
            <a:off x="10789920" y="3703320"/>
            <a:ext cx="365760" cy="365760"/>
          </a:xfrm>
          <a:prstGeom prst="ellipse">
            <a:avLst/>
          </a:prstGeom>
          <a:solidFill>
            <a:srgbClr val="1F3A5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40" y="2971800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8C8C8C"/>
                </a:solidFill>
                <a:latin typeface="Calibri"/>
              </a:rPr>
              <a:t>Nov/26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0" y="4206240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Go-live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03769" y="3246120"/>
            <a:ext cx="27432" cy="128016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46569" y="292608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1" i="0">
                <a:solidFill>
                  <a:srgbClr val="F2A900"/>
                </a:solidFill>
                <a:latin typeface="Calibri"/>
              </a:rPr>
              <a:t>Hoje</a:t>
            </a:r>
          </a:p>
        </p:txBody>
      </p:sp>
      <p:sp>
        <p:nvSpPr>
          <p:cNvPr id="27" name="Oval 26"/>
          <p:cNvSpPr/>
          <p:nvPr/>
        </p:nvSpPr>
        <p:spPr>
          <a:xfrm>
            <a:off x="457200" y="5852160"/>
            <a:ext cx="182880" cy="18288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80644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Calibri"/>
              </a:rPr>
              <a:t>Concluído</a:t>
            </a:r>
          </a:p>
        </p:txBody>
      </p:sp>
      <p:sp>
        <p:nvSpPr>
          <p:cNvPr id="29" name="Oval 28"/>
          <p:cNvSpPr/>
          <p:nvPr/>
        </p:nvSpPr>
        <p:spPr>
          <a:xfrm>
            <a:off x="2011680" y="5852160"/>
            <a:ext cx="182880" cy="182880"/>
          </a:xfrm>
          <a:prstGeom prst="ellipse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40280" y="580644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Calibri"/>
              </a:rPr>
              <a:t>Em risco</a:t>
            </a:r>
          </a:p>
        </p:txBody>
      </p:sp>
      <p:sp>
        <p:nvSpPr>
          <p:cNvPr id="31" name="Oval 30"/>
          <p:cNvSpPr/>
          <p:nvPr/>
        </p:nvSpPr>
        <p:spPr>
          <a:xfrm>
            <a:off x="3566160" y="5852160"/>
            <a:ext cx="182880" cy="182880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94760" y="580644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Calibri"/>
              </a:rPr>
              <a:t>Atrasado</a:t>
            </a:r>
          </a:p>
        </p:txBody>
      </p:sp>
      <p:sp>
        <p:nvSpPr>
          <p:cNvPr id="33" name="Oval 32"/>
          <p:cNvSpPr/>
          <p:nvPr/>
        </p:nvSpPr>
        <p:spPr>
          <a:xfrm>
            <a:off x="5120640" y="5852160"/>
            <a:ext cx="182880" cy="1828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49240" y="580644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Calibri"/>
              </a:rPr>
              <a:t>Planejado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Processo em chevrons com métrica por etapa e etapa atual destacada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FLUXO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28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5349240"/>
            <a:ext cx="73152" cy="7315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  <a:latin typeface="Calibri"/>
              </a:rPr>
              <a:t>FOCO DE MELHORIA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Calibri"/>
              </a:rPr>
              <a:t>Confirmar data do fornecedor no pedido e escalar desvios antes do vencimento.</a:t>
            </a:r>
          </a:p>
        </p:txBody>
      </p:sp>
      <p:sp>
        <p:nvSpPr>
          <p:cNvPr id="13" name="Pentagon 12"/>
          <p:cNvSpPr/>
          <p:nvPr/>
        </p:nvSpPr>
        <p:spPr>
          <a:xfrm>
            <a:off x="457200" y="2194560"/>
            <a:ext cx="2727198" cy="1280160"/>
          </a:xfrm>
          <a:prstGeom prst="homePlat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1. Solicitação</a:t>
            </a:r>
          </a:p>
        </p:txBody>
      </p:sp>
      <p:sp>
        <p:nvSpPr>
          <p:cNvPr id="14" name="Chevron 13"/>
          <p:cNvSpPr/>
          <p:nvPr/>
        </p:nvSpPr>
        <p:spPr>
          <a:xfrm>
            <a:off x="3275838" y="2194560"/>
            <a:ext cx="2727198" cy="1280160"/>
          </a:xfrm>
          <a:prstGeom prst="chevron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2. Aprovação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7278" y="3657600"/>
            <a:ext cx="2544318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1F3A5F"/>
                </a:solidFill>
                <a:latin typeface="Calibri"/>
              </a:rPr>
              <a:t>7,2 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67278" y="4251960"/>
            <a:ext cx="2544318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até aprovação (n=40)</a:t>
            </a:r>
          </a:p>
        </p:txBody>
      </p:sp>
      <p:sp>
        <p:nvSpPr>
          <p:cNvPr id="17" name="Chevron 16"/>
          <p:cNvSpPr/>
          <p:nvPr/>
        </p:nvSpPr>
        <p:spPr>
          <a:xfrm>
            <a:off x="6094476" y="2194560"/>
            <a:ext cx="2727198" cy="1280160"/>
          </a:xfrm>
          <a:prstGeom prst="chevron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3. Pedido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5916" y="3657600"/>
            <a:ext cx="2544318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1F3A5F"/>
                </a:solidFill>
                <a:latin typeface="Calibri"/>
              </a:rPr>
              <a:t>4,3 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5916" y="4251960"/>
            <a:ext cx="2544318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até pedido (n=27)</a:t>
            </a:r>
          </a:p>
        </p:txBody>
      </p:sp>
      <p:sp>
        <p:nvSpPr>
          <p:cNvPr id="20" name="Chevron 19"/>
          <p:cNvSpPr/>
          <p:nvPr/>
        </p:nvSpPr>
        <p:spPr>
          <a:xfrm>
            <a:off x="8913114" y="2194560"/>
            <a:ext cx="2727198" cy="1280160"/>
          </a:xfrm>
          <a:prstGeom prst="chevron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4. Entrega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4554" y="3657600"/>
            <a:ext cx="2544318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2A900"/>
                </a:solidFill>
                <a:latin typeface="Calibri"/>
              </a:rPr>
              <a:t>39,9 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4554" y="4251960"/>
            <a:ext cx="2544318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até entrega real (n=13)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Matriz 2×2 com quadrante destacado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MATRIZ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29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463040" y="1737360"/>
            <a:ext cx="4069080" cy="1920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1783080"/>
            <a:ext cx="3886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8C8C8C"/>
                </a:solidFill>
                <a:latin typeface="Calibri"/>
              </a:rPr>
              <a:t>PLANEJAR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148840"/>
            <a:ext cx="388620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400"/>
              </a:spcAft>
              <a:buClr>
                <a:srgbClr val="1F3A5F"/>
              </a:buClr>
              <a:buChar char="•"/>
            </a:pPr>
            <a:r>
              <a:rPr sz="1300" b="0" i="0">
                <a:solidFill>
                  <a:srgbClr val="333333"/>
                </a:solidFill>
                <a:latin typeface="Calibri"/>
              </a:rPr>
              <a:t>Automação L4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23560" y="1737360"/>
            <a:ext cx="4069080" cy="1920240"/>
          </a:xfrm>
          <a:prstGeom prst="rect">
            <a:avLst/>
          </a:prstGeom>
          <a:solidFill>
            <a:srgbClr val="FF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15000" y="1783080"/>
            <a:ext cx="3886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8C8C8C"/>
                </a:solidFill>
                <a:latin typeface="Calibri"/>
              </a:rPr>
              <a:t>FAZER AGORA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0" y="2148840"/>
            <a:ext cx="388620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400"/>
              </a:spcAft>
              <a:buClr>
                <a:srgbClr val="1F3A5F"/>
              </a:buClr>
              <a:buChar char="•"/>
            </a:pPr>
            <a:r>
              <a:rPr sz="1300" b="0" i="0">
                <a:solidFill>
                  <a:srgbClr val="333333"/>
                </a:solidFill>
                <a:latin typeface="Calibri"/>
              </a:rPr>
              <a:t>SMED turno C</a:t>
            </a:r>
          </a:p>
          <a:p>
            <a:pPr marL="228600" indent="-228600">
              <a:spcAft>
                <a:spcPts val="400"/>
              </a:spcAft>
              <a:buClr>
                <a:srgbClr val="1F3A5F"/>
              </a:buClr>
              <a:buChar char="•"/>
            </a:pPr>
            <a:r>
              <a:rPr sz="1300" b="0" i="0">
                <a:solidFill>
                  <a:srgbClr val="333333"/>
                </a:solidFill>
                <a:latin typeface="Calibri"/>
              </a:rPr>
              <a:t>Kit de material</a:t>
            </a:r>
          </a:p>
          <a:p>
            <a:pPr marL="228600" indent="-228600">
              <a:spcAft>
                <a:spcPts val="400"/>
              </a:spcAft>
              <a:buClr>
                <a:srgbClr val="1F3A5F"/>
              </a:buClr>
              <a:buChar char="•"/>
            </a:pPr>
            <a:r>
              <a:rPr sz="1300" b="0" i="0">
                <a:solidFill>
                  <a:srgbClr val="333333"/>
                </a:solidFill>
                <a:latin typeface="Calibri"/>
              </a:rPr>
              <a:t>Alerta de energia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63040" y="3749040"/>
            <a:ext cx="4069080" cy="1920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54480" y="3794760"/>
            <a:ext cx="3886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8C8C8C"/>
                </a:solidFill>
                <a:latin typeface="Calibri"/>
              </a:rPr>
              <a:t>DESCARTAR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160520"/>
            <a:ext cx="388620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400"/>
              </a:spcAft>
              <a:buClr>
                <a:srgbClr val="1F3A5F"/>
              </a:buClr>
              <a:buChar char="•"/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Layout do refeitório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23560" y="3749040"/>
            <a:ext cx="4069080" cy="1920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15000" y="3794760"/>
            <a:ext cx="3886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8C8C8C"/>
                </a:solidFill>
                <a:latin typeface="Calibri"/>
              </a:rPr>
              <a:t>DELEGAR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5000" y="4160520"/>
            <a:ext cx="388620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400"/>
              </a:spcAft>
              <a:buClr>
                <a:srgbClr val="1F3A5F"/>
              </a:buClr>
              <a:buChar char="•"/>
            </a:pPr>
            <a:r>
              <a:rPr sz="1300" b="0" i="0">
                <a:solidFill>
                  <a:srgbClr val="333333"/>
                </a:solidFill>
                <a:latin typeface="Calibri"/>
              </a:rPr>
              <a:t>Revisão de checklist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71500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1" i="0">
                <a:solidFill>
                  <a:srgbClr val="8C8C8C"/>
                </a:solidFill>
                <a:latin typeface="Calibri"/>
              </a:rPr>
              <a:t>Facilidade  →</a:t>
            </a:r>
          </a:p>
        </p:txBody>
      </p:sp>
      <p:sp>
        <p:nvSpPr>
          <p:cNvPr id="22" name="TextBox 21"/>
          <p:cNvSpPr txBox="1"/>
          <p:nvPr/>
        </p:nvSpPr>
        <p:spPr>
          <a:xfrm rot="16200000">
            <a:off x="457200" y="3520440"/>
            <a:ext cx="914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1" i="0">
                <a:solidFill>
                  <a:srgbClr val="8C8C8C"/>
                </a:solidFill>
                <a:latin typeface="Calibri"/>
              </a:rPr>
              <a:t>Impacto  →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972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0" b="1" i="0">
                <a:solidFill>
                  <a:srgbClr val="F2A900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9445752" cy="2377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800" b="0" i="1">
                <a:solidFill>
                  <a:srgbClr val="FFFFFF"/>
                </a:solidFill>
                <a:latin typeface="Calibri"/>
              </a:rPr>
              <a:t>Em 6 meses reduzimos 18% do custo de energia e descobrimos duas máquinas que consumiam paradas.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572000"/>
            <a:ext cx="944575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D9E1EA"/>
                </a:solidFill>
                <a:latin typeface="Calibri"/>
              </a:rPr>
              <a:t>— Gerente industrial, cliente do setor metalúrgico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8288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000" b="1" i="0">
                <a:solidFill>
                  <a:srgbClr val="F2A900"/>
                </a:solidFill>
                <a:latin typeface="Calibri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Fechamento</a:t>
            </a:r>
          </a:p>
        </p:txBody>
      </p:sp>
      <p:pic>
        <p:nvPicPr>
          <p:cNvPr id="4" name="Picture 3" descr="logo-placeholder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457200"/>
            <a:ext cx="10972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Plano de ação com decisão pedida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PLANO DE 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32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11274552" cy="2286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43600"/>
                <a:gridCol w="1828800"/>
                <a:gridCol w="1371600"/>
                <a:gridCol w="2130552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Ação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Dono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Prazo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Aprovar fornecedor 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Sponsor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05/09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Em andamento</a:t>
                      </a:r>
                    </a:p>
                  </a:txBody>
                  <a:tcPr anchor="ctr" marL="73152" marR="73152">
                    <a:solidFill>
                      <a:srgbClr val="F9A8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Replanejar testes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GP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10/09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8C8C8C"/>
                          </a:solidFill>
                          <a:latin typeface="Calibri"/>
                        </a:rPr>
                        <a:t>Não iniciada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Treinar turno C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Supervisor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28/08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Atrasada</a:t>
                      </a:r>
                    </a:p>
                  </a:txBody>
                  <a:tcPr anchor="ctr" marL="73152" marR="73152">
                    <a:solidFill>
                      <a:srgbClr val="C6282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Mapear processo atual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Carlos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20/08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Concluída</a:t>
                      </a:r>
                    </a:p>
                  </a:txBody>
                  <a:tcPr anchor="ctr" marL="73152" marR="73152">
                    <a:solidFill>
                      <a:srgbClr val="2E7D32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394960"/>
            <a:ext cx="11274552" cy="685800"/>
          </a:xfrm>
          <a:prstGeom prst="rect">
            <a:avLst/>
          </a:prstGeom>
          <a:solidFill>
            <a:srgbClr val="FF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5394960"/>
            <a:ext cx="73152" cy="685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5394960"/>
            <a:ext cx="108813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Calibri"/>
              </a:rPr>
              <a:t/>
            </a:r>
            <a:r>
              <a:rPr sz="1600" b="1" i="0">
                <a:solidFill>
                  <a:srgbClr val="F2A900"/>
                </a:solidFill>
                <a:latin typeface="Calibri"/>
              </a:rPr>
              <a:t>Decisão pedida: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Aprovar o fornecedor Y como plano B (R$ 40 mil adicionais)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Quadro de decisões editável (headers alternativos)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FECHAMENTO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33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5349240"/>
            <a:ext cx="73152" cy="7315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  <a:latin typeface="Calibri"/>
              </a:rPr>
              <a:t>CRITÉRIO DE SAÍDA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Calibri"/>
              </a:rPr>
              <a:t>Cada tema relevante precisa de decisão ou de um responsável por fechar a pendência.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57200" y="1737360"/>
          <a:ext cx="11274552" cy="2286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43600"/>
                <a:gridCol w="1828800"/>
                <a:gridCol w="1371600"/>
                <a:gridCol w="2130552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Decisão / direcionamento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Responsável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Prazo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Pendência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01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8288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000" b="1" i="0">
                <a:solidFill>
                  <a:srgbClr val="F2A900"/>
                </a:solidFill>
                <a:latin typeface="Calibri"/>
              </a:rPr>
              <a:t>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Anexos</a:t>
            </a:r>
          </a:p>
        </p:txBody>
      </p:sp>
      <p:pic>
        <p:nvPicPr>
          <p:cNvPr id="4" name="Picture 3" descr="logo-placeholder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457200"/>
            <a:ext cx="10972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Tabela longa paginada automaticamente (25 linhas)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ANEXO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Base de portfólio (exemplo)   |   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35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11274552" cy="4389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79092"/>
                <a:gridCol w="1879092"/>
                <a:gridCol w="1879092"/>
                <a:gridCol w="1879092"/>
                <a:gridCol w="1879092"/>
                <a:gridCol w="1879092"/>
              </a:tblGrid>
              <a:tr h="39901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Projeto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Risco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Conclusão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Orçamento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</a:tr>
              <a:tr h="39901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P-001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Projeto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Em andamento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Médio</a:t>
                      </a:r>
                    </a:p>
                  </a:txBody>
                  <a:tcPr marL="73152" marR="73152" marT="27432" marB="27432" anchor="ctr">
                    <a:solidFill>
                      <a:srgbClr val="F9A82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31%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R$ 1,1 mi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P-002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Projeto 2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Em andamento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Médio</a:t>
                      </a:r>
                    </a:p>
                  </a:txBody>
                  <a:tcPr marL="73152" marR="73152" marT="27432" marB="27432" anchor="ctr">
                    <a:solidFill>
                      <a:srgbClr val="F9A82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32%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R$ 1,2 mi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P-003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Projeto 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Validação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Médio</a:t>
                      </a:r>
                    </a:p>
                  </a:txBody>
                  <a:tcPr marL="73152" marR="73152" marT="27432" marB="27432" anchor="ctr">
                    <a:solidFill>
                      <a:srgbClr val="F9A82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33%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R$ 1,3 mi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P-004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Projeto 4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Em andamento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Alto</a:t>
                      </a:r>
                    </a:p>
                  </a:txBody>
                  <a:tcPr marL="73152" marR="73152" marT="27432" marB="27432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R$ 1,4 mi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P-005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Projeto 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Em andamento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Médio</a:t>
                      </a:r>
                    </a:p>
                  </a:txBody>
                  <a:tcPr marL="73152" marR="73152" marT="27432" marB="27432" anchor="ctr">
                    <a:solidFill>
                      <a:srgbClr val="F9A82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35%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R$ 1,5 mi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P-006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Projeto 6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Validação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Médio</a:t>
                      </a:r>
                    </a:p>
                  </a:txBody>
                  <a:tcPr marL="73152" marR="73152" marT="27432" marB="27432" anchor="ctr">
                    <a:solidFill>
                      <a:srgbClr val="F9A82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36%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R$ 1,6 mi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P-007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Projeto 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Em andamento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Médio</a:t>
                      </a:r>
                    </a:p>
                  </a:txBody>
                  <a:tcPr marL="73152" marR="73152" marT="27432" marB="27432" anchor="ctr">
                    <a:solidFill>
                      <a:srgbClr val="F9A82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37%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R$ 1,7 mi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P-008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Projeto 8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Em andamento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Alto</a:t>
                      </a:r>
                    </a:p>
                  </a:txBody>
                  <a:tcPr marL="73152" marR="73152" marT="27432" marB="27432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38%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R$ 1,8 mi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P-009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Projeto 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Validação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Médio</a:t>
                      </a:r>
                    </a:p>
                  </a:txBody>
                  <a:tcPr marL="73152" marR="73152" marT="27432" marB="27432" anchor="ctr">
                    <a:solidFill>
                      <a:srgbClr val="F9A82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39%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R$ 1,9 mi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902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P-010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Projeto 10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Em andamento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Médio</a:t>
                      </a:r>
                    </a:p>
                  </a:txBody>
                  <a:tcPr marL="73152" marR="73152" marT="27432" marB="27432" anchor="ctr">
                    <a:solidFill>
                      <a:srgbClr val="F9A82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R$ 2,0 mi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Tabela longa paginada automaticamente (25 linhas)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ANEXO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Base de portfólio (exemplo)   |   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36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11274552" cy="4389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79092"/>
                <a:gridCol w="1879092"/>
                <a:gridCol w="1879092"/>
                <a:gridCol w="1879092"/>
                <a:gridCol w="1879092"/>
                <a:gridCol w="1879092"/>
              </a:tblGrid>
              <a:tr h="39901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Projeto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Risco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Conclusão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Orçamento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</a:tr>
              <a:tr h="39901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P-011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Projeto 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Em andamento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Médio</a:t>
                      </a:r>
                    </a:p>
                  </a:txBody>
                  <a:tcPr marL="73152" marR="73152" marT="27432" marB="27432" anchor="ctr">
                    <a:solidFill>
                      <a:srgbClr val="F9A82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41%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R$ 2,1 mi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P-012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Projeto 12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Validação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Alto</a:t>
                      </a:r>
                    </a:p>
                  </a:txBody>
                  <a:tcPr marL="73152" marR="73152" marT="27432" marB="27432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R$ 2,2 mi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P-013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Projeto 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Em andamento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Médio</a:t>
                      </a:r>
                    </a:p>
                  </a:txBody>
                  <a:tcPr marL="73152" marR="73152" marT="27432" marB="27432" anchor="ctr">
                    <a:solidFill>
                      <a:srgbClr val="F9A82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43%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R$ 2,3 mi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P-014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Projeto 14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Em andamento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Médio</a:t>
                      </a:r>
                    </a:p>
                  </a:txBody>
                  <a:tcPr marL="73152" marR="73152" marT="27432" marB="27432" anchor="ctr">
                    <a:solidFill>
                      <a:srgbClr val="F9A82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44%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R$ 2,4 mi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P-015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Projeto 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Validação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Médio</a:t>
                      </a:r>
                    </a:p>
                  </a:txBody>
                  <a:tcPr marL="73152" marR="73152" marT="27432" marB="27432" anchor="ctr">
                    <a:solidFill>
                      <a:srgbClr val="F9A82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R$ 2,5 mi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P-016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Projeto 16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Em andamento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Alto</a:t>
                      </a:r>
                    </a:p>
                  </a:txBody>
                  <a:tcPr marL="73152" marR="73152" marT="27432" marB="27432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46%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R$ 2,6 mi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P-017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Projeto 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Em andamento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Médio</a:t>
                      </a:r>
                    </a:p>
                  </a:txBody>
                  <a:tcPr marL="73152" marR="73152" marT="27432" marB="27432" anchor="ctr">
                    <a:solidFill>
                      <a:srgbClr val="F9A82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47%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R$ 2,7 mi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P-018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Projeto 18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Validação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Médio</a:t>
                      </a:r>
                    </a:p>
                  </a:txBody>
                  <a:tcPr marL="73152" marR="73152" marT="27432" marB="27432" anchor="ctr">
                    <a:solidFill>
                      <a:srgbClr val="F9A82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48%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R$ 2,8 mi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P-019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Projeto 19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Em andamento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Médio</a:t>
                      </a:r>
                    </a:p>
                  </a:txBody>
                  <a:tcPr marL="73152" marR="73152" marT="27432" marB="27432" anchor="ctr">
                    <a:solidFill>
                      <a:srgbClr val="F9A82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49%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R$ 2,9 mi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902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P-020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Projeto 20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Em andamento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Alto</a:t>
                      </a:r>
                    </a:p>
                  </a:txBody>
                  <a:tcPr marL="73152" marR="73152" marT="27432" marB="27432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R$ 3,0 mi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Tabela longa paginada automaticamente (25 linhas)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ANEXO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Base de portfólio (exemplo)   |   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37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11274552" cy="27432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79092"/>
                <a:gridCol w="1879092"/>
                <a:gridCol w="1879092"/>
                <a:gridCol w="1879092"/>
                <a:gridCol w="1879092"/>
                <a:gridCol w="1879092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Projeto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Risco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Conclusão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Orçamento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P-021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Projeto 21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Validação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Médio</a:t>
                      </a:r>
                    </a:p>
                  </a:txBody>
                  <a:tcPr marL="73152" marR="73152" marT="27432" marB="27432" anchor="ctr">
                    <a:solidFill>
                      <a:srgbClr val="F9A82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51%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R$ 3,1 mi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P-022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Projeto 22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Em andamento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Médio</a:t>
                      </a:r>
                    </a:p>
                  </a:txBody>
                  <a:tcPr marL="73152" marR="73152" marT="27432" marB="27432" anchor="ctr">
                    <a:solidFill>
                      <a:srgbClr val="F9A82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52%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R$ 3,2 mi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P-023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Projeto 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Em andamento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Médio</a:t>
                      </a:r>
                    </a:p>
                  </a:txBody>
                  <a:tcPr marL="73152" marR="73152" marT="27432" marB="27432" anchor="ctr">
                    <a:solidFill>
                      <a:srgbClr val="F9A82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53%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R$ 3,3 mi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P-024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Projeto 24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Validação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Alto</a:t>
                      </a:r>
                    </a:p>
                  </a:txBody>
                  <a:tcPr marL="73152" marR="73152" marT="27432" marB="27432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54%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R$ 3,4 mi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P-025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Projeto 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Em andamento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Médio</a:t>
                      </a:r>
                    </a:p>
                  </a:txBody>
                  <a:tcPr marL="73152" marR="73152" marT="27432" marB="27432" anchor="ctr">
                    <a:solidFill>
                      <a:srgbClr val="F9A82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55%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R$ 3,5 mi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Próxima revisão: 15/09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749039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0" i="0">
                <a:solidFill>
                  <a:srgbClr val="D9E1EA"/>
                </a:solidFill>
                <a:latin typeface="Calibri"/>
              </a:rPr>
              <a:t>pmo@empresa.com | Anexos: cronograma completo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placeholder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457200"/>
            <a:ext cx="1371600" cy="457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