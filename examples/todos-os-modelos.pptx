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Receita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Sudeste</c:v>
                </c:pt>
                <c:pt idx="1">
                  <c:v>Sul</c:v>
                </c:pt>
                <c:pt idx="2">
                  <c:v>Nordeste</c:v>
                </c:pt>
                <c:pt idx="3">
                  <c:v>Centro-Oeste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</c:v>
                </c:pt>
                <c:pt idx="1">
                  <c:v>1.35</c:v>
                </c:pt>
                <c:pt idx="2">
                  <c:v>0.8</c:v>
                </c:pt>
                <c:pt idx="3">
                  <c:v>0.58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Produto A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12</c:v>
                </c:pt>
                <c:pt idx="2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Produto B</c:v>
                </c:pt>
              </c:strCache>
            </c:strRef>
          </c:tx>
          <c:spPr>
            <a:solidFill>
              <a:srgbClr val="4F81B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</c:v>
                </c:pt>
                <c:pt idx="1">
                  <c:v>7</c:v>
                </c:pt>
                <c:pt idx="2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Serviços</c:v>
                </c:pt>
              </c:strCache>
            </c:strRef>
          </c:tx>
          <c:spPr>
            <a:solidFill>
              <a:srgbClr val="F2A9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1T</c:v>
                </c:pt>
                <c:pt idx="1">
                  <c:v>2T</c:v>
                </c:pt>
                <c:pt idx="2">
                  <c:v>3T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4F81BD"/>
              </a:solidFill>
            </c:spPr>
          </c:dPt>
          <c:dPt>
            <c:idx val="2"/>
            <c:spPr>
              <a:solidFill>
                <a:srgbClr val="F2A900"/>
              </a:solidFill>
            </c:spPr>
          </c:dPt>
          <c:dPt>
            <c:idx val="3"/>
            <c:spPr>
              <a:solidFill>
                <a:srgbClr val="8C8C8C"/>
              </a:solidFill>
            </c:spPr>
          </c:dPt>
          <c:cat>
            <c:strRef>
              <c:f>Sheet1!$A$2:$A$5</c:f>
              <c:strCache>
                <c:ptCount val="4"/>
                <c:pt idx="0">
                  <c:v>Troca de ferramenta</c:v>
                </c:pt>
                <c:pt idx="1">
                  <c:v>Falta de material</c:v>
                </c:pt>
                <c:pt idx="2">
                  <c:v>Falha hidráulica</c:v>
                </c:pt>
                <c:pt idx="3">
                  <c:v>Outros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95</c:v>
                </c:pt>
                <c:pt idx="2">
                  <c:v>50</c:v>
                </c:pt>
                <c:pt idx="3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de teste: exercita todos os modelos.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CATÁLOGO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Catálogo de modelos de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Um slide de cada tipo suportado pela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Todos os modelos geram slides dentro do grid, com cabeçalho, kicker, logotipo e callouts opcionais.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set/2026 | Uso interno</a:t>
            </a:r>
          </a:p>
        </p:txBody>
      </p:sp>
      <p:pic>
        <p:nvPicPr>
          <p:cNvPr id="12" name="Picture 11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57200" y="15544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5544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Abertura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5544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402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9260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Estrutura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260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10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61188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  <a:latin typeface="Calibri"/>
              </a:rPr>
              <a:t>Fechamento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6118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Abertura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D9E1EA"/>
                </a:solidFill>
                <a:latin typeface="Calibri"/>
              </a:rPr>
              <a:t>Sumário, KPIs e número grande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SUMÁRIO EXECUTIVO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build_examples.py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64592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Todos os 19 modelos geram slides dentro do grid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2608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Título no placeholder nativo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7642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1856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Rodapé com fonte, logotipo e página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55676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511040"/>
            <a:ext cx="10515600" cy="792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Cores só por papel da paleta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Revisar visualmente e ajustar coordenadas se necessário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Seis KPIs cabem em uma linha com fonte reduzida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MES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Três indicadores no vermelho concentram-se na Linha 2; o restante segue no alvo.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142 dias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2012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2012" y="182880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19172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9172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4.120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9172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4.500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6824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6824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1,8%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1636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1636" y="1828800"/>
            <a:ext cx="1650492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8796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68%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8796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meta 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6448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56448" y="1828800"/>
            <a:ext cx="1650492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OTIF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333333"/>
                </a:solidFill>
                <a:latin typeface="Calibri"/>
              </a:rPr>
              <a:t>96%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meta 95%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81260" y="1828800"/>
            <a:ext cx="1650492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81260" y="1828800"/>
            <a:ext cx="1650492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18420" y="2057400"/>
            <a:ext cx="13761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8420" y="2423160"/>
            <a:ext cx="1376172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300" b="1" i="0">
                <a:solidFill>
                  <a:srgbClr val="333333"/>
                </a:solidFill>
                <a:latin typeface="Calibri"/>
              </a:rPr>
              <a:t>R$ 1,2 mi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8420" y="3429000"/>
            <a:ext cx="137617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no orçamento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297680"/>
            <a:ext cx="11274552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Contexto opcional abaixo dos cartões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Segunda linha de contexto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Quatro KPIs com linha de cobertura sob o 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KPIS COM DESCRIÇÃO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 (n=71)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CUIDADO DE 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21 solicitações ainda não possuem valor contratado; o saving reflete apenas itens contratados.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FORA DO PRAZO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54 de 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classificadas como atrasadas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44418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ATRASO MÉDIO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62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mediana 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1577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entre os itens atrasados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 ALTO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50 solicitações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nível de risco registrado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18854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SAVING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4,3%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R$ 68,6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6014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só itens com valor contratado (n=50)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Um número que é a mensagem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NÚMERO GRANDE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Faturas 2025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01168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F3A5F"/>
                </a:solidFill>
                <a:latin typeface="Calibri"/>
              </a:rPr>
              <a:t>R$ 2,1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C8C8C"/>
                </a:solidFill>
                <a:latin typeface="Calibri"/>
              </a:rPr>
              <a:t>custo 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6344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333333"/>
                </a:solidFill>
                <a:latin typeface="Calibri"/>
              </a:rPr>
              <a:t>Equivale a 8% do faturamento. Comparação obrigatória.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Dados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horizontais ordenadas com destaque em accent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R$ mi, agosto/26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CRM   |   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10" name="Chart 9" descr="Barras horizontais ordenadas com destaque em accent"/>
          <p:cNvGraphicFramePr>
            <a:graphicFrameLocks noGrp="1"/>
          </p:cNvGraphicFramePr>
          <p:nvPr/>
        </p:nvGraphicFramePr>
        <p:xfrm>
          <a:off x="457200" y="2011680"/>
          <a:ext cx="11274552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Linha com meta tracejada, comentários e callout de recomendação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EVOLUÇÃO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RECOMENDAÇÃO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Acionar o fornecedor alternativo e replanejar os testes integrados.</a:t>
            </a:r>
          </a:p>
        </p:txBody>
      </p:sp>
      <p:graphicFrame>
        <p:nvGraphicFramePr>
          <p:cNvPr id="13" name="Chart 12" descr="Linha com meta tracejada, comentários e callout de recomendação"/>
          <p:cNvGraphicFramePr>
            <a:graphicFrameLocks noGrp="1"/>
          </p:cNvGraphicFramePr>
          <p:nvPr/>
        </p:nvGraphicFramePr>
        <p:xfrm>
          <a:off x="457200" y="1737360"/>
          <a:ext cx="7315200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046720" y="1828800"/>
            <a:ext cx="368503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Gap abre a partir da S31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Causa: homologação do fornecedor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Recuperação prevista na S38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Composição com colunas empilhadas (sem kicker)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ERP   |   Uso interno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8" name="Chart 7" descr="Composição com colunas empilhadas (sem kicker)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Rosca com até 4 fatias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COMPOSIÇÃO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Apontamento de paradas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Chart 8" descr="Rosca com até 4 fatias"/>
          <p:cNvGraphicFramePr>
            <a:graphicFrameLocks noGrp="1"/>
          </p:cNvGraphicFramePr>
          <p:nvPr/>
        </p:nvGraphicFramePr>
        <p:xfrm>
          <a:off x="457200" y="1737360"/>
          <a:ext cx="11274552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Tabela com colunas de status, linha de total e destaque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TABELA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DRE gerencial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Orçado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Var. %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Receita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41,3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-1,9%</a:t>
                      </a:r>
                    </a:p>
                  </a:txBody>
                  <a:tcPr marL="73152" marR="73152" marT="27432" marB="27432" anchor="ctr">
                    <a:solidFill>
                      <a:srgbClr val="FFF3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Amarelo</a:t>
                      </a:r>
                    </a:p>
                  </a:txBody>
                  <a:tcPr marL="73152" marR="73152" marT="27432" marB="27432" anchor="ctr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Custo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27,0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28,3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-4,6%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Despesas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6,1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0,0%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8,2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7,7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+6,5%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Verde</a:t>
                      </a:r>
                    </a:p>
                  </a:txBody>
                  <a:tcPr marL="73152" marR="73152" marT="27432" marB="27432" anchor="ctr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de progresso com status por linha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 DO 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CONTROLE MÍNIMO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Responsável, data prometida, próximo marco e motivo do desvio obrigatórios em toda mudança de status.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de aprovação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2816352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31 sem registro (44%)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do pedido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377440"/>
            <a:ext cx="3968496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44 sem registro (62%)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Entrega real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2880360"/>
            <a:ext cx="5248655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58 sem registro (82%)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Valor contratado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383280"/>
            <a:ext cx="1920240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sem registro (30%)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Barras de progresso em duas colunas (distribuição por categoria)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DISTRIBUIÇÃO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portfólio   |   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874519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0" y="1874519"/>
            <a:ext cx="1920239" cy="2286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37744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0" y="2377440"/>
            <a:ext cx="164591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88036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0" y="2880360"/>
            <a:ext cx="1645919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338328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0" y="338328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329184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178308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5008" y="1874519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5008" y="1874519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99648" y="178308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28600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37744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5008" y="237744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99648" y="228600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278892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288036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65008" y="2880360"/>
            <a:ext cx="137160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99648" y="278892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2918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Categoria 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3383280"/>
            <a:ext cx="27432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3383280"/>
            <a:ext cx="10972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99648" y="3291840"/>
            <a:ext cx="82296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33333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Estrutura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Bullets com negrito inicial e sub-itens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BULLETS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Máximo 6 itens, 2 linhas 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2011680"/>
            <a:ext cx="11274552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Prazo: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go-live em 15/03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Custo: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3% abaixo do orçamento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Escopo: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sem mudanças aprovadas</a:t>
            </a:r>
          </a:p>
          <a:p>
            <a:pPr marL="228600" indent="-228600">
              <a:spcAft>
                <a:spcPts val="1000"/>
              </a:spcAft>
              <a:buClr>
                <a:srgbClr val="1F3A5F"/>
              </a:buClr>
              <a:buChar char="•"/>
            </a:pPr>
            <a:r>
              <a:rPr sz="1600" b="1" i="0">
                <a:solidFill>
                  <a:srgbClr val="333333"/>
                </a:solidFill>
                <a:latin typeface="Calibri"/>
              </a:rPr>
              <a:t>Riscos: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um crítico, fornecedor X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Plano B com fornecedor Y</a:t>
            </a:r>
          </a:p>
          <a:p>
            <a:pPr marL="457200" indent="-228600">
              <a:spcAft>
                <a:spcPts val="500"/>
              </a:spcAft>
              <a:buClr>
                <a:srgbClr val="8C8C8C"/>
              </a:buClr>
              <a:buChar char="–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Decisão até sexta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Print de tela com destaques numerados e bullets ao 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PASSO A PASSO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pic>
        <p:nvPicPr>
          <p:cNvPr id="9" name="Picture 8" descr="Formulário de registro de par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737360"/>
            <a:ext cx="7071360" cy="3977640"/>
          </a:xfrm>
          <a:prstGeom prst="rect">
            <a:avLst/>
          </a:prstGeom>
          <a:ln w="9525">
            <a:solidFill>
              <a:srgbClr val="F2F2F2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1993392" y="2612440"/>
            <a:ext cx="3889248" cy="278434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2447848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93392" y="3089757"/>
            <a:ext cx="3889248" cy="278434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2925165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93392" y="4641037"/>
            <a:ext cx="1060704" cy="318211"/>
          </a:xfrm>
          <a:prstGeom prst="rect">
            <a:avLst/>
          </a:prstGeom>
          <a:noFill/>
          <a:ln w="28575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4476445"/>
            <a:ext cx="329184" cy="329184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Tela Paradas &gt; Nova parada (ambiente de teste)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737360"/>
            <a:ext cx="3685032" cy="3977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Selecionar a máquina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Escolher a causa na lista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Confirmar e informar a duração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Imagem em largura total com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19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LEITURA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Uma imagem por slide; o título continua sendo a conclusão.</a:t>
            </a:r>
          </a:p>
        </p:txBody>
      </p:sp>
      <p:pic>
        <p:nvPicPr>
          <p:cNvPr id="13" name="Picture 12" descr="Print ajustado à área de conteúdo, proporção preserv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596" y="1737360"/>
            <a:ext cx="5445760" cy="3063240"/>
          </a:xfrm>
          <a:prstGeom prst="rect">
            <a:avLst/>
          </a:prstGeom>
          <a:ln w="9525">
            <a:solidFill>
              <a:srgbClr val="F2F2F2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4846320"/>
            <a:ext cx="112745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Print ajustado à área de conteúdo, proporção preservada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Duas colunas: certo vs. errado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DUAS COLUNAS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173736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2E7D32"/>
                </a:solidFill>
                <a:latin typeface="Calibri"/>
              </a:rPr>
              <a:t>Certo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5500116" cy="274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5500116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Causa específica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na hora</a:t>
            </a:r>
          </a:p>
          <a:p>
            <a:pPr marL="228600" indent="-228600">
              <a:spcAft>
                <a:spcPts val="800"/>
              </a:spcAft>
              <a:buClr>
                <a:srgbClr val="2E7D32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Duração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737360"/>
            <a:ext cx="5500116" cy="5486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C62828"/>
                </a:solidFill>
                <a:latin typeface="Calibri"/>
              </a:rPr>
              <a:t>Errado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1636" y="2331720"/>
            <a:ext cx="5500116" cy="2743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2514600"/>
            <a:ext cx="5500116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'Outros'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Registrar no fim do turno</a:t>
            </a:r>
          </a:p>
          <a:p>
            <a:pPr marL="228600" indent="-228600">
              <a:spcAft>
                <a:spcPts val="800"/>
              </a:spcAft>
              <a:buClr>
                <a:srgbClr val="C62828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Arredondar para 30 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Comparação de três opções com uma recomendada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COMPARAÇÃO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21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737360"/>
            <a:ext cx="3575304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Não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Perda: R$ 1,8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parada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737360"/>
            <a:ext cx="3575304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4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A: Reforma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4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R$ 0,9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R$ 0,7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sem peças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6448" y="1737360"/>
            <a:ext cx="3575304" cy="4297680"/>
          </a:xfrm>
          <a:prstGeom prst="rect">
            <a:avLst/>
          </a:prstGeom>
          <a:solidFill>
            <a:srgbClr val="F2F2F2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1737360"/>
            <a:ext cx="3575304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6448" y="1737360"/>
            <a:ext cx="357530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B: Prensa nova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68712" y="1554480"/>
            <a:ext cx="1371600" cy="320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8712" y="1554480"/>
            <a:ext cx="1371600" cy="320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Recomendada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560320"/>
            <a:ext cx="3300984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Custo: R$ 2,4 mi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Economia: R$ 1,45 mi/ano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0" i="0">
                <a:solidFill>
                  <a:srgbClr val="333333"/>
                </a:solidFill>
                <a:latin typeface="Calibri"/>
              </a:rPr>
              <a:t>Risco: 5 dias parada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Takeaways numerados em três colunas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LEITURA EXECUTIVA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PRINCÍPIO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Nenhuma iniciativa avança sem responder claramente aos três filtros.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Execução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 base contém 200 ensaios, dos quais 40 têm data até o corte.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Qualidade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19 resultados ficaram abaixo da meta, 47,5% do realizado.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Governança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Quatro ensaios aguardam revisão, dois já aprovados tecnicamente.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Takeaways com tags de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ESPERADA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a rotina semanal e nomear os donos dos quatro controles.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AGORA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Sanear os itens atrasados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Definir próximo marco, responsável e motivo do desvio para cada item.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PRÓXIMAS 4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Implantar a gestão à vista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SLA, risco alto e confirmação do fornecedor.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APÓS 30 DIAS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Revisar causa e capacidade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Comparar coortes, modalidades e carga por equipe.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Timeline com marcador de hoje e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3858768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3703320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Jun/26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13" name="Oval 12"/>
          <p:cNvSpPr/>
          <p:nvPr/>
        </p:nvSpPr>
        <p:spPr>
          <a:xfrm>
            <a:off x="3451859" y="3703320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177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Jul/26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177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6" name="Oval 15"/>
          <p:cNvSpPr/>
          <p:nvPr/>
        </p:nvSpPr>
        <p:spPr>
          <a:xfrm>
            <a:off x="5897879" y="3703320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79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Set/26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79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9" name="Oval 18"/>
          <p:cNvSpPr/>
          <p:nvPr/>
        </p:nvSpPr>
        <p:spPr>
          <a:xfrm>
            <a:off x="8343900" y="3703320"/>
            <a:ext cx="365760" cy="365760"/>
          </a:xfrm>
          <a:prstGeom prst="ellipse">
            <a:avLst/>
          </a:prstGeom>
          <a:solidFill>
            <a:srgbClr val="C6282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3819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Out/26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3819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Testes</a:t>
            </a:r>
          </a:p>
        </p:txBody>
      </p:sp>
      <p:sp>
        <p:nvSpPr>
          <p:cNvPr id="22" name="Oval 21"/>
          <p:cNvSpPr/>
          <p:nvPr/>
        </p:nvSpPr>
        <p:spPr>
          <a:xfrm>
            <a:off x="10789920" y="3703320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0" y="2971800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206240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3769" y="3246120"/>
            <a:ext cx="27432" cy="12801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6569" y="292608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 i="0">
                <a:solidFill>
                  <a:srgbClr val="F2A900"/>
                </a:solidFill>
                <a:latin typeface="Calibri"/>
              </a:rPr>
              <a:t>Hoje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9" name="Oval 28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31" name="Oval 30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Atrasado</a:t>
            </a:r>
          </a:p>
        </p:txBody>
      </p:sp>
      <p:sp>
        <p:nvSpPr>
          <p:cNvPr id="33" name="Oval 32"/>
          <p:cNvSpPr/>
          <p:nvPr/>
        </p:nvSpPr>
        <p:spPr>
          <a:xfrm>
            <a:off x="512064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Processo em chevrons com métrica por etapa e etapa atual destacada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FLUXO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25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DE MELHORIA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Confirmar data do fornecedor no pedido e escalar desvios antes do vencimento.</a:t>
            </a:r>
          </a:p>
        </p:txBody>
      </p:sp>
      <p:sp>
        <p:nvSpPr>
          <p:cNvPr id="13" name="Pentagon 12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Solicitação</a:t>
            </a:r>
          </a:p>
        </p:txBody>
      </p:sp>
      <p:sp>
        <p:nvSpPr>
          <p:cNvPr id="14" name="Chevron 13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7278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7,2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7278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aprovação (n=40)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Pedido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4,3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pedido (n=27)</a:t>
            </a:r>
          </a:p>
        </p:txBody>
      </p:sp>
      <p:sp>
        <p:nvSpPr>
          <p:cNvPr id="20" name="Chevron 19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4554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libri"/>
              </a:rPr>
              <a:t>39,9 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4554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entrega real (n=13)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Matriz 2×2 com quadrante destacado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26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63040" y="173736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178308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PLANEJAR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4884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Automação L4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737360"/>
            <a:ext cx="4069080" cy="192024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78308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FAZER AGORA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14884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SMED turno C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Kit de material</a:t>
            </a:r>
          </a:p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Alerta de energia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374904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DESCARTAR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16052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Layout do refeitório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3749040"/>
            <a:ext cx="406908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3794760"/>
            <a:ext cx="3886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8C8C8C"/>
                </a:solidFill>
                <a:latin typeface="Calibri"/>
              </a:rPr>
              <a:t>DELEGAR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4160520"/>
            <a:ext cx="38862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400"/>
              </a:spcAft>
              <a:buClr>
                <a:srgbClr val="1F3A5F"/>
              </a:buClr>
              <a:buChar char="•"/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Revisão de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7150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Facilidade  →</a:t>
            </a:r>
          </a:p>
        </p:txBody>
      </p:sp>
      <p:sp>
        <p:nvSpPr>
          <p:cNvPr id="22" name="TextBox 21"/>
          <p:cNvSpPr txBox="1"/>
          <p:nvPr/>
        </p:nvSpPr>
        <p:spPr>
          <a:xfrm rot="16200000">
            <a:off x="457200" y="3520440"/>
            <a:ext cx="914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8C8C8C"/>
                </a:solidFill>
                <a:latin typeface="Calibri"/>
              </a:rPr>
              <a:t>Impacto  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972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0" b="1" i="0">
                <a:solidFill>
                  <a:srgbClr val="F2A900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45752" cy="2377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Calibri"/>
              </a:rPr>
              <a:t>Em 6 meses reduzimos 18% do custo de energia e descobrimos duas máquinas que consumiam paradas.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4575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D9E1EA"/>
                </a:solidFill>
                <a:latin typeface="Calibri"/>
              </a:rPr>
              <a:t>— Gerente industrial, cliente do setor metalúrgico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828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 i="0">
                <a:solidFill>
                  <a:srgbClr val="F2A90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Fechamento</a:t>
            </a:r>
          </a:p>
        </p:txBody>
      </p:sp>
      <p:pic>
        <p:nvPicPr>
          <p:cNvPr id="4" name="Picture 3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57200"/>
            <a:ext cx="10972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Plano de ação com decisão pedida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PLANO DE 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Treinar turno 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28/08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Atrasada</a:t>
                      </a:r>
                    </a:p>
                  </a:txBody>
                  <a:tcPr anchor="ctr" marL="73152" marR="73152">
                    <a:solidFill>
                      <a:srgbClr val="C628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Mapear processo atual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Carlos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20/08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Concluída</a:t>
                      </a:r>
                    </a:p>
                  </a:txBody>
                  <a:tcPr anchor="ctr" marL="73152" marR="73152">
                    <a:solidFill>
                      <a:srgbClr val="2E7D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394960"/>
            <a:ext cx="73152" cy="685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9496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Decisão pedida: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o fornecedor Y como plano B (R$ 40 mil adicionais)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Quadro de decisões editável (headers alternativos)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CATÁLOGO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Uso interno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30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CRITÉRIO DE SAÍDA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Cada tema relevante precisa de decisão ou de um responsável por fechar a pendência.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Decisão / direcionamento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Responsável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Pendência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 | Anexos: cronograma completo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