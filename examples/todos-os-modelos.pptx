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Receita</c:v>
                </c:pt>
              </c:strCache>
            </c:strRef>
          </c:tx>
          <c:spPr>
            <a:solidFill>
              <a:srgbClr val="1F3A5F"/>
            </a:solidFill>
            <a:ln>
              <a:noFill/>
            </a:ln>
          </c:spPr>
          <c:dPt>
            <c:idx val="0"/>
            <c:spPr>
              <a:solidFill>
                <a:srgbClr val="F2A900"/>
              </a:solidFill>
            </c:spPr>
          </c:dPt>
          <c:cat>
            <c:strRef>
              <c:f>Sheet1!$A$2:$A$5</c:f>
              <c:strCache>
                <c:ptCount val="4"/>
                <c:pt idx="0">
                  <c:v>Sudeste</c:v>
                </c:pt>
                <c:pt idx="1">
                  <c:v>Sul</c:v>
                </c:pt>
                <c:pt idx="2">
                  <c:v>Nordeste</c:v>
                </c:pt>
                <c:pt idx="3">
                  <c:v>Centro-Oeste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2.0</c:v>
                </c:pt>
                <c:pt idx="1">
                  <c:v>1.35</c:v>
                </c:pt>
                <c:pt idx="2">
                  <c:v>0.8</c:v>
                </c:pt>
                <c:pt idx="3">
                  <c:v>0.58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sz="1100">
                  <a:solidFill>
                    <a:srgbClr val="333333"/>
                  </a:solidFill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8C8C8C"/>
            </a:solidFill>
          </a:ln>
        </c:spPr>
        <c:txPr>
          <a:bodyPr/>
          <a:lstStyle/>
          <a:p>
            <a:pPr>
              <a:defRPr sz="1100">
                <a:solidFill>
                  <a:srgbClr val="8C8C8C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>
          <c:spPr>
            <a:ln>
              <a:solidFill>
                <a:srgbClr val="F2F2F2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100">
                <a:solidFill>
                  <a:srgbClr val="8C8C8C"/>
                </a:solidFill>
              </a:defRPr>
            </a:pPr>
          </a:p>
        </c:txPr>
        <c:crossAx val="-2068027336"/>
        <c:crosses val="max"/>
      </c:valAx>
    </c:plotArea>
    <c:dispBlanksAs val="gap"/>
  </c:chart>
  <c:txPr>
    <a:bodyPr/>
    <a:lstStyle/>
    <a:p>
      <a:pPr>
        <a:defRPr sz="1100">
          <a:solidFill>
            <a:srgbClr val="333333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Planejado</c:v>
                </c:pt>
              </c:strCache>
            </c:strRef>
          </c:tx>
          <c:spPr>
            <a:ln w="31750">
              <a:solidFill>
                <a:srgbClr val="8C8C8C"/>
              </a:solidFill>
              <a:prstDash val="dash"/>
            </a:ln>
          </c:spPr>
          <c:marker>
            <c:spPr>
              <a:solidFill>
                <a:srgbClr val="8C8C8C"/>
              </a:solidFill>
              <a:ln>
                <a:solidFill>
                  <a:srgbClr val="8C8C8C"/>
                </a:solidFill>
              </a:ln>
            </c:spPr>
          </c:marker>
          <c:cat>
            <c:strRef>
              <c:f>Sheet1!$A$2:$A$8</c:f>
              <c:strCache>
                <c:ptCount val="7"/>
                <c:pt idx="0">
                  <c:v>S28</c:v>
                </c:pt>
                <c:pt idx="1">
                  <c:v>S29</c:v>
                </c:pt>
                <c:pt idx="2">
                  <c:v>S30</c:v>
                </c:pt>
                <c:pt idx="3">
                  <c:v>S31</c:v>
                </c:pt>
                <c:pt idx="4">
                  <c:v>S32</c:v>
                </c:pt>
                <c:pt idx="5">
                  <c:v>S33</c:v>
                </c:pt>
                <c:pt idx="6">
                  <c:v>S34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40</c:v>
                </c:pt>
                <c:pt idx="1">
                  <c:v>45</c:v>
                </c:pt>
                <c:pt idx="2">
                  <c:v>50</c:v>
                </c:pt>
                <c:pt idx="3">
                  <c:v>55</c:v>
                </c:pt>
                <c:pt idx="4">
                  <c:v>60</c:v>
                </c:pt>
                <c:pt idx="5">
                  <c:v>64</c:v>
                </c:pt>
                <c:pt idx="6">
                  <c:v>68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Real</c:v>
                </c:pt>
              </c:strCache>
            </c:strRef>
          </c:tx>
          <c:spPr>
            <a:ln w="31750">
              <a:solidFill>
                <a:srgbClr val="4F81BD"/>
              </a:solidFill>
            </a:ln>
          </c:spPr>
          <c:marker>
            <c:spPr>
              <a:solidFill>
                <a:srgbClr val="4F81BD"/>
              </a:solidFill>
              <a:ln>
                <a:solidFill>
                  <a:srgbClr val="4F81BD"/>
                </a:solidFill>
              </a:ln>
            </c:spPr>
          </c:marker>
          <c:cat>
            <c:strRef>
              <c:f>Sheet1!$A$2:$A$8</c:f>
              <c:strCache>
                <c:ptCount val="7"/>
                <c:pt idx="0">
                  <c:v>S28</c:v>
                </c:pt>
                <c:pt idx="1">
                  <c:v>S29</c:v>
                </c:pt>
                <c:pt idx="2">
                  <c:v>S30</c:v>
                </c:pt>
                <c:pt idx="3">
                  <c:v>S31</c:v>
                </c:pt>
                <c:pt idx="4">
                  <c:v>S32</c:v>
                </c:pt>
                <c:pt idx="5">
                  <c:v>S33</c:v>
                </c:pt>
                <c:pt idx="6">
                  <c:v>S34</c:v>
                </c:pt>
              </c:strCache>
            </c: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40</c:v>
                </c:pt>
                <c:pt idx="1">
                  <c:v>44</c:v>
                </c:pt>
                <c:pt idx="2">
                  <c:v>48</c:v>
                </c:pt>
                <c:pt idx="3">
                  <c:v>52</c:v>
                </c:pt>
                <c:pt idx="4">
                  <c:v>56</c:v>
                </c:pt>
                <c:pt idx="5">
                  <c:v>59</c:v>
                </c:pt>
                <c:pt idx="6">
                  <c:v>62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8C8C8C"/>
            </a:solidFill>
          </a:ln>
        </c:spPr>
        <c:txPr>
          <a:bodyPr/>
          <a:lstStyle/>
          <a:p>
            <a:pPr>
              <a:defRPr sz="1100">
                <a:solidFill>
                  <a:srgbClr val="8C8C8C"/>
                </a:solidFill>
              </a:defRPr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>
          <c:spPr>
            <a:ln>
              <a:solidFill>
                <a:srgbClr val="F2F2F2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100">
                <a:solidFill>
                  <a:srgbClr val="8C8C8C"/>
                </a:solidFill>
              </a:defRPr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1100"/>
          </a:pPr>
        </a:p>
      </c:txPr>
    </c:legend>
    <c:plotVisOnly val="1"/>
    <c:dispBlanksAs val="gap"/>
    <c:showDLblsOverMax val="0"/>
  </c:chart>
  <c:txPr>
    <a:bodyPr/>
    <a:lstStyle/>
    <a:p>
      <a:pPr>
        <a:defRPr sz="1100">
          <a:solidFill>
            <a:srgbClr val="333333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Produto A</c:v>
                </c:pt>
              </c:strCache>
            </c:strRef>
          </c:tx>
          <c:spPr>
            <a:solidFill>
              <a:srgbClr val="1F3A5F"/>
            </a:solidFill>
            <a:ln>
              <a:noFill/>
            </a:ln>
          </c:spPr>
          <c:cat>
            <c:strRef>
              <c:f>Sheet1!$A$2:$A$4</c:f>
              <c:strCache>
                <c:ptCount val="3"/>
                <c:pt idx="0">
                  <c:v>1T</c:v>
                </c:pt>
                <c:pt idx="1">
                  <c:v>2T</c:v>
                </c:pt>
                <c:pt idx="2">
                  <c:v>3T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10</c:v>
                </c:pt>
                <c:pt idx="1">
                  <c:v>12</c:v>
                </c:pt>
                <c:pt idx="2">
                  <c:v>14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Produto B</c:v>
                </c:pt>
              </c:strCache>
            </c:strRef>
          </c:tx>
          <c:spPr>
            <a:solidFill>
              <a:srgbClr val="4F81BD"/>
            </a:solidFill>
            <a:ln>
              <a:noFill/>
            </a:ln>
          </c:spPr>
          <c:cat>
            <c:strRef>
              <c:f>Sheet1!$A$2:$A$4</c:f>
              <c:strCache>
                <c:ptCount val="3"/>
                <c:pt idx="0">
                  <c:v>1T</c:v>
                </c:pt>
                <c:pt idx="1">
                  <c:v>2T</c:v>
                </c:pt>
                <c:pt idx="2">
                  <c:v>3T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6</c:v>
                </c:pt>
                <c:pt idx="1">
                  <c:v>7</c:v>
                </c:pt>
                <c:pt idx="2">
                  <c:v>9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Serviços</c:v>
                </c:pt>
              </c:strCache>
            </c:strRef>
          </c:tx>
          <c:spPr>
            <a:solidFill>
              <a:srgbClr val="F2A900"/>
            </a:solidFill>
            <a:ln>
              <a:noFill/>
            </a:ln>
          </c:spPr>
          <c:cat>
            <c:strRef>
              <c:f>Sheet1!$A$2:$A$4</c:f>
              <c:strCache>
                <c:ptCount val="3"/>
                <c:pt idx="0">
                  <c:v>1T</c:v>
                </c:pt>
                <c:pt idx="1">
                  <c:v>2T</c:v>
                </c:pt>
                <c:pt idx="2">
                  <c:v>3T</c:v>
                </c:pt>
              </c:strCache>
            </c: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3</c:v>
                </c:pt>
                <c:pt idx="1">
                  <c:v>4</c:v>
                </c:pt>
                <c:pt idx="2">
                  <c:v>5</c:v>
                </c:pt>
              </c:numCache>
            </c:numRef>
          </c:val>
        </c:ser>
        <c:gapWidth val="60"/>
        <c:overlap val="-1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8C8C8C"/>
            </a:solidFill>
          </a:ln>
        </c:spPr>
        <c:txPr>
          <a:bodyPr/>
          <a:lstStyle/>
          <a:p>
            <a:pPr>
              <a:defRPr sz="1100">
                <a:solidFill>
                  <a:srgbClr val="8C8C8C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>
              <a:solidFill>
                <a:srgbClr val="F2F2F2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100">
                <a:solidFill>
                  <a:srgbClr val="8C8C8C"/>
                </a:solidFill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100"/>
          </a:pPr>
        </a:p>
      </c:txPr>
    </c:legend>
    <c:dispBlanksAs val="gap"/>
  </c:chart>
  <c:txPr>
    <a:bodyPr/>
    <a:lstStyle/>
    <a:p>
      <a:pPr>
        <a:defRPr sz="1100">
          <a:solidFill>
            <a:srgbClr val="333333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doughnutChart>
        <c:varyColors/>
        <c:ser>
          <c:idx val="0"/>
          <c:order val="0"/>
          <c:tx>
            <c:strRef>
              <c:f>Sheet1!$B$1</c:f>
              <c:strCache>
                <c:ptCount val="1"/>
                <c:pt idx="0">
                  <c:v>min</c:v>
                </c:pt>
              </c:strCache>
            </c:strRef>
          </c:tx>
          <c:dPt>
            <c:idx val="0"/>
            <c:spPr>
              <a:solidFill>
                <a:srgbClr val="1F3A5F"/>
              </a:solidFill>
            </c:spPr>
          </c:dPt>
          <c:dPt>
            <c:idx val="1"/>
            <c:spPr>
              <a:solidFill>
                <a:srgbClr val="4F81BD"/>
              </a:solidFill>
            </c:spPr>
          </c:dPt>
          <c:dPt>
            <c:idx val="2"/>
            <c:spPr>
              <a:solidFill>
                <a:srgbClr val="F2A900"/>
              </a:solidFill>
            </c:spPr>
          </c:dPt>
          <c:dPt>
            <c:idx val="3"/>
            <c:spPr>
              <a:solidFill>
                <a:srgbClr val="8C8C8C"/>
              </a:solidFill>
            </c:spPr>
          </c:dPt>
          <c:cat>
            <c:strRef>
              <c:f>Sheet1!$A$2:$A$5</c:f>
              <c:strCache>
                <c:ptCount val="4"/>
                <c:pt idx="0">
                  <c:v>Troca de ferramenta</c:v>
                </c:pt>
                <c:pt idx="1">
                  <c:v>Falta de material</c:v>
                </c:pt>
                <c:pt idx="2">
                  <c:v>Falha hidráulica</c:v>
                </c:pt>
                <c:pt idx="3">
                  <c:v>Outros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120</c:v>
                </c:pt>
                <c:pt idx="1">
                  <c:v>95</c:v>
                </c:pt>
                <c:pt idx="2">
                  <c:v>50</c:v>
                </c:pt>
                <c:pt idx="3">
                  <c:v>45</c:v>
                </c:pt>
              </c:numCache>
            </c:numRef>
          </c:val>
        </c:ser>
        <c:dLbls>
          <c:txPr>
            <a:bodyPr/>
            <a:lstStyle/>
            <a:p>
              <a:pPr>
                <a:defRPr sz="1100">
                  <a:solidFill>
                    <a:srgbClr val="333333"/>
                  </a:solidFill>
                </a:defRPr>
              </a:pPr>
            </a:p>
          </c:txPr>
          <c:showLegendKey val="0"/>
          <c:showVal val="0"/>
          <c:showCatName val="0"/>
          <c:showSerName val="0"/>
          <c:showPercent val="1"/>
          <c:showBubbleSize val="0"/>
          <c:showLeaderLines val="1"/>
        </c:dLbls>
        <c:firstSliceAng val="0"/>
        <c:holeSize val="50"/>
      </c:doughnutChart>
    </c:plotArea>
    <c:legend>
      <c:legendPos val="b"/>
      <c:layout/>
      <c:overlay val="0"/>
      <c:txPr>
        <a:bodyPr/>
        <a:lstStyle/>
        <a:p>
          <a:pPr>
            <a:defRPr sz="1100"/>
          </a:pPr>
        </a:p>
      </c:txPr>
    </c:legend>
    <c:plotVisOnly val="1"/>
    <c:dispBlanksAs val="gap"/>
    <c:showDLblsOverMax val="0"/>
  </c:chart>
  <c:txPr>
    <a:bodyPr/>
    <a:lstStyle/>
    <a:p>
      <a:pPr>
        <a:defRPr sz="1100">
          <a:solidFill>
            <a:srgbClr val="333333"/>
          </a:solidFill>
          <a:latin typeface="Calibri"/>
        </a:defRPr>
      </a:pPr>
      <a:endParaRPr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Deck de teste: exercita todos os modelos.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Relationship Id="rId3" Type="http://schemas.openxmlformats.org/officeDocument/2006/relationships/chart" Target="../charts/chart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Relationship Id="rId3" Type="http://schemas.openxmlformats.org/officeDocument/2006/relationships/chart" Target="../charts/char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Relationship Id="rId3" Type="http://schemas.openxmlformats.org/officeDocument/2006/relationships/chart" Target="../charts/chart3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Relationship Id="rId3" Type="http://schemas.openxmlformats.org/officeDocument/2006/relationships/chart" Target="../charts/chart4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73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309360"/>
            <a:ext cx="12191695" cy="54864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548640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100" b="1" i="0">
                <a:solidFill>
                  <a:srgbClr val="D9E1EA"/>
                </a:solidFill>
                <a:latin typeface="Calibri"/>
              </a:rPr>
              <a:t>EMPRESA EXEMPLO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554480"/>
            <a:ext cx="10698480" cy="36576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/>
            <a:r>
              <a:rPr sz="1100" b="1" i="0">
                <a:solidFill>
                  <a:srgbClr val="F2A900"/>
                </a:solidFill>
                <a:latin typeface="Calibri"/>
              </a:rPr>
              <a:t>CATÁLOGO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920240"/>
            <a:ext cx="7315200" cy="173736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/>
            <a:r>
              <a:rPr sz="4200" b="1" i="0">
                <a:solidFill>
                  <a:srgbClr val="FFFFFF"/>
                </a:solidFill>
                <a:latin typeface="Calibri"/>
              </a:rPr>
              <a:t>Catálogo de modelos de slide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749039"/>
            <a:ext cx="731520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200" b="0" i="0">
                <a:solidFill>
                  <a:srgbClr val="D9E1EA"/>
                </a:solidFill>
                <a:latin typeface="Calibri"/>
              </a:rPr>
              <a:t>Um slide de cada tipo suportado pela spec</a:t>
            </a:r>
          </a:p>
        </p:txBody>
      </p:sp>
      <p:sp>
        <p:nvSpPr>
          <p:cNvPr id="7" name="Rectangle 6"/>
          <p:cNvSpPr/>
          <p:nvPr/>
        </p:nvSpPr>
        <p:spPr>
          <a:xfrm>
            <a:off x="8412480" y="1920240"/>
            <a:ext cx="3319272" cy="24688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412480" y="1920240"/>
            <a:ext cx="73152" cy="246888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41080" y="2057400"/>
            <a:ext cx="29718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900" b="1" i="0">
                <a:solidFill>
                  <a:srgbClr val="8C8C8C"/>
                </a:solidFill>
                <a:latin typeface="Calibri"/>
              </a:rPr>
              <a:t>TESE CENTRAL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41080" y="2423160"/>
            <a:ext cx="2971800" cy="1874519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500" b="1" i="0">
                <a:solidFill>
                  <a:srgbClr val="1F3A5F"/>
                </a:solidFill>
                <a:latin typeface="Calibri"/>
              </a:rPr>
              <a:t>Todos os modelos geram slides dentro do grid, com cabeçalho, kicker, logotipo e callouts opcionais.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5669280"/>
            <a:ext cx="1069848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300" b="0" i="0">
                <a:solidFill>
                  <a:srgbClr val="BFC9D4"/>
                </a:solidFill>
                <a:latin typeface="Calibri"/>
              </a:rPr>
              <a:t>set/2026 | Uso interno</a:t>
            </a:r>
          </a:p>
        </p:txBody>
      </p:sp>
      <p:pic>
        <p:nvPicPr>
          <p:cNvPr id="12" name="Picture 11" descr="logo-placeholder-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32720" y="457200"/>
            <a:ext cx="1371600" cy="4572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65760"/>
            <a:ext cx="11274552" cy="822960"/>
          </a:xfrm>
        </p:spPr>
        <p:txBody>
          <a:bodyPr wrap="square" anchor="t" lIns="45720" rIns="45720"/>
          <a:lstStyle/>
          <a:p>
            <a:pPr algn="l"/>
            <a:r>
              <a:rPr sz="2800" b="1" i="0">
                <a:solidFill>
                  <a:srgbClr val="1F3A5F"/>
                </a:solidFill>
                <a:latin typeface="Calibri"/>
              </a:rPr>
              <a:t>Agenda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7315200" cy="228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900" b="1" i="0">
                <a:solidFill>
                  <a:srgbClr val="8C8C8C"/>
                </a:solidFill>
                <a:latin typeface="Calibri"/>
              </a:rPr>
              <a:t>EMPRESA EXEMPLO  |  CATÁLOGO DE MODELOS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91440"/>
            <a:ext cx="3959352" cy="228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900" b="0" i="0">
                <a:solidFill>
                  <a:srgbClr val="8C8C8C"/>
                </a:solidFill>
                <a:latin typeface="Calibri"/>
              </a:rPr>
              <a:t>set/2026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217920"/>
            <a:ext cx="8531352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000" b="0" i="0">
                <a:solidFill>
                  <a:srgbClr val="8C8C8C"/>
                </a:solidFill>
                <a:latin typeface="Calibri"/>
              </a:rPr>
              <a:t>Uso interno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17352" y="6217920"/>
            <a:ext cx="91440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8C8C8C"/>
                </a:solidFill>
                <a:latin typeface="Calibri"/>
              </a:rPr>
              <a:t>2</a:t>
            </a:r>
          </a:p>
        </p:txBody>
      </p:sp>
      <p:pic>
        <p:nvPicPr>
          <p:cNvPr id="7" name="Picture 6" descr="logo-placehol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92640" y="6245352"/>
            <a:ext cx="822960" cy="274320"/>
          </a:xfrm>
          <a:prstGeom prst="rect">
            <a:avLst/>
          </a:prstGeom>
        </p:spPr>
      </p:pic>
      <p:sp>
        <p:nvSpPr>
          <p:cNvPr id="8" name="Oval 7"/>
          <p:cNvSpPr/>
          <p:nvPr/>
        </p:nvSpPr>
        <p:spPr>
          <a:xfrm>
            <a:off x="457200" y="1554480"/>
            <a:ext cx="457200" cy="457200"/>
          </a:xfrm>
          <a:prstGeom prst="ellipse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1554480"/>
            <a:ext cx="6858000" cy="4572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2000" b="0" i="0">
                <a:solidFill>
                  <a:srgbClr val="333333"/>
                </a:solidFill>
                <a:latin typeface="Calibri"/>
              </a:rPr>
              <a:t>Abertura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20" y="1554480"/>
            <a:ext cx="3657600" cy="4572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600" b="0" i="0">
                <a:solidFill>
                  <a:srgbClr val="8C8C8C"/>
                </a:solidFill>
                <a:latin typeface="Calibri"/>
              </a:rPr>
              <a:t>5 min</a:t>
            </a:r>
          </a:p>
        </p:txBody>
      </p:sp>
      <p:sp>
        <p:nvSpPr>
          <p:cNvPr id="11" name="Oval 10"/>
          <p:cNvSpPr/>
          <p:nvPr/>
        </p:nvSpPr>
        <p:spPr>
          <a:xfrm>
            <a:off x="457200" y="2240280"/>
            <a:ext cx="457200" cy="457200"/>
          </a:xfrm>
          <a:prstGeom prst="ellipse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2240280"/>
            <a:ext cx="6858000" cy="4572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2000" b="0" i="0">
                <a:solidFill>
                  <a:srgbClr val="333333"/>
                </a:solidFill>
                <a:latin typeface="Calibri"/>
              </a:rPr>
              <a:t>Dados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0" y="2240280"/>
            <a:ext cx="3657600" cy="4572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600" b="0" i="0">
                <a:solidFill>
                  <a:srgbClr val="8C8C8C"/>
                </a:solidFill>
                <a:latin typeface="Calibri"/>
              </a:rPr>
              <a:t>15 min</a:t>
            </a:r>
          </a:p>
        </p:txBody>
      </p:sp>
      <p:sp>
        <p:nvSpPr>
          <p:cNvPr id="14" name="Oval 13"/>
          <p:cNvSpPr/>
          <p:nvPr/>
        </p:nvSpPr>
        <p:spPr>
          <a:xfrm>
            <a:off x="457200" y="2926080"/>
            <a:ext cx="457200" cy="457200"/>
          </a:xfrm>
          <a:prstGeom prst="ellipse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2926080"/>
            <a:ext cx="6858000" cy="4572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2000" b="0" i="0">
                <a:solidFill>
                  <a:srgbClr val="333333"/>
                </a:solidFill>
                <a:latin typeface="Calibri"/>
              </a:rPr>
              <a:t>Estrutura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46720" y="2926080"/>
            <a:ext cx="3657600" cy="4572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600" b="0" i="0">
                <a:solidFill>
                  <a:srgbClr val="8C8C8C"/>
                </a:solidFill>
                <a:latin typeface="Calibri"/>
              </a:rPr>
              <a:t>10 min</a:t>
            </a:r>
          </a:p>
        </p:txBody>
      </p:sp>
      <p:sp>
        <p:nvSpPr>
          <p:cNvPr id="17" name="Oval 16"/>
          <p:cNvSpPr/>
          <p:nvPr/>
        </p:nvSpPr>
        <p:spPr>
          <a:xfrm>
            <a:off x="457200" y="3611880"/>
            <a:ext cx="457200" cy="457200"/>
          </a:xfrm>
          <a:prstGeom prst="ellipse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7280" y="3611880"/>
            <a:ext cx="6858000" cy="4572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2000" b="0" i="0">
                <a:solidFill>
                  <a:srgbClr val="333333"/>
                </a:solidFill>
                <a:latin typeface="Calibri"/>
              </a:rPr>
              <a:t>Fechamento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46720" y="3611880"/>
            <a:ext cx="3657600" cy="4572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600" b="0" i="0">
                <a:solidFill>
                  <a:srgbClr val="8C8C8C"/>
                </a:solidFill>
                <a:latin typeface="Calibri"/>
              </a:rPr>
              <a:t>5 min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3A5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011680"/>
            <a:ext cx="1828800" cy="9144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6000" b="1" i="0">
                <a:solidFill>
                  <a:srgbClr val="F2A900"/>
                </a:solidFill>
                <a:latin typeface="Calibri"/>
              </a:rPr>
              <a:t>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017520"/>
            <a:ext cx="1069848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  <a:latin typeface="Calibri"/>
              </a:rPr>
              <a:t>Abertura</a:t>
            </a:r>
          </a:p>
        </p:txBody>
      </p:sp>
      <p:pic>
        <p:nvPicPr>
          <p:cNvPr id="4" name="Picture 3" descr="logo-placeholder-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07040" y="457200"/>
            <a:ext cx="1097280" cy="3657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1520" y="4114800"/>
            <a:ext cx="1069848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800" b="0" i="0">
                <a:solidFill>
                  <a:srgbClr val="D9E1EA"/>
                </a:solidFill>
                <a:latin typeface="Calibri"/>
              </a:rPr>
              <a:t>Sumário, KPIs e número grande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621792"/>
            <a:ext cx="11274552" cy="822960"/>
          </a:xfrm>
        </p:spPr>
        <p:txBody>
          <a:bodyPr wrap="square" anchor="t" lIns="45720" rIns="45720"/>
          <a:lstStyle/>
          <a:p>
            <a:pPr algn="l"/>
            <a:r>
              <a:rPr sz="2800" b="1" i="0">
                <a:solidFill>
                  <a:srgbClr val="1F3A5F"/>
                </a:solidFill>
                <a:latin typeface="Calibri"/>
              </a:rPr>
              <a:t>Sumário executivo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7315200" cy="228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900" b="1" i="0">
                <a:solidFill>
                  <a:srgbClr val="8C8C8C"/>
                </a:solidFill>
                <a:latin typeface="Calibri"/>
              </a:rPr>
              <a:t>EMPRESA EXEMPLO  |  CATÁLOGO DE MODELOS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91440"/>
            <a:ext cx="3959352" cy="228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900" b="0" i="0">
                <a:solidFill>
                  <a:srgbClr val="8C8C8C"/>
                </a:solidFill>
                <a:latin typeface="Calibri"/>
              </a:rPr>
              <a:t>set/2026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"/>
            <a:ext cx="11274552" cy="256032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/>
            <a:r>
              <a:rPr sz="1000" b="1" i="0">
                <a:solidFill>
                  <a:srgbClr val="4F81BD"/>
                </a:solidFill>
                <a:latin typeface="Calibri"/>
              </a:rPr>
              <a:t>SUMÁRIO EXECUTIVO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217920"/>
            <a:ext cx="8531352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000" b="0" i="0">
                <a:solidFill>
                  <a:srgbClr val="8C8C8C"/>
                </a:solidFill>
                <a:latin typeface="Calibri"/>
              </a:rPr>
              <a:t>Fonte: build_examples.py   |   Uso interno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17352" y="6217920"/>
            <a:ext cx="91440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8C8C8C"/>
                </a:solidFill>
                <a:latin typeface="Calibri"/>
              </a:rPr>
              <a:t>4</a:t>
            </a:r>
          </a:p>
        </p:txBody>
      </p:sp>
      <p:pic>
        <p:nvPicPr>
          <p:cNvPr id="8" name="Picture 7" descr="logo-placehol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92640" y="6245352"/>
            <a:ext cx="822960" cy="27432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457200" y="1645920"/>
            <a:ext cx="11274552" cy="100584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1645920"/>
            <a:ext cx="73152" cy="100584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1645920"/>
            <a:ext cx="10881360" cy="10058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2200" b="1" i="0">
                <a:solidFill>
                  <a:srgbClr val="1F3A5F"/>
                </a:solidFill>
                <a:latin typeface="Calibri"/>
              </a:rPr>
              <a:t>Todos os 19 modelos geram slides dentro do grid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2971800"/>
            <a:ext cx="411480" cy="411480"/>
          </a:xfrm>
          <a:prstGeom prst="ellipse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2926080"/>
            <a:ext cx="10515600" cy="792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0" i="0">
                <a:solidFill>
                  <a:srgbClr val="333333"/>
                </a:solidFill>
                <a:latin typeface="Calibri"/>
              </a:rPr>
              <a:t>Título no placeholder nativo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3764279"/>
            <a:ext cx="411480" cy="411480"/>
          </a:xfrm>
          <a:prstGeom prst="ellipse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43000" y="3718560"/>
            <a:ext cx="10515600" cy="792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0" i="0">
                <a:solidFill>
                  <a:srgbClr val="333333"/>
                </a:solidFill>
                <a:latin typeface="Calibri"/>
              </a:rPr>
              <a:t>Rodapé com fonte, logotipo e página</a:t>
            </a:r>
          </a:p>
        </p:txBody>
      </p:sp>
      <p:sp>
        <p:nvSpPr>
          <p:cNvPr id="16" name="Oval 15"/>
          <p:cNvSpPr/>
          <p:nvPr/>
        </p:nvSpPr>
        <p:spPr>
          <a:xfrm>
            <a:off x="548640" y="4556760"/>
            <a:ext cx="411480" cy="411480"/>
          </a:xfrm>
          <a:prstGeom prst="ellipse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43000" y="4511040"/>
            <a:ext cx="10515600" cy="792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0" i="0">
                <a:solidFill>
                  <a:srgbClr val="333333"/>
                </a:solidFill>
                <a:latin typeface="Calibri"/>
              </a:rPr>
              <a:t>Cores só por papel da paleta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5394960"/>
            <a:ext cx="11274552" cy="685800"/>
          </a:xfrm>
          <a:prstGeom prst="rect">
            <a:avLst/>
          </a:prstGeom>
          <a:solidFill>
            <a:srgbClr val="FFFFFF"/>
          </a:solidFill>
          <a:ln w="19050">
            <a:solidFill>
              <a:srgbClr val="F2A9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5394960"/>
            <a:ext cx="10972800" cy="6858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600" b="0" i="0">
                <a:solidFill>
                  <a:srgbClr val="333333"/>
                </a:solidFill>
                <a:latin typeface="Calibri"/>
              </a:rPr>
              <a:t/>
            </a:r>
            <a:r>
              <a:rPr sz="1600" b="1" i="0">
                <a:solidFill>
                  <a:srgbClr val="F2A900"/>
                </a:solidFill>
                <a:latin typeface="Calibri"/>
              </a:rPr>
              <a:t>Pedimos: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Revisar visualmente e ajustar coordenadas se necessário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621792"/>
            <a:ext cx="11274552" cy="822960"/>
          </a:xfrm>
        </p:spPr>
        <p:txBody>
          <a:bodyPr wrap="square" anchor="t" lIns="45720" rIns="45720"/>
          <a:lstStyle/>
          <a:p>
            <a:pPr algn="l"/>
            <a:r>
              <a:rPr sz="2800" b="1" i="0">
                <a:solidFill>
                  <a:srgbClr val="1F3A5F"/>
                </a:solidFill>
                <a:latin typeface="Calibri"/>
              </a:rPr>
              <a:t>Seis KPIs cabem em uma linha com fonte reduzida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7315200" cy="228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900" b="1" i="0">
                <a:solidFill>
                  <a:srgbClr val="8C8C8C"/>
                </a:solidFill>
                <a:latin typeface="Calibri"/>
              </a:rPr>
              <a:t>EMPRESA EXEMPLO  |  CATÁLOGO DE MODELOS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91440"/>
            <a:ext cx="3959352" cy="228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900" b="0" i="0">
                <a:solidFill>
                  <a:srgbClr val="8C8C8C"/>
                </a:solidFill>
                <a:latin typeface="Calibri"/>
              </a:rPr>
              <a:t>set/2026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"/>
            <a:ext cx="11274552" cy="256032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/>
            <a:r>
              <a:rPr sz="1000" b="1" i="0">
                <a:solidFill>
                  <a:srgbClr val="4F81BD"/>
                </a:solidFill>
                <a:latin typeface="Calibri"/>
              </a:rPr>
              <a:t>VISÃO GERAL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217920"/>
            <a:ext cx="8531352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000" b="0" i="0">
                <a:solidFill>
                  <a:srgbClr val="8C8C8C"/>
                </a:solidFill>
                <a:latin typeface="Calibri"/>
              </a:rPr>
              <a:t>Fonte: MES   |   Uso interno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17352" y="6217920"/>
            <a:ext cx="91440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8C8C8C"/>
                </a:solidFill>
                <a:latin typeface="Calibri"/>
              </a:rPr>
              <a:t>5</a:t>
            </a:r>
          </a:p>
        </p:txBody>
      </p:sp>
      <p:pic>
        <p:nvPicPr>
          <p:cNvPr id="8" name="Picture 7" descr="logo-placehol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92640" y="6245352"/>
            <a:ext cx="822960" cy="27432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457200" y="5349240"/>
            <a:ext cx="11274552" cy="73152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5349240"/>
            <a:ext cx="73152" cy="73152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5349240"/>
            <a:ext cx="2103120" cy="7315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000" b="1" i="0">
                <a:solidFill>
                  <a:srgbClr val="1F3A5F"/>
                </a:solidFill>
                <a:latin typeface="Calibri"/>
              </a:rPr>
              <a:t>CONCLUSÃO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88920" y="5349240"/>
            <a:ext cx="8759952" cy="7315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400" b="1" i="0">
                <a:solidFill>
                  <a:srgbClr val="333333"/>
                </a:solidFill>
                <a:latin typeface="Calibri"/>
              </a:rPr>
              <a:t>Três indicadores no vermelho concentram-se na Linha 2; o restante segue no alvo.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1828800"/>
            <a:ext cx="1650492" cy="219456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1828800"/>
            <a:ext cx="1650492" cy="73152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2057400"/>
            <a:ext cx="1376172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>
                <a:solidFill>
                  <a:srgbClr val="8C8C8C"/>
                </a:solidFill>
                <a:latin typeface="Calibri"/>
              </a:rPr>
              <a:t>SEGURANÇA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2423160"/>
            <a:ext cx="1376172" cy="10058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3000" b="1" i="0">
                <a:solidFill>
                  <a:srgbClr val="333333"/>
                </a:solidFill>
                <a:latin typeface="Calibri"/>
              </a:rPr>
              <a:t>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" y="3429000"/>
            <a:ext cx="1376172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300" b="1" i="0">
                <a:solidFill>
                  <a:srgbClr val="2E7D32"/>
                </a:solidFill>
                <a:latin typeface="Calibri"/>
              </a:rPr>
              <a:t>142 dias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2012" y="1828800"/>
            <a:ext cx="1650492" cy="219456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2012" y="1828800"/>
            <a:ext cx="1650492" cy="73152"/>
          </a:xfrm>
          <a:prstGeom prst="rect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19172" y="2057400"/>
            <a:ext cx="1376172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>
                <a:solidFill>
                  <a:srgbClr val="8C8C8C"/>
                </a:solidFill>
                <a:latin typeface="Calibri"/>
              </a:rPr>
              <a:t>PRODUÇÃO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19172" y="2423160"/>
            <a:ext cx="1376172" cy="10058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3000" b="1" i="0">
                <a:solidFill>
                  <a:srgbClr val="333333"/>
                </a:solidFill>
                <a:latin typeface="Calibri"/>
              </a:rPr>
              <a:t>4.120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19172" y="3429000"/>
            <a:ext cx="1376172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300" b="1" i="0">
                <a:solidFill>
                  <a:srgbClr val="C62828"/>
                </a:solidFill>
                <a:latin typeface="Calibri"/>
              </a:rPr>
              <a:t>meta 4.500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306824" y="1828800"/>
            <a:ext cx="1650492" cy="219456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306824" y="1828800"/>
            <a:ext cx="1650492" cy="73152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443984" y="2057400"/>
            <a:ext cx="1376172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>
                <a:solidFill>
                  <a:srgbClr val="8C8C8C"/>
                </a:solidFill>
                <a:latin typeface="Calibri"/>
              </a:rPr>
              <a:t>QUALIDADE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43984" y="2423160"/>
            <a:ext cx="1376172" cy="10058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3000" b="1" i="0">
                <a:solidFill>
                  <a:srgbClr val="333333"/>
                </a:solidFill>
                <a:latin typeface="Calibri"/>
              </a:rPr>
              <a:t>1,8%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43984" y="3429000"/>
            <a:ext cx="1376172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300" b="1" i="0">
                <a:solidFill>
                  <a:srgbClr val="2E7D32"/>
                </a:solidFill>
                <a:latin typeface="Calibri"/>
              </a:rPr>
              <a:t>meta 2%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231636" y="1828800"/>
            <a:ext cx="1650492" cy="219456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231636" y="1828800"/>
            <a:ext cx="1650492" cy="73152"/>
          </a:xfrm>
          <a:prstGeom prst="rect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68796" y="2057400"/>
            <a:ext cx="1376172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>
                <a:solidFill>
                  <a:srgbClr val="8C8C8C"/>
                </a:solidFill>
                <a:latin typeface="Calibri"/>
              </a:rPr>
              <a:t>OEE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68796" y="2423160"/>
            <a:ext cx="1376172" cy="10058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3000" b="1" i="0">
                <a:solidFill>
                  <a:srgbClr val="333333"/>
                </a:solidFill>
                <a:latin typeface="Calibri"/>
              </a:rPr>
              <a:t>68%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68796" y="3429000"/>
            <a:ext cx="1376172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300" b="1" i="0">
                <a:solidFill>
                  <a:srgbClr val="C62828"/>
                </a:solidFill>
                <a:latin typeface="Calibri"/>
              </a:rPr>
              <a:t>meta 75%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156448" y="1828800"/>
            <a:ext cx="1650492" cy="219456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8156448" y="1828800"/>
            <a:ext cx="1650492" cy="73152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293608" y="2057400"/>
            <a:ext cx="1376172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>
                <a:solidFill>
                  <a:srgbClr val="8C8C8C"/>
                </a:solidFill>
                <a:latin typeface="Calibri"/>
              </a:rPr>
              <a:t>OTIF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93608" y="2423160"/>
            <a:ext cx="1376172" cy="10058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3000" b="1" i="0">
                <a:solidFill>
                  <a:srgbClr val="333333"/>
                </a:solidFill>
                <a:latin typeface="Calibri"/>
              </a:rPr>
              <a:t>96%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93608" y="3429000"/>
            <a:ext cx="1376172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300" b="1" i="0">
                <a:solidFill>
                  <a:srgbClr val="2E7D32"/>
                </a:solidFill>
                <a:latin typeface="Calibri"/>
              </a:rPr>
              <a:t>meta 95%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0081260" y="1828800"/>
            <a:ext cx="1650492" cy="219456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10081260" y="1828800"/>
            <a:ext cx="1650492" cy="73152"/>
          </a:xfrm>
          <a:prstGeom prst="rect">
            <a:avLst/>
          </a:prstGeom>
          <a:solidFill>
            <a:srgbClr val="8C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218420" y="2057400"/>
            <a:ext cx="1376172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>
                <a:solidFill>
                  <a:srgbClr val="8C8C8C"/>
                </a:solidFill>
                <a:latin typeface="Calibri"/>
              </a:rPr>
              <a:t>CUSTO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218420" y="2423160"/>
            <a:ext cx="1376172" cy="10058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2300" b="1" i="0">
                <a:solidFill>
                  <a:srgbClr val="333333"/>
                </a:solidFill>
                <a:latin typeface="Calibri"/>
              </a:rPr>
              <a:t>R$ 1,2 mi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218420" y="3429000"/>
            <a:ext cx="1376172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300" b="1" i="0">
                <a:solidFill>
                  <a:srgbClr val="8C8C8C"/>
                </a:solidFill>
                <a:latin typeface="Calibri"/>
              </a:rPr>
              <a:t>no orçamento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57200" y="4297680"/>
            <a:ext cx="11274552" cy="914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marL="228600" indent="-228600">
              <a:spcAft>
                <a:spcPts val="800"/>
              </a:spcAft>
              <a:buClr>
                <a:srgbClr val="1F3A5F"/>
              </a:buClr>
              <a:buChar char="•"/>
            </a:pPr>
            <a:r>
              <a:rPr sz="1500" b="0" i="0">
                <a:solidFill>
                  <a:srgbClr val="333333"/>
                </a:solidFill>
                <a:latin typeface="Calibri"/>
              </a:rPr>
              <a:t>Contexto opcional abaixo dos cartões</a:t>
            </a:r>
          </a:p>
          <a:p>
            <a:pPr marL="228600" indent="-228600">
              <a:spcAft>
                <a:spcPts val="800"/>
              </a:spcAft>
              <a:buClr>
                <a:srgbClr val="1F3A5F"/>
              </a:buClr>
              <a:buChar char="•"/>
            </a:pPr>
            <a:r>
              <a:rPr sz="1500" b="0" i="0">
                <a:solidFill>
                  <a:srgbClr val="333333"/>
                </a:solidFill>
                <a:latin typeface="Calibri"/>
              </a:rPr>
              <a:t>Segunda linha de contexto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621792"/>
            <a:ext cx="11274552" cy="822960"/>
          </a:xfrm>
        </p:spPr>
        <p:txBody>
          <a:bodyPr wrap="square" anchor="t" lIns="45720" rIns="45720"/>
          <a:lstStyle/>
          <a:p>
            <a:pPr algn="l"/>
            <a:r>
              <a:rPr sz="2800" b="1" i="0">
                <a:solidFill>
                  <a:srgbClr val="1F3A5F"/>
                </a:solidFill>
                <a:latin typeface="Calibri"/>
              </a:rPr>
              <a:t>Quatro KPIs com linha de cobertura sob o delta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7315200" cy="228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900" b="1" i="0">
                <a:solidFill>
                  <a:srgbClr val="8C8C8C"/>
                </a:solidFill>
                <a:latin typeface="Calibri"/>
              </a:rPr>
              <a:t>EMPRESA EXEMPLO  |  CATÁLOGO DE MODELOS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91440"/>
            <a:ext cx="3959352" cy="228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900" b="0" i="0">
                <a:solidFill>
                  <a:srgbClr val="8C8C8C"/>
                </a:solidFill>
                <a:latin typeface="Calibri"/>
              </a:rPr>
              <a:t>set/2026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"/>
            <a:ext cx="11274552" cy="256032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/>
            <a:r>
              <a:rPr sz="1000" b="1" i="0">
                <a:solidFill>
                  <a:srgbClr val="4F81BD"/>
                </a:solidFill>
                <a:latin typeface="Calibri"/>
              </a:rPr>
              <a:t>KPIS COM DESCRIÇÃO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217920"/>
            <a:ext cx="8531352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000" b="0" i="0">
                <a:solidFill>
                  <a:srgbClr val="8C8C8C"/>
                </a:solidFill>
                <a:latin typeface="Calibri"/>
              </a:rPr>
              <a:t>Fonte: Base de solicitações (n=71)   |   Uso interno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17352" y="6217920"/>
            <a:ext cx="91440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8C8C8C"/>
                </a:solidFill>
                <a:latin typeface="Calibri"/>
              </a:rPr>
              <a:t>6</a:t>
            </a:r>
          </a:p>
        </p:txBody>
      </p:sp>
      <p:pic>
        <p:nvPicPr>
          <p:cNvPr id="8" name="Picture 7" descr="logo-placehol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92640" y="6245352"/>
            <a:ext cx="822960" cy="27432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457200" y="5349240"/>
            <a:ext cx="11274552" cy="731520"/>
          </a:xfrm>
          <a:prstGeom prst="rect">
            <a:avLst/>
          </a:prstGeom>
          <a:solidFill>
            <a:srgbClr val="FFF3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5349240"/>
            <a:ext cx="73152" cy="731520"/>
          </a:xfrm>
          <a:prstGeom prst="rect">
            <a:avLst/>
          </a:prstGeom>
          <a:solidFill>
            <a:srgbClr val="F9A8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5349240"/>
            <a:ext cx="2103120" cy="7315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000" b="1" i="0">
                <a:solidFill>
                  <a:srgbClr val="F9A825"/>
                </a:solidFill>
                <a:latin typeface="Calibri"/>
              </a:rPr>
              <a:t>CUIDADO DE LEITURA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88920" y="5349240"/>
            <a:ext cx="8759952" cy="7315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400" b="1" i="0">
                <a:solidFill>
                  <a:srgbClr val="333333"/>
                </a:solidFill>
                <a:latin typeface="Calibri"/>
              </a:rPr>
              <a:t>21 solicitações ainda não possuem valor contratado; o saving reflete apenas itens contratados.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1828800"/>
            <a:ext cx="2612898" cy="265176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1828800"/>
            <a:ext cx="2612898" cy="73152"/>
          </a:xfrm>
          <a:prstGeom prst="rect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2057400"/>
            <a:ext cx="2338578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>
                <a:solidFill>
                  <a:srgbClr val="8C8C8C"/>
                </a:solidFill>
                <a:latin typeface="Calibri"/>
              </a:rPr>
              <a:t>FORA DO PRAZO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2423160"/>
            <a:ext cx="2338578" cy="10058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4000" b="1" i="0">
                <a:solidFill>
                  <a:srgbClr val="333333"/>
                </a:solidFill>
                <a:latin typeface="Calibri"/>
              </a:rPr>
              <a:t>76%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" y="3429000"/>
            <a:ext cx="2338578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300" b="1" i="0">
                <a:solidFill>
                  <a:srgbClr val="C62828"/>
                </a:solidFill>
                <a:latin typeface="Calibri"/>
              </a:rPr>
              <a:t>54 de 71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" y="3794760"/>
            <a:ext cx="2338578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00" b="0" i="0">
                <a:solidFill>
                  <a:srgbClr val="8C8C8C"/>
                </a:solidFill>
                <a:latin typeface="Calibri"/>
              </a:rPr>
              <a:t>classificadas como atrasadas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344418" y="1828800"/>
            <a:ext cx="2612898" cy="265176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344418" y="1828800"/>
            <a:ext cx="2612898" cy="73152"/>
          </a:xfrm>
          <a:prstGeom prst="rect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481577" y="2057400"/>
            <a:ext cx="2338578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>
                <a:solidFill>
                  <a:srgbClr val="8C8C8C"/>
                </a:solidFill>
                <a:latin typeface="Calibri"/>
              </a:rPr>
              <a:t>ATRASO MÉDIO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481577" y="2423160"/>
            <a:ext cx="2338578" cy="10058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3900" b="1" i="0">
                <a:solidFill>
                  <a:srgbClr val="333333"/>
                </a:solidFill>
                <a:latin typeface="Calibri"/>
              </a:rPr>
              <a:t>62 dias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481577" y="3429000"/>
            <a:ext cx="2338578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300" b="1" i="0">
                <a:solidFill>
                  <a:srgbClr val="C62828"/>
                </a:solidFill>
                <a:latin typeface="Calibri"/>
              </a:rPr>
              <a:t>mediana 61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481577" y="3794760"/>
            <a:ext cx="2338578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00" b="0" i="0">
                <a:solidFill>
                  <a:srgbClr val="8C8C8C"/>
                </a:solidFill>
                <a:latin typeface="Calibri"/>
              </a:rPr>
              <a:t>entre os itens atrasados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231636" y="1828800"/>
            <a:ext cx="2612898" cy="265176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231636" y="1828800"/>
            <a:ext cx="2612898" cy="73152"/>
          </a:xfrm>
          <a:prstGeom prst="rect">
            <a:avLst/>
          </a:prstGeom>
          <a:solidFill>
            <a:srgbClr val="F9A8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368796" y="2057400"/>
            <a:ext cx="2338578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>
                <a:solidFill>
                  <a:srgbClr val="8C8C8C"/>
                </a:solidFill>
                <a:latin typeface="Calibri"/>
              </a:rPr>
              <a:t>RISCO ALTO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68796" y="2423160"/>
            <a:ext cx="2338578" cy="10058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4000" b="1" i="0">
                <a:solidFill>
                  <a:srgbClr val="333333"/>
                </a:solidFill>
                <a:latin typeface="Calibri"/>
              </a:rPr>
              <a:t>70%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68796" y="3429000"/>
            <a:ext cx="2338578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300" b="1" i="0">
                <a:solidFill>
                  <a:srgbClr val="F9A825"/>
                </a:solidFill>
                <a:latin typeface="Calibri"/>
              </a:rPr>
              <a:t>50 solicitações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68796" y="3794760"/>
            <a:ext cx="2338578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00" b="0" i="0">
                <a:solidFill>
                  <a:srgbClr val="8C8C8C"/>
                </a:solidFill>
                <a:latin typeface="Calibri"/>
              </a:rPr>
              <a:t>nível de risco registrado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118854" y="1828800"/>
            <a:ext cx="2612898" cy="265176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118854" y="1828800"/>
            <a:ext cx="2612898" cy="73152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256014" y="2057400"/>
            <a:ext cx="2338578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>
                <a:solidFill>
                  <a:srgbClr val="8C8C8C"/>
                </a:solidFill>
                <a:latin typeface="Calibri"/>
              </a:rPr>
              <a:t>SAVING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256014" y="2423160"/>
            <a:ext cx="2338578" cy="10058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4000" b="1" i="0">
                <a:solidFill>
                  <a:srgbClr val="333333"/>
                </a:solidFill>
                <a:latin typeface="Calibri"/>
              </a:rPr>
              <a:t>4,3%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256014" y="3429000"/>
            <a:ext cx="2338578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300" b="1" i="0">
                <a:solidFill>
                  <a:srgbClr val="2E7D32"/>
                </a:solidFill>
                <a:latin typeface="Calibri"/>
              </a:rPr>
              <a:t>R$ 68,6 mil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256014" y="3794760"/>
            <a:ext cx="2338578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00" b="0" i="0">
                <a:solidFill>
                  <a:srgbClr val="8C8C8C"/>
                </a:solidFill>
                <a:latin typeface="Calibri"/>
              </a:rPr>
              <a:t>só itens com valor contratado (n=50)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621792"/>
            <a:ext cx="11274552" cy="822960"/>
          </a:xfrm>
        </p:spPr>
        <p:txBody>
          <a:bodyPr wrap="square" anchor="t" lIns="45720" rIns="45720"/>
          <a:lstStyle/>
          <a:p>
            <a:pPr algn="l"/>
            <a:r>
              <a:rPr sz="2800" b="1" i="0">
                <a:solidFill>
                  <a:srgbClr val="1F3A5F"/>
                </a:solidFill>
                <a:latin typeface="Calibri"/>
              </a:rPr>
              <a:t>Um número que é a mensagem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7315200" cy="228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900" b="1" i="0">
                <a:solidFill>
                  <a:srgbClr val="8C8C8C"/>
                </a:solidFill>
                <a:latin typeface="Calibri"/>
              </a:rPr>
              <a:t>EMPRESA EXEMPLO  |  CATÁLOGO DE MODELOS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91440"/>
            <a:ext cx="3959352" cy="228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900" b="0" i="0">
                <a:solidFill>
                  <a:srgbClr val="8C8C8C"/>
                </a:solidFill>
                <a:latin typeface="Calibri"/>
              </a:rPr>
              <a:t>set/2026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"/>
            <a:ext cx="11274552" cy="256032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/>
            <a:r>
              <a:rPr sz="1000" b="1" i="0">
                <a:solidFill>
                  <a:srgbClr val="4F81BD"/>
                </a:solidFill>
                <a:latin typeface="Calibri"/>
              </a:rPr>
              <a:t>NÚMERO GRANDE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217920"/>
            <a:ext cx="8531352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000" b="0" i="0">
                <a:solidFill>
                  <a:srgbClr val="8C8C8C"/>
                </a:solidFill>
                <a:latin typeface="Calibri"/>
              </a:rPr>
              <a:t>Fonte: Faturas 2025   |   Uso interno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17352" y="6217920"/>
            <a:ext cx="91440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8C8C8C"/>
                </a:solidFill>
                <a:latin typeface="Calibri"/>
              </a:rPr>
              <a:t>7</a:t>
            </a:r>
          </a:p>
        </p:txBody>
      </p:sp>
      <p:pic>
        <p:nvPicPr>
          <p:cNvPr id="8" name="Picture 7" descr="logo-placehol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92640" y="6245352"/>
            <a:ext cx="822960" cy="27432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57200" y="2011680"/>
            <a:ext cx="11274552" cy="18288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8000" b="1" i="0">
                <a:solidFill>
                  <a:srgbClr val="1F3A5F"/>
                </a:solidFill>
                <a:latin typeface="Calibri"/>
              </a:rPr>
              <a:t>R$ 2,1 mi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3931920"/>
            <a:ext cx="11274552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2000" b="0" i="0">
                <a:solidFill>
                  <a:srgbClr val="8C8C8C"/>
                </a:solidFill>
                <a:latin typeface="Calibri"/>
              </a:rPr>
              <a:t>custo anual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71600" y="4663440"/>
            <a:ext cx="9445752" cy="12801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600" b="0" i="0">
                <a:solidFill>
                  <a:srgbClr val="333333"/>
                </a:solidFill>
                <a:latin typeface="Calibri"/>
              </a:rPr>
              <a:t>Equivale a 8% do faturamento. Comparação obrigatória.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3A5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011680"/>
            <a:ext cx="1828800" cy="9144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6000" b="1" i="0">
                <a:solidFill>
                  <a:srgbClr val="F2A900"/>
                </a:solidFill>
                <a:latin typeface="Calibri"/>
              </a:rPr>
              <a:t>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017520"/>
            <a:ext cx="1069848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  <a:latin typeface="Calibri"/>
              </a:rPr>
              <a:t>Dados</a:t>
            </a:r>
          </a:p>
        </p:txBody>
      </p:sp>
      <p:pic>
        <p:nvPicPr>
          <p:cNvPr id="4" name="Picture 3" descr="logo-placeholder-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07040" y="457200"/>
            <a:ext cx="1097280" cy="36576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621792"/>
            <a:ext cx="11274552" cy="822960"/>
          </a:xfrm>
        </p:spPr>
        <p:txBody>
          <a:bodyPr wrap="square" anchor="t" lIns="45720" rIns="45720"/>
          <a:lstStyle/>
          <a:p>
            <a:pPr algn="l"/>
            <a:r>
              <a:rPr sz="2800" b="1" i="0">
                <a:solidFill>
                  <a:srgbClr val="1F3A5F"/>
                </a:solidFill>
                <a:latin typeface="Calibri"/>
              </a:rPr>
              <a:t>Barras horizontais ordenadas com destaque em accent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7315200" cy="228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900" b="1" i="0">
                <a:solidFill>
                  <a:srgbClr val="8C8C8C"/>
                </a:solidFill>
                <a:latin typeface="Calibri"/>
              </a:rPr>
              <a:t>EMPRESA EXEMPLO  |  CATÁLOGO DE MODELOS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91440"/>
            <a:ext cx="3959352" cy="228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900" b="0" i="0">
                <a:solidFill>
                  <a:srgbClr val="8C8C8C"/>
                </a:solidFill>
                <a:latin typeface="Calibri"/>
              </a:rPr>
              <a:t>set/2026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"/>
            <a:ext cx="11274552" cy="256032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/>
            <a:r>
              <a:rPr sz="1000" b="1" i="0">
                <a:solidFill>
                  <a:srgbClr val="4F81BD"/>
                </a:solidFill>
                <a:latin typeface="Calibri"/>
              </a:rPr>
              <a:t>RANKING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417320"/>
            <a:ext cx="11274552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600" b="0" i="0">
                <a:solidFill>
                  <a:srgbClr val="8C8C8C"/>
                </a:solidFill>
                <a:latin typeface="Calibri"/>
              </a:rPr>
              <a:t>R$ mi, agosto/26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217920"/>
            <a:ext cx="8531352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000" b="0" i="0">
                <a:solidFill>
                  <a:srgbClr val="8C8C8C"/>
                </a:solidFill>
                <a:latin typeface="Calibri"/>
              </a:rPr>
              <a:t>Fonte: CRM   |   Uso interno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17352" y="6217920"/>
            <a:ext cx="91440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8C8C8C"/>
                </a:solidFill>
                <a:latin typeface="Calibri"/>
              </a:rPr>
              <a:t>9</a:t>
            </a:r>
          </a:p>
        </p:txBody>
      </p:sp>
      <p:pic>
        <p:nvPicPr>
          <p:cNvPr id="9" name="Picture 8" descr="logo-placehol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92640" y="6245352"/>
            <a:ext cx="822960" cy="274320"/>
          </a:xfrm>
          <a:prstGeom prst="rect">
            <a:avLst/>
          </a:prstGeom>
        </p:spPr>
      </p:pic>
      <p:graphicFrame>
        <p:nvGraphicFramePr>
          <p:cNvPr id="10" name="Chart 9" descr="Barras horizontais ordenadas com destaque em accent"/>
          <p:cNvGraphicFramePr>
            <a:graphicFrameLocks noGrp="1"/>
          </p:cNvGraphicFramePr>
          <p:nvPr/>
        </p:nvGraphicFramePr>
        <p:xfrm>
          <a:off x="457200" y="2011680"/>
          <a:ext cx="11274552" cy="41148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621792"/>
            <a:ext cx="11274552" cy="822960"/>
          </a:xfrm>
        </p:spPr>
        <p:txBody>
          <a:bodyPr wrap="square" anchor="t" lIns="45720" rIns="45720"/>
          <a:lstStyle/>
          <a:p>
            <a:pPr algn="l"/>
            <a:r>
              <a:rPr sz="2800" b="1" i="0">
                <a:solidFill>
                  <a:srgbClr val="1F3A5F"/>
                </a:solidFill>
                <a:latin typeface="Calibri"/>
              </a:rPr>
              <a:t>Linha com meta tracejada, comentários e callout de recomendação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7315200" cy="228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900" b="1" i="0">
                <a:solidFill>
                  <a:srgbClr val="8C8C8C"/>
                </a:solidFill>
                <a:latin typeface="Calibri"/>
              </a:rPr>
              <a:t>EMPRESA EXEMPLO  |  CATÁLOGO DE MODELOS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91440"/>
            <a:ext cx="3959352" cy="228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900" b="0" i="0">
                <a:solidFill>
                  <a:srgbClr val="8C8C8C"/>
                </a:solidFill>
                <a:latin typeface="Calibri"/>
              </a:rPr>
              <a:t>set/2026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"/>
            <a:ext cx="11274552" cy="256032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/>
            <a:r>
              <a:rPr sz="1000" b="1" i="0">
                <a:solidFill>
                  <a:srgbClr val="4F81BD"/>
                </a:solidFill>
                <a:latin typeface="Calibri"/>
              </a:rPr>
              <a:t>EVOLUÇÃO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217920"/>
            <a:ext cx="8531352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000" b="0" i="0">
                <a:solidFill>
                  <a:srgbClr val="8C8C8C"/>
                </a:solidFill>
                <a:latin typeface="Calibri"/>
              </a:rPr>
              <a:t>Fonte: Cronograma   |   Uso interno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17352" y="6217920"/>
            <a:ext cx="91440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8C8C8C"/>
                </a:solidFill>
                <a:latin typeface="Calibri"/>
              </a:rPr>
              <a:t>10</a:t>
            </a:r>
          </a:p>
        </p:txBody>
      </p:sp>
      <p:pic>
        <p:nvPicPr>
          <p:cNvPr id="8" name="Picture 7" descr="logo-placehol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92640" y="6245352"/>
            <a:ext cx="822960" cy="27432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457200" y="5349240"/>
            <a:ext cx="11274552" cy="731520"/>
          </a:xfrm>
          <a:prstGeom prst="rect">
            <a:avLst/>
          </a:prstGeom>
          <a:solidFill>
            <a:srgbClr val="EA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5349240"/>
            <a:ext cx="73152" cy="731520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5349240"/>
            <a:ext cx="2103120" cy="7315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000" b="1" i="0">
                <a:solidFill>
                  <a:srgbClr val="2E7D32"/>
                </a:solidFill>
                <a:latin typeface="Calibri"/>
              </a:rPr>
              <a:t>RECOMENDAÇÃO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88920" y="5349240"/>
            <a:ext cx="8759952" cy="7315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400" b="1" i="0">
                <a:solidFill>
                  <a:srgbClr val="333333"/>
                </a:solidFill>
                <a:latin typeface="Calibri"/>
              </a:rPr>
              <a:t>Acionar o fornecedor alternativo e replanejar os testes integrados.</a:t>
            </a:r>
          </a:p>
        </p:txBody>
      </p:sp>
      <p:graphicFrame>
        <p:nvGraphicFramePr>
          <p:cNvPr id="13" name="Chart 12" descr="Linha com meta tracejada, comentários e callout de recomendação"/>
          <p:cNvGraphicFramePr>
            <a:graphicFrameLocks noGrp="1"/>
          </p:cNvGraphicFramePr>
          <p:nvPr/>
        </p:nvGraphicFramePr>
        <p:xfrm>
          <a:off x="457200" y="1737360"/>
          <a:ext cx="7315200" cy="34747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8046720" y="1828800"/>
            <a:ext cx="3685032" cy="32918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marL="228600" indent="-228600">
              <a:spcAft>
                <a:spcPts val="800"/>
              </a:spcAft>
              <a:buClr>
                <a:srgbClr val="1F3A5F"/>
              </a:buClr>
              <a:buChar char="•"/>
            </a:pPr>
            <a:r>
              <a:rPr sz="1400" b="0" i="0">
                <a:solidFill>
                  <a:srgbClr val="333333"/>
                </a:solidFill>
                <a:latin typeface="Calibri"/>
              </a:rPr>
              <a:t>Gap abre a partir da S31</a:t>
            </a:r>
          </a:p>
          <a:p>
            <a:pPr marL="228600" indent="-228600">
              <a:spcAft>
                <a:spcPts val="800"/>
              </a:spcAft>
              <a:buClr>
                <a:srgbClr val="1F3A5F"/>
              </a:buClr>
              <a:buChar char="•"/>
            </a:pPr>
            <a:r>
              <a:rPr sz="1400" b="0" i="0">
                <a:solidFill>
                  <a:srgbClr val="333333"/>
                </a:solidFill>
                <a:latin typeface="Calibri"/>
              </a:rPr>
              <a:t>Causa: homologação do fornecedor</a:t>
            </a:r>
          </a:p>
          <a:p>
            <a:pPr marL="228600" indent="-228600">
              <a:spcAft>
                <a:spcPts val="800"/>
              </a:spcAft>
              <a:buClr>
                <a:srgbClr val="1F3A5F"/>
              </a:buClr>
              <a:buChar char="•"/>
            </a:pPr>
            <a:r>
              <a:rPr sz="1400" b="0" i="0">
                <a:solidFill>
                  <a:srgbClr val="333333"/>
                </a:solidFill>
                <a:latin typeface="Calibri"/>
              </a:rPr>
              <a:t>Recuperação prevista na S38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65760"/>
            <a:ext cx="11274552" cy="822960"/>
          </a:xfrm>
        </p:spPr>
        <p:txBody>
          <a:bodyPr wrap="square" anchor="t" lIns="45720" rIns="45720"/>
          <a:lstStyle/>
          <a:p>
            <a:pPr algn="l"/>
            <a:r>
              <a:rPr sz="2800" b="1" i="0">
                <a:solidFill>
                  <a:srgbClr val="1F3A5F"/>
                </a:solidFill>
                <a:latin typeface="Calibri"/>
              </a:rPr>
              <a:t>Composição com colunas empilhadas (sem kicker)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7315200" cy="228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900" b="1" i="0">
                <a:solidFill>
                  <a:srgbClr val="8C8C8C"/>
                </a:solidFill>
                <a:latin typeface="Calibri"/>
              </a:rPr>
              <a:t>EMPRESA EXEMPLO  |  CATÁLOGO DE MODELOS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91440"/>
            <a:ext cx="3959352" cy="228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900" b="0" i="0">
                <a:solidFill>
                  <a:srgbClr val="8C8C8C"/>
                </a:solidFill>
                <a:latin typeface="Calibri"/>
              </a:rPr>
              <a:t>set/2026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217920"/>
            <a:ext cx="8531352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000" b="0" i="0">
                <a:solidFill>
                  <a:srgbClr val="8C8C8C"/>
                </a:solidFill>
                <a:latin typeface="Calibri"/>
              </a:rPr>
              <a:t>Fonte: ERP   |   Uso interno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17352" y="6217920"/>
            <a:ext cx="91440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8C8C8C"/>
                </a:solidFill>
                <a:latin typeface="Calibri"/>
              </a:rPr>
              <a:t>11</a:t>
            </a:r>
          </a:p>
        </p:txBody>
      </p:sp>
      <p:pic>
        <p:nvPicPr>
          <p:cNvPr id="7" name="Picture 6" descr="logo-placehol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92640" y="6245352"/>
            <a:ext cx="822960" cy="274320"/>
          </a:xfrm>
          <a:prstGeom prst="rect">
            <a:avLst/>
          </a:prstGeom>
        </p:spPr>
      </p:pic>
      <p:graphicFrame>
        <p:nvGraphicFramePr>
          <p:cNvPr id="8" name="Chart 7" descr="Composição com colunas empilhadas (sem kicker)"/>
          <p:cNvGraphicFramePr>
            <a:graphicFrameLocks noGrp="1"/>
          </p:cNvGraphicFramePr>
          <p:nvPr/>
        </p:nvGraphicFramePr>
        <p:xfrm>
          <a:off x="457200" y="1463040"/>
          <a:ext cx="11274552" cy="466344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621792"/>
            <a:ext cx="11274552" cy="822960"/>
          </a:xfrm>
        </p:spPr>
        <p:txBody>
          <a:bodyPr wrap="square" anchor="t" lIns="45720" rIns="45720"/>
          <a:lstStyle/>
          <a:p>
            <a:pPr algn="l"/>
            <a:r>
              <a:rPr sz="2800" b="1" i="0">
                <a:solidFill>
                  <a:srgbClr val="1F3A5F"/>
                </a:solidFill>
                <a:latin typeface="Calibri"/>
              </a:rPr>
              <a:t>Rosca com até 4 fatias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7315200" cy="228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900" b="1" i="0">
                <a:solidFill>
                  <a:srgbClr val="8C8C8C"/>
                </a:solidFill>
                <a:latin typeface="Calibri"/>
              </a:rPr>
              <a:t>EMPRESA EXEMPLO  |  CATÁLOGO DE MODELOS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91440"/>
            <a:ext cx="3959352" cy="228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900" b="0" i="0">
                <a:solidFill>
                  <a:srgbClr val="8C8C8C"/>
                </a:solidFill>
                <a:latin typeface="Calibri"/>
              </a:rPr>
              <a:t>set/2026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"/>
            <a:ext cx="11274552" cy="256032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/>
            <a:r>
              <a:rPr sz="1000" b="1" i="0">
                <a:solidFill>
                  <a:srgbClr val="4F81BD"/>
                </a:solidFill>
                <a:latin typeface="Calibri"/>
              </a:rPr>
              <a:t>COMPOSIÇÃO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217920"/>
            <a:ext cx="8531352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000" b="0" i="0">
                <a:solidFill>
                  <a:srgbClr val="8C8C8C"/>
                </a:solidFill>
                <a:latin typeface="Calibri"/>
              </a:rPr>
              <a:t>Fonte: Apontamento de paradas   |   Uso interno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17352" y="6217920"/>
            <a:ext cx="91440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8C8C8C"/>
                </a:solidFill>
                <a:latin typeface="Calibri"/>
              </a:rPr>
              <a:t>12</a:t>
            </a:r>
          </a:p>
        </p:txBody>
      </p:sp>
      <p:pic>
        <p:nvPicPr>
          <p:cNvPr id="8" name="Picture 7" descr="logo-placehol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92640" y="6245352"/>
            <a:ext cx="822960" cy="274320"/>
          </a:xfrm>
          <a:prstGeom prst="rect">
            <a:avLst/>
          </a:prstGeom>
        </p:spPr>
      </p:pic>
      <p:graphicFrame>
        <p:nvGraphicFramePr>
          <p:cNvPr id="9" name="Chart 8" descr="Rosca com até 4 fatias"/>
          <p:cNvGraphicFramePr>
            <a:graphicFrameLocks noGrp="1"/>
          </p:cNvGraphicFramePr>
          <p:nvPr/>
        </p:nvGraphicFramePr>
        <p:xfrm>
          <a:off x="457200" y="1737360"/>
          <a:ext cx="11274552" cy="43891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621792"/>
            <a:ext cx="11274552" cy="822960"/>
          </a:xfrm>
        </p:spPr>
        <p:txBody>
          <a:bodyPr wrap="square" anchor="t" lIns="45720" rIns="45720"/>
          <a:lstStyle/>
          <a:p>
            <a:pPr algn="l"/>
            <a:r>
              <a:rPr sz="2800" b="1" i="0">
                <a:solidFill>
                  <a:srgbClr val="1F3A5F"/>
                </a:solidFill>
                <a:latin typeface="Calibri"/>
              </a:rPr>
              <a:t>Tabela com colunas de status, linha de total e destaque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7315200" cy="228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900" b="1" i="0">
                <a:solidFill>
                  <a:srgbClr val="8C8C8C"/>
                </a:solidFill>
                <a:latin typeface="Calibri"/>
              </a:rPr>
              <a:t>EMPRESA EXEMPLO  |  CATÁLOGO DE MODELOS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91440"/>
            <a:ext cx="3959352" cy="228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900" b="0" i="0">
                <a:solidFill>
                  <a:srgbClr val="8C8C8C"/>
                </a:solidFill>
                <a:latin typeface="Calibri"/>
              </a:rPr>
              <a:t>set/2026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"/>
            <a:ext cx="11274552" cy="256032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/>
            <a:r>
              <a:rPr sz="1000" b="1" i="0">
                <a:solidFill>
                  <a:srgbClr val="4F81BD"/>
                </a:solidFill>
                <a:latin typeface="Calibri"/>
              </a:rPr>
              <a:t>TABELA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217920"/>
            <a:ext cx="8531352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000" b="0" i="0">
                <a:solidFill>
                  <a:srgbClr val="8C8C8C"/>
                </a:solidFill>
                <a:latin typeface="Calibri"/>
              </a:rPr>
              <a:t>Fonte: DRE gerencial   |   Uso interno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17352" y="6217920"/>
            <a:ext cx="91440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8C8C8C"/>
                </a:solidFill>
                <a:latin typeface="Calibri"/>
              </a:rPr>
              <a:t>13</a:t>
            </a:r>
          </a:p>
        </p:txBody>
      </p:sp>
      <p:pic>
        <p:nvPicPr>
          <p:cNvPr id="8" name="Picture 7" descr="logo-placehol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92640" y="6245352"/>
            <a:ext cx="822960" cy="274320"/>
          </a:xfrm>
          <a:prstGeom prst="rect">
            <a:avLst/>
          </a:prstGeom>
        </p:spPr>
      </p:pic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57200" y="1737360"/>
          <a:ext cx="11274552" cy="228600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3959352"/>
                <a:gridCol w="1828800"/>
                <a:gridCol w="1828800"/>
                <a:gridCol w="1828800"/>
                <a:gridCol w="1828800"/>
              </a:tblGrid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Item</a:t>
                      </a:r>
                    </a:p>
                  </a:txBody>
                  <a:tcPr marL="73152" marR="73152" marT="27432" marB="27432" anchor="ctr">
                    <a:solidFill>
                      <a:srgbClr val="1F3A5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Real</a:t>
                      </a:r>
                    </a:p>
                  </a:txBody>
                  <a:tcPr marL="73152" marR="73152" marT="27432" marB="27432" anchor="ctr">
                    <a:solidFill>
                      <a:srgbClr val="1F3A5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Orçado</a:t>
                      </a:r>
                    </a:p>
                  </a:txBody>
                  <a:tcPr marL="73152" marR="73152" marT="27432" marB="27432" anchor="ctr">
                    <a:solidFill>
                      <a:srgbClr val="1F3A5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Var. %</a:t>
                      </a:r>
                    </a:p>
                  </a:txBody>
                  <a:tcPr marL="73152" marR="73152" marT="27432" marB="27432" anchor="ctr">
                    <a:solidFill>
                      <a:srgbClr val="1F3A5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Status</a:t>
                      </a:r>
                    </a:p>
                  </a:txBody>
                  <a:tcPr marL="73152" marR="73152" marT="27432" marB="27432" anchor="ctr">
                    <a:solidFill>
                      <a:srgbClr val="1F3A5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200" b="1" i="0">
                          <a:solidFill>
                            <a:srgbClr val="333333"/>
                          </a:solidFill>
                          <a:latin typeface="Calibri"/>
                        </a:rPr>
                        <a:t>Receita</a:t>
                      </a:r>
                    </a:p>
                  </a:txBody>
                  <a:tcPr marL="73152" marR="73152" marT="27432" marB="27432" anchor="ctr">
                    <a:solidFill>
                      <a:srgbClr val="FFF3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 i="0">
                          <a:solidFill>
                            <a:srgbClr val="333333"/>
                          </a:solidFill>
                          <a:latin typeface="Calibri"/>
                        </a:rPr>
                        <a:t>41,3</a:t>
                      </a:r>
                    </a:p>
                  </a:txBody>
                  <a:tcPr marL="73152" marR="73152" marT="27432" marB="27432" anchor="ctr">
                    <a:solidFill>
                      <a:srgbClr val="FFF3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 i="0">
                          <a:solidFill>
                            <a:srgbClr val="333333"/>
                          </a:solidFill>
                          <a:latin typeface="Calibri"/>
                        </a:rPr>
                        <a:t>42,1</a:t>
                      </a:r>
                    </a:p>
                  </a:txBody>
                  <a:tcPr marL="73152" marR="73152" marT="27432" marB="27432" anchor="ctr">
                    <a:solidFill>
                      <a:srgbClr val="FFF3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 i="0">
                          <a:solidFill>
                            <a:srgbClr val="333333"/>
                          </a:solidFill>
                          <a:latin typeface="Calibri"/>
                        </a:rPr>
                        <a:t>-1,9%</a:t>
                      </a:r>
                    </a:p>
                  </a:txBody>
                  <a:tcPr marL="73152" marR="73152" marT="27432" marB="27432" anchor="ctr">
                    <a:solidFill>
                      <a:srgbClr val="FFF3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Amarelo</a:t>
                      </a:r>
                    </a:p>
                  </a:txBody>
                  <a:tcPr marL="73152" marR="73152" marT="27432" marB="27432" anchor="ctr">
                    <a:solidFill>
                      <a:srgbClr val="F9A825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Custo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27,0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28,3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-4,6%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Verde</a:t>
                      </a:r>
                    </a:p>
                  </a:txBody>
                  <a:tcPr marL="73152" marR="73152" marT="27432" marB="27432" anchor="ctr">
                    <a:solidFill>
                      <a:srgbClr val="2E7D32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Despesas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6,1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6,1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0,0%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Verde</a:t>
                      </a:r>
                    </a:p>
                  </a:txBody>
                  <a:tcPr marL="73152" marR="73152" marT="27432" marB="27432" anchor="ctr">
                    <a:solidFill>
                      <a:srgbClr val="2E7D32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200" b="1" i="0">
                          <a:solidFill>
                            <a:srgbClr val="333333"/>
                          </a:solidFill>
                          <a:latin typeface="Calibri"/>
                        </a:rPr>
                        <a:t>EBITDA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 i="0">
                          <a:solidFill>
                            <a:srgbClr val="333333"/>
                          </a:solidFill>
                          <a:latin typeface="Calibri"/>
                        </a:rPr>
                        <a:t>8,2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 i="0">
                          <a:solidFill>
                            <a:srgbClr val="333333"/>
                          </a:solidFill>
                          <a:latin typeface="Calibri"/>
                        </a:rPr>
                        <a:t>7,7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 i="0">
                          <a:solidFill>
                            <a:srgbClr val="333333"/>
                          </a:solidFill>
                          <a:latin typeface="Calibri"/>
                        </a:rPr>
                        <a:t>+6,5%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Verde</a:t>
                      </a:r>
                    </a:p>
                  </a:txBody>
                  <a:tcPr marL="73152" marR="73152" marT="27432" marB="27432" anchor="ctr">
                    <a:solidFill>
                      <a:srgbClr val="2E7D3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621792"/>
            <a:ext cx="11274552" cy="822960"/>
          </a:xfrm>
        </p:spPr>
        <p:txBody>
          <a:bodyPr wrap="square" anchor="t" lIns="45720" rIns="45720"/>
          <a:lstStyle/>
          <a:p>
            <a:pPr algn="l"/>
            <a:r>
              <a:rPr sz="2800" b="1" i="0">
                <a:solidFill>
                  <a:srgbClr val="1F3A5F"/>
                </a:solidFill>
                <a:latin typeface="Calibri"/>
              </a:rPr>
              <a:t>Barras de progresso com status por linha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7315200" cy="228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900" b="1" i="0">
                <a:solidFill>
                  <a:srgbClr val="8C8C8C"/>
                </a:solidFill>
                <a:latin typeface="Calibri"/>
              </a:rPr>
              <a:t>EMPRESA EXEMPLO  |  CATÁLOGO DE MODELOS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91440"/>
            <a:ext cx="3959352" cy="228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900" b="0" i="0">
                <a:solidFill>
                  <a:srgbClr val="8C8C8C"/>
                </a:solidFill>
                <a:latin typeface="Calibri"/>
              </a:rPr>
              <a:t>set/2026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"/>
            <a:ext cx="11274552" cy="256032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/>
            <a:r>
              <a:rPr sz="1000" b="1" i="0">
                <a:solidFill>
                  <a:srgbClr val="4F81BD"/>
                </a:solidFill>
                <a:latin typeface="Calibri"/>
              </a:rPr>
              <a:t>QUALIDADE DO DADO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217920"/>
            <a:ext cx="8531352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000" b="0" i="0">
                <a:solidFill>
                  <a:srgbClr val="8C8C8C"/>
                </a:solidFill>
                <a:latin typeface="Calibri"/>
              </a:rPr>
              <a:t>Uso interno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17352" y="6217920"/>
            <a:ext cx="91440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8C8C8C"/>
                </a:solidFill>
                <a:latin typeface="Calibri"/>
              </a:rPr>
              <a:t>14</a:t>
            </a:r>
          </a:p>
        </p:txBody>
      </p:sp>
      <p:pic>
        <p:nvPicPr>
          <p:cNvPr id="8" name="Picture 7" descr="logo-placehol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92640" y="6245352"/>
            <a:ext cx="822960" cy="27432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457200" y="5349240"/>
            <a:ext cx="11274552" cy="731520"/>
          </a:xfrm>
          <a:prstGeom prst="rect">
            <a:avLst/>
          </a:prstGeom>
          <a:solidFill>
            <a:srgbClr val="1427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5349240"/>
            <a:ext cx="2103120" cy="7315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000" b="1" i="0">
                <a:solidFill>
                  <a:srgbClr val="F2A900"/>
                </a:solidFill>
                <a:latin typeface="Calibri"/>
              </a:rPr>
              <a:t>CONTROLE MÍNIMO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88920" y="5349240"/>
            <a:ext cx="8759952" cy="7315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Responsável, data prometida, próximo marco e motivo do desvio obrigatórios em toda mudança de status.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1783080"/>
            <a:ext cx="2743200" cy="4114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400" b="0" i="0">
                <a:solidFill>
                  <a:srgbClr val="333333"/>
                </a:solidFill>
                <a:latin typeface="Calibri"/>
              </a:rPr>
              <a:t>Data de aprovação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291840" y="1874519"/>
            <a:ext cx="6400800" cy="2286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291840" y="1874519"/>
            <a:ext cx="2816352" cy="228600"/>
          </a:xfrm>
          <a:prstGeom prst="rect">
            <a:avLst/>
          </a:prstGeom>
          <a:solidFill>
            <a:srgbClr val="F9A8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784080" y="1783080"/>
            <a:ext cx="1947672" cy="4114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300" b="1" i="0">
                <a:solidFill>
                  <a:srgbClr val="F9A825"/>
                </a:solidFill>
                <a:latin typeface="Calibri"/>
              </a:rPr>
              <a:t>31 sem registro (44%)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2286000"/>
            <a:ext cx="2743200" cy="4114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400" b="0" i="0">
                <a:solidFill>
                  <a:srgbClr val="333333"/>
                </a:solidFill>
                <a:latin typeface="Calibri"/>
              </a:rPr>
              <a:t>Data do pedido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291840" y="2377440"/>
            <a:ext cx="6400800" cy="2286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291840" y="2377440"/>
            <a:ext cx="3968496" cy="228600"/>
          </a:xfrm>
          <a:prstGeom prst="rect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784080" y="2286000"/>
            <a:ext cx="1947672" cy="4114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300" b="1" i="0">
                <a:solidFill>
                  <a:srgbClr val="C62828"/>
                </a:solidFill>
                <a:latin typeface="Calibri"/>
              </a:rPr>
              <a:t>44 sem registro (62%)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2788920"/>
            <a:ext cx="2743200" cy="4114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400" b="0" i="0">
                <a:solidFill>
                  <a:srgbClr val="333333"/>
                </a:solidFill>
                <a:latin typeface="Calibri"/>
              </a:rPr>
              <a:t>Entrega real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291840" y="2880360"/>
            <a:ext cx="6400800" cy="2286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291840" y="2880360"/>
            <a:ext cx="5248655" cy="228600"/>
          </a:xfrm>
          <a:prstGeom prst="rect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784080" y="2788920"/>
            <a:ext cx="1947672" cy="4114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300" b="1" i="0">
                <a:solidFill>
                  <a:srgbClr val="C62828"/>
                </a:solidFill>
                <a:latin typeface="Calibri"/>
              </a:rPr>
              <a:t>58 sem registro (82%)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3291840"/>
            <a:ext cx="2743200" cy="4114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400" b="0" i="0">
                <a:solidFill>
                  <a:srgbClr val="333333"/>
                </a:solidFill>
                <a:latin typeface="Calibri"/>
              </a:rPr>
              <a:t>Valor contratado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291840" y="3383280"/>
            <a:ext cx="6400800" cy="2286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3291840" y="3383280"/>
            <a:ext cx="1920240" cy="228600"/>
          </a:xfrm>
          <a:prstGeom prst="rect">
            <a:avLst/>
          </a:prstGeom>
          <a:solidFill>
            <a:srgbClr val="F9A8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784080" y="3291840"/>
            <a:ext cx="1947672" cy="4114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300" b="1" i="0">
                <a:solidFill>
                  <a:srgbClr val="F9A825"/>
                </a:solidFill>
                <a:latin typeface="Calibri"/>
              </a:rPr>
              <a:t>21 sem registro (30%)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621792"/>
            <a:ext cx="11274552" cy="822960"/>
          </a:xfrm>
        </p:spPr>
        <p:txBody>
          <a:bodyPr wrap="square" anchor="t" lIns="45720" rIns="45720"/>
          <a:lstStyle/>
          <a:p>
            <a:pPr algn="l"/>
            <a:r>
              <a:rPr sz="2800" b="1" i="0">
                <a:solidFill>
                  <a:srgbClr val="1F3A5F"/>
                </a:solidFill>
                <a:latin typeface="Calibri"/>
              </a:rPr>
              <a:t>Barras de progresso em duas colunas (distribuição por categoria)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7315200" cy="228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900" b="1" i="0">
                <a:solidFill>
                  <a:srgbClr val="8C8C8C"/>
                </a:solidFill>
                <a:latin typeface="Calibri"/>
              </a:rPr>
              <a:t>EMPRESA EXEMPLO  |  CATÁLOGO DE MODELOS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91440"/>
            <a:ext cx="3959352" cy="228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900" b="0" i="0">
                <a:solidFill>
                  <a:srgbClr val="8C8C8C"/>
                </a:solidFill>
                <a:latin typeface="Calibri"/>
              </a:rPr>
              <a:t>set/2026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"/>
            <a:ext cx="11274552" cy="256032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/>
            <a:r>
              <a:rPr sz="1000" b="1" i="0">
                <a:solidFill>
                  <a:srgbClr val="4F81BD"/>
                </a:solidFill>
                <a:latin typeface="Calibri"/>
              </a:rPr>
              <a:t>DISTRIBUIÇÃO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217920"/>
            <a:ext cx="8531352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000" b="0" i="0">
                <a:solidFill>
                  <a:srgbClr val="8C8C8C"/>
                </a:solidFill>
                <a:latin typeface="Calibri"/>
              </a:rPr>
              <a:t>Fonte: Base de portfólio   |   Uso interno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17352" y="6217920"/>
            <a:ext cx="91440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8C8C8C"/>
                </a:solidFill>
                <a:latin typeface="Calibri"/>
              </a:rPr>
              <a:t>15</a:t>
            </a:r>
          </a:p>
        </p:txBody>
      </p:sp>
      <p:pic>
        <p:nvPicPr>
          <p:cNvPr id="8" name="Picture 7" descr="logo-placehol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92640" y="6245352"/>
            <a:ext cx="822960" cy="27432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57200" y="1783080"/>
            <a:ext cx="1737360" cy="4114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>Categoria A</a:t>
            </a:r>
          </a:p>
        </p:txBody>
      </p:sp>
      <p:sp>
        <p:nvSpPr>
          <p:cNvPr id="10" name="Rectangle 9"/>
          <p:cNvSpPr/>
          <p:nvPr/>
        </p:nvSpPr>
        <p:spPr>
          <a:xfrm>
            <a:off x="2286000" y="1874519"/>
            <a:ext cx="2743200" cy="2286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286000" y="1874519"/>
            <a:ext cx="1920239" cy="2286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120640" y="1783080"/>
            <a:ext cx="822960" cy="4114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100" b="1" i="0">
                <a:solidFill>
                  <a:srgbClr val="333333"/>
                </a:solidFill>
                <a:latin typeface="Calibri"/>
              </a:rPr>
              <a:t>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2286000"/>
            <a:ext cx="1737360" cy="4114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>Categoria B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286000" y="2377440"/>
            <a:ext cx="2743200" cy="2286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286000" y="2377440"/>
            <a:ext cx="1645919" cy="2286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120640" y="2286000"/>
            <a:ext cx="822960" cy="4114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100" b="1" i="0">
                <a:solidFill>
                  <a:srgbClr val="333333"/>
                </a:solidFill>
                <a:latin typeface="Calibri"/>
              </a:rPr>
              <a:t>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2788920"/>
            <a:ext cx="1737360" cy="4114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>Categoria C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286000" y="2880360"/>
            <a:ext cx="2743200" cy="2286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286000" y="2880360"/>
            <a:ext cx="1645919" cy="2286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120640" y="2788920"/>
            <a:ext cx="822960" cy="4114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100" b="1" i="0">
                <a:solidFill>
                  <a:srgbClr val="333333"/>
                </a:solidFill>
                <a:latin typeface="Calibri"/>
              </a:rPr>
              <a:t>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3291840"/>
            <a:ext cx="1737360" cy="4114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>Categoria D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286000" y="3383280"/>
            <a:ext cx="2743200" cy="2286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2286000" y="3383280"/>
            <a:ext cx="1371600" cy="2286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120640" y="3291840"/>
            <a:ext cx="822960" cy="4114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100" b="1" i="0">
                <a:solidFill>
                  <a:srgbClr val="333333"/>
                </a:solidFill>
                <a:latin typeface="Calibri"/>
              </a:rP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36208" y="1783080"/>
            <a:ext cx="1737360" cy="4114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>Categoria 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065008" y="1874519"/>
            <a:ext cx="2743200" cy="2286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065008" y="1874519"/>
            <a:ext cx="1371600" cy="2286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899648" y="1783080"/>
            <a:ext cx="822960" cy="4114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100" b="1" i="0">
                <a:solidFill>
                  <a:srgbClr val="333333"/>
                </a:solidFill>
                <a:latin typeface="Calibri"/>
              </a:rPr>
              <a:t>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236208" y="2286000"/>
            <a:ext cx="1737360" cy="4114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>Categoria F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065008" y="2377440"/>
            <a:ext cx="2743200" cy="2286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065008" y="2377440"/>
            <a:ext cx="1371600" cy="2286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899648" y="2286000"/>
            <a:ext cx="822960" cy="4114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100" b="1" i="0">
                <a:solidFill>
                  <a:srgbClr val="333333"/>
                </a:solidFill>
                <a:latin typeface="Calibri"/>
              </a:rPr>
              <a:t>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236208" y="2788920"/>
            <a:ext cx="1737360" cy="4114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>Categoria G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065008" y="2880360"/>
            <a:ext cx="2743200" cy="2286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065008" y="2880360"/>
            <a:ext cx="1371600" cy="2286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0899648" y="2788920"/>
            <a:ext cx="822960" cy="4114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100" b="1" i="0">
                <a:solidFill>
                  <a:srgbClr val="333333"/>
                </a:solidFill>
                <a:latin typeface="Calibri"/>
              </a:rPr>
              <a:t>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36208" y="3291840"/>
            <a:ext cx="1737360" cy="4114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>Categoria H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065008" y="3383280"/>
            <a:ext cx="2743200" cy="2286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8065008" y="3383280"/>
            <a:ext cx="1097280" cy="2286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899648" y="3291840"/>
            <a:ext cx="822960" cy="4114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100" b="1" i="0">
                <a:solidFill>
                  <a:srgbClr val="333333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3A5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011680"/>
            <a:ext cx="1828800" cy="9144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6000" b="1" i="0">
                <a:solidFill>
                  <a:srgbClr val="F2A900"/>
                </a:solidFill>
                <a:latin typeface="Calibri"/>
              </a:rPr>
              <a:t>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017520"/>
            <a:ext cx="1069848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  <a:latin typeface="Calibri"/>
              </a:rPr>
              <a:t>Estrutura</a:t>
            </a:r>
          </a:p>
        </p:txBody>
      </p:sp>
      <p:pic>
        <p:nvPicPr>
          <p:cNvPr id="4" name="Picture 3" descr="logo-placeholder-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07040" y="457200"/>
            <a:ext cx="1097280" cy="36576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621792"/>
            <a:ext cx="11274552" cy="822960"/>
          </a:xfrm>
        </p:spPr>
        <p:txBody>
          <a:bodyPr wrap="square" anchor="t" lIns="45720" rIns="45720"/>
          <a:lstStyle/>
          <a:p>
            <a:pPr algn="l"/>
            <a:r>
              <a:rPr sz="2800" b="1" i="0">
                <a:solidFill>
                  <a:srgbClr val="1F3A5F"/>
                </a:solidFill>
                <a:latin typeface="Calibri"/>
              </a:rPr>
              <a:t>Bullets com negrito inicial e sub-itens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7315200" cy="228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900" b="1" i="0">
                <a:solidFill>
                  <a:srgbClr val="8C8C8C"/>
                </a:solidFill>
                <a:latin typeface="Calibri"/>
              </a:rPr>
              <a:t>EMPRESA EXEMPLO  |  CATÁLOGO DE MODELOS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91440"/>
            <a:ext cx="3959352" cy="228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900" b="0" i="0">
                <a:solidFill>
                  <a:srgbClr val="8C8C8C"/>
                </a:solidFill>
                <a:latin typeface="Calibri"/>
              </a:rPr>
              <a:t>set/2026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"/>
            <a:ext cx="11274552" cy="256032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/>
            <a:r>
              <a:rPr sz="1000" b="1" i="0">
                <a:solidFill>
                  <a:srgbClr val="4F81BD"/>
                </a:solidFill>
                <a:latin typeface="Calibri"/>
              </a:rPr>
              <a:t>BULLETS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417320"/>
            <a:ext cx="11274552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600" b="0" i="0">
                <a:solidFill>
                  <a:srgbClr val="8C8C8C"/>
                </a:solidFill>
                <a:latin typeface="Calibri"/>
              </a:rPr>
              <a:t>Máximo 6 itens, 2 linhas cada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217920"/>
            <a:ext cx="8531352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000" b="0" i="0">
                <a:solidFill>
                  <a:srgbClr val="8C8C8C"/>
                </a:solidFill>
                <a:latin typeface="Calibri"/>
              </a:rPr>
              <a:t>Uso interno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17352" y="6217920"/>
            <a:ext cx="91440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8C8C8C"/>
                </a:solidFill>
                <a:latin typeface="Calibri"/>
              </a:rPr>
              <a:t>17</a:t>
            </a:r>
          </a:p>
        </p:txBody>
      </p:sp>
      <p:pic>
        <p:nvPicPr>
          <p:cNvPr id="9" name="Picture 8" descr="logo-placehol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92640" y="6245352"/>
            <a:ext cx="822960" cy="2743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57200" y="2011680"/>
            <a:ext cx="11274552" cy="41148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marL="228600" indent="-228600">
              <a:spcAft>
                <a:spcPts val="1000"/>
              </a:spcAft>
              <a:buClr>
                <a:srgbClr val="1F3A5F"/>
              </a:buClr>
              <a:buChar char="•"/>
            </a:pPr>
            <a:r>
              <a:rPr sz="1600" b="1" i="0">
                <a:solidFill>
                  <a:srgbClr val="333333"/>
                </a:solidFill>
                <a:latin typeface="Calibri"/>
              </a:rPr>
              <a:t>Prazo: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go-live em 15/03</a:t>
            </a:r>
          </a:p>
          <a:p>
            <a:pPr marL="228600" indent="-228600">
              <a:spcAft>
                <a:spcPts val="1000"/>
              </a:spcAft>
              <a:buClr>
                <a:srgbClr val="1F3A5F"/>
              </a:buClr>
              <a:buChar char="•"/>
            </a:pPr>
            <a:r>
              <a:rPr sz="1600" b="1" i="0">
                <a:solidFill>
                  <a:srgbClr val="333333"/>
                </a:solidFill>
                <a:latin typeface="Calibri"/>
              </a:rPr>
              <a:t>Custo: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3% abaixo do orçamento</a:t>
            </a:r>
          </a:p>
          <a:p>
            <a:pPr marL="228600" indent="-228600">
              <a:spcAft>
                <a:spcPts val="1000"/>
              </a:spcAft>
              <a:buClr>
                <a:srgbClr val="1F3A5F"/>
              </a:buClr>
              <a:buChar char="•"/>
            </a:pPr>
            <a:r>
              <a:rPr sz="1600" b="1" i="0">
                <a:solidFill>
                  <a:srgbClr val="333333"/>
                </a:solidFill>
                <a:latin typeface="Calibri"/>
              </a:rPr>
              <a:t>Escopo: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sem mudanças aprovadas</a:t>
            </a:r>
          </a:p>
          <a:p>
            <a:pPr marL="228600" indent="-228600">
              <a:spcAft>
                <a:spcPts val="1000"/>
              </a:spcAft>
              <a:buClr>
                <a:srgbClr val="1F3A5F"/>
              </a:buClr>
              <a:buChar char="•"/>
            </a:pPr>
            <a:r>
              <a:rPr sz="1600" b="1" i="0">
                <a:solidFill>
                  <a:srgbClr val="333333"/>
                </a:solidFill>
                <a:latin typeface="Calibri"/>
              </a:rPr>
              <a:t>Riscos: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um crítico, fornecedor X</a:t>
            </a:r>
          </a:p>
          <a:p>
            <a:pPr marL="457200" indent="-228600">
              <a:spcAft>
                <a:spcPts val="500"/>
              </a:spcAft>
              <a:buClr>
                <a:srgbClr val="8C8C8C"/>
              </a:buClr>
              <a:buChar char="–"/>
            </a:pPr>
            <a:r>
              <a:rPr sz="1400" b="0" i="0">
                <a:solidFill>
                  <a:srgbClr val="333333"/>
                </a:solidFill>
                <a:latin typeface="Calibri"/>
              </a:rPr>
              <a:t>Plano B com fornecedor Y</a:t>
            </a:r>
          </a:p>
          <a:p>
            <a:pPr marL="457200" indent="-228600">
              <a:spcAft>
                <a:spcPts val="500"/>
              </a:spcAft>
              <a:buClr>
                <a:srgbClr val="8C8C8C"/>
              </a:buClr>
              <a:buChar char="–"/>
            </a:pPr>
            <a:r>
              <a:rPr sz="1400" b="0" i="0">
                <a:solidFill>
                  <a:srgbClr val="333333"/>
                </a:solidFill>
                <a:latin typeface="Calibri"/>
              </a:rPr>
              <a:t>Decisão até sexta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621792"/>
            <a:ext cx="11274552" cy="822960"/>
          </a:xfrm>
        </p:spPr>
        <p:txBody>
          <a:bodyPr wrap="square" anchor="t" lIns="45720" rIns="45720"/>
          <a:lstStyle/>
          <a:p>
            <a:pPr algn="l"/>
            <a:r>
              <a:rPr sz="2800" b="1" i="0">
                <a:solidFill>
                  <a:srgbClr val="1F3A5F"/>
                </a:solidFill>
                <a:latin typeface="Calibri"/>
              </a:rPr>
              <a:t>Print de tela com destaques numerados e bullets ao lado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7315200" cy="228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900" b="1" i="0">
                <a:solidFill>
                  <a:srgbClr val="8C8C8C"/>
                </a:solidFill>
                <a:latin typeface="Calibri"/>
              </a:rPr>
              <a:t>EMPRESA EXEMPLO  |  CATÁLOGO DE MODELOS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91440"/>
            <a:ext cx="3959352" cy="228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900" b="0" i="0">
                <a:solidFill>
                  <a:srgbClr val="8C8C8C"/>
                </a:solidFill>
                <a:latin typeface="Calibri"/>
              </a:rPr>
              <a:t>set/2026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"/>
            <a:ext cx="11274552" cy="256032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/>
            <a:r>
              <a:rPr sz="1000" b="1" i="0">
                <a:solidFill>
                  <a:srgbClr val="4F81BD"/>
                </a:solidFill>
                <a:latin typeface="Calibri"/>
              </a:rPr>
              <a:t>PASSO A PASSO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217920"/>
            <a:ext cx="8531352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000" b="0" i="0">
                <a:solidFill>
                  <a:srgbClr val="8C8C8C"/>
                </a:solidFill>
                <a:latin typeface="Calibri"/>
              </a:rPr>
              <a:t>Uso interno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17352" y="6217920"/>
            <a:ext cx="91440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8C8C8C"/>
                </a:solidFill>
                <a:latin typeface="Calibri"/>
              </a:rPr>
              <a:t>18</a:t>
            </a:r>
          </a:p>
        </p:txBody>
      </p:sp>
      <p:pic>
        <p:nvPicPr>
          <p:cNvPr id="8" name="Picture 7" descr="logo-placehol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92640" y="6245352"/>
            <a:ext cx="822960" cy="274320"/>
          </a:xfrm>
          <a:prstGeom prst="rect">
            <a:avLst/>
          </a:prstGeom>
        </p:spPr>
      </p:pic>
      <p:pic>
        <p:nvPicPr>
          <p:cNvPr id="9" name="Picture 8" descr="Formulário de registro de parada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9120" y="1737360"/>
            <a:ext cx="7071360" cy="3977640"/>
          </a:xfrm>
          <a:prstGeom prst="rect">
            <a:avLst/>
          </a:prstGeom>
          <a:ln w="9525">
            <a:solidFill>
              <a:srgbClr val="F2F2F2"/>
            </a:solidFill>
          </a:ln>
        </p:spPr>
      </p:pic>
      <p:sp>
        <p:nvSpPr>
          <p:cNvPr id="10" name="Rectangle 9"/>
          <p:cNvSpPr/>
          <p:nvPr/>
        </p:nvSpPr>
        <p:spPr>
          <a:xfrm>
            <a:off x="1993392" y="2612440"/>
            <a:ext cx="3889248" cy="278434"/>
          </a:xfrm>
          <a:prstGeom prst="rect">
            <a:avLst/>
          </a:prstGeom>
          <a:noFill/>
          <a:ln w="28575">
            <a:solidFill>
              <a:srgbClr val="F2A9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828800" y="2447848"/>
            <a:ext cx="329184" cy="329184"/>
          </a:xfrm>
          <a:prstGeom prst="ellipse">
            <a:avLst/>
          </a:prstGeom>
          <a:solidFill>
            <a:srgbClr val="F2A900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993392" y="3089757"/>
            <a:ext cx="3889248" cy="278434"/>
          </a:xfrm>
          <a:prstGeom prst="rect">
            <a:avLst/>
          </a:prstGeom>
          <a:noFill/>
          <a:ln w="28575">
            <a:solidFill>
              <a:srgbClr val="F2A9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828800" y="2925165"/>
            <a:ext cx="329184" cy="329184"/>
          </a:xfrm>
          <a:prstGeom prst="ellipse">
            <a:avLst/>
          </a:prstGeom>
          <a:solidFill>
            <a:srgbClr val="F2A900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993392" y="4641037"/>
            <a:ext cx="1060704" cy="318211"/>
          </a:xfrm>
          <a:prstGeom prst="rect">
            <a:avLst/>
          </a:prstGeom>
          <a:noFill/>
          <a:ln w="28575">
            <a:solidFill>
              <a:srgbClr val="F2A9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828800" y="4476445"/>
            <a:ext cx="329184" cy="329184"/>
          </a:xfrm>
          <a:prstGeom prst="ellipse">
            <a:avLst/>
          </a:prstGeom>
          <a:solidFill>
            <a:srgbClr val="F2A900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5760720"/>
            <a:ext cx="73152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100" b="0" i="1">
                <a:solidFill>
                  <a:srgbClr val="8C8C8C"/>
                </a:solidFill>
                <a:latin typeface="Calibri"/>
              </a:rPr>
              <a:t>Tela Paradas &gt; Nova parada (ambiente de teste)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46720" y="1737360"/>
            <a:ext cx="3685032" cy="3977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marL="228600" indent="-228600">
              <a:spcAft>
                <a:spcPts val="800"/>
              </a:spcAft>
              <a:buClr>
                <a:srgbClr val="1F3A5F"/>
              </a:buClr>
              <a:buChar char="•"/>
            </a:pPr>
            <a:r>
              <a:rPr sz="1400" b="1" i="0">
                <a:solidFill>
                  <a:srgbClr val="333333"/>
                </a:solidFill>
                <a:latin typeface="Calibri"/>
              </a:rPr>
              <a:t>1.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 Selecionar a máquina</a:t>
            </a:r>
          </a:p>
          <a:p>
            <a:pPr marL="228600" indent="-228600">
              <a:spcAft>
                <a:spcPts val="800"/>
              </a:spcAft>
              <a:buClr>
                <a:srgbClr val="1F3A5F"/>
              </a:buClr>
              <a:buChar char="•"/>
            </a:pPr>
            <a:r>
              <a:rPr sz="1400" b="1" i="0">
                <a:solidFill>
                  <a:srgbClr val="333333"/>
                </a:solidFill>
                <a:latin typeface="Calibri"/>
              </a:rPr>
              <a:t>2.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 Escolher a causa na lista</a:t>
            </a:r>
          </a:p>
          <a:p>
            <a:pPr marL="228600" indent="-228600">
              <a:spcAft>
                <a:spcPts val="800"/>
              </a:spcAft>
              <a:buClr>
                <a:srgbClr val="1F3A5F"/>
              </a:buClr>
              <a:buChar char="•"/>
            </a:pPr>
            <a:r>
              <a:rPr sz="1400" b="1" i="0">
                <a:solidFill>
                  <a:srgbClr val="333333"/>
                </a:solidFill>
                <a:latin typeface="Calibri"/>
              </a:rPr>
              <a:t>3.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 Confirmar e informar a duração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621792"/>
            <a:ext cx="11274552" cy="822960"/>
          </a:xfrm>
        </p:spPr>
        <p:txBody>
          <a:bodyPr wrap="square" anchor="t" lIns="45720" rIns="45720"/>
          <a:lstStyle/>
          <a:p>
            <a:pPr algn="l"/>
            <a:r>
              <a:rPr sz="2800" b="1" i="0">
                <a:solidFill>
                  <a:srgbClr val="1F3A5F"/>
                </a:solidFill>
                <a:latin typeface="Calibri"/>
              </a:rPr>
              <a:t>Imagem em largura total com legenda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7315200" cy="228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900" b="1" i="0">
                <a:solidFill>
                  <a:srgbClr val="8C8C8C"/>
                </a:solidFill>
                <a:latin typeface="Calibri"/>
              </a:rPr>
              <a:t>EMPRESA EXEMPLO  |  CATÁLOGO DE MODELOS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91440"/>
            <a:ext cx="3959352" cy="228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900" b="0" i="0">
                <a:solidFill>
                  <a:srgbClr val="8C8C8C"/>
                </a:solidFill>
                <a:latin typeface="Calibri"/>
              </a:rPr>
              <a:t>set/2026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"/>
            <a:ext cx="11274552" cy="256032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/>
            <a:r>
              <a:rPr sz="1000" b="1" i="0">
                <a:solidFill>
                  <a:srgbClr val="4F81BD"/>
                </a:solidFill>
                <a:latin typeface="Calibri"/>
              </a:rPr>
              <a:t>IMAGEM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217920"/>
            <a:ext cx="8531352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000" b="0" i="0">
                <a:solidFill>
                  <a:srgbClr val="8C8C8C"/>
                </a:solidFill>
                <a:latin typeface="Calibri"/>
              </a:rPr>
              <a:t>Uso interno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17352" y="6217920"/>
            <a:ext cx="91440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8C8C8C"/>
                </a:solidFill>
                <a:latin typeface="Calibri"/>
              </a:rPr>
              <a:t>19</a:t>
            </a:r>
          </a:p>
        </p:txBody>
      </p:sp>
      <p:pic>
        <p:nvPicPr>
          <p:cNvPr id="8" name="Picture 7" descr="logo-placehol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92640" y="6245352"/>
            <a:ext cx="822960" cy="27432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457200" y="5349240"/>
            <a:ext cx="11274552" cy="73152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5349240"/>
            <a:ext cx="73152" cy="73152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5349240"/>
            <a:ext cx="2103120" cy="7315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000" b="1" i="0">
                <a:solidFill>
                  <a:srgbClr val="1F3A5F"/>
                </a:solidFill>
                <a:latin typeface="Calibri"/>
              </a:rPr>
              <a:t>LEITURA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88920" y="5349240"/>
            <a:ext cx="8759952" cy="7315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400" b="1" i="0">
                <a:solidFill>
                  <a:srgbClr val="333333"/>
                </a:solidFill>
                <a:latin typeface="Calibri"/>
              </a:rPr>
              <a:t>Uma imagem por slide; o título continua sendo a conclusão.</a:t>
            </a:r>
          </a:p>
        </p:txBody>
      </p:sp>
      <p:pic>
        <p:nvPicPr>
          <p:cNvPr id="13" name="Picture 12" descr="Print ajustado à área de conteúdo, proporção preservada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71596" y="1737360"/>
            <a:ext cx="5445760" cy="3063240"/>
          </a:xfrm>
          <a:prstGeom prst="rect">
            <a:avLst/>
          </a:prstGeom>
          <a:ln w="9525">
            <a:solidFill>
              <a:srgbClr val="F2F2F2"/>
            </a:solidFill>
          </a:ln>
        </p:spPr>
      </p:pic>
      <p:sp>
        <p:nvSpPr>
          <p:cNvPr id="14" name="TextBox 13"/>
          <p:cNvSpPr txBox="1"/>
          <p:nvPr/>
        </p:nvSpPr>
        <p:spPr>
          <a:xfrm>
            <a:off x="457200" y="4846320"/>
            <a:ext cx="11274552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100" b="0" i="1">
                <a:solidFill>
                  <a:srgbClr val="8C8C8C"/>
                </a:solidFill>
                <a:latin typeface="Calibri"/>
              </a:rPr>
              <a:t>Print ajustado à área de conteúdo, proporção preservada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621792"/>
            <a:ext cx="11274552" cy="822960"/>
          </a:xfrm>
        </p:spPr>
        <p:txBody>
          <a:bodyPr wrap="square" anchor="t" lIns="45720" rIns="45720"/>
          <a:lstStyle/>
          <a:p>
            <a:pPr algn="l"/>
            <a:r>
              <a:rPr sz="2800" b="1" i="0">
                <a:solidFill>
                  <a:srgbClr val="1F3A5F"/>
                </a:solidFill>
                <a:latin typeface="Calibri"/>
              </a:rPr>
              <a:t>Duas colunas: certo vs. errado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7315200" cy="228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900" b="1" i="0">
                <a:solidFill>
                  <a:srgbClr val="8C8C8C"/>
                </a:solidFill>
                <a:latin typeface="Calibri"/>
              </a:rPr>
              <a:t>EMPRESA EXEMPLO  |  CATÁLOGO DE MODELOS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91440"/>
            <a:ext cx="3959352" cy="228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900" b="0" i="0">
                <a:solidFill>
                  <a:srgbClr val="8C8C8C"/>
                </a:solidFill>
                <a:latin typeface="Calibri"/>
              </a:rPr>
              <a:t>set/2026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"/>
            <a:ext cx="11274552" cy="256032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/>
            <a:r>
              <a:rPr sz="1000" b="1" i="0">
                <a:solidFill>
                  <a:srgbClr val="4F81BD"/>
                </a:solidFill>
                <a:latin typeface="Calibri"/>
              </a:rPr>
              <a:t>DUAS COLUNAS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217920"/>
            <a:ext cx="8531352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000" b="0" i="0">
                <a:solidFill>
                  <a:srgbClr val="8C8C8C"/>
                </a:solidFill>
                <a:latin typeface="Calibri"/>
              </a:rPr>
              <a:t>Uso interno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17352" y="6217920"/>
            <a:ext cx="91440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8C8C8C"/>
                </a:solidFill>
                <a:latin typeface="Calibri"/>
              </a:rPr>
              <a:t>20</a:t>
            </a:r>
          </a:p>
        </p:txBody>
      </p:sp>
      <p:pic>
        <p:nvPicPr>
          <p:cNvPr id="8" name="Picture 7" descr="logo-placehol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92640" y="6245352"/>
            <a:ext cx="822960" cy="27432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57200" y="1737360"/>
            <a:ext cx="5500116" cy="54864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/>
            <a:r>
              <a:rPr sz="1800" b="1" i="0">
                <a:solidFill>
                  <a:srgbClr val="2E7D32"/>
                </a:solidFill>
                <a:latin typeface="Calibri"/>
              </a:rPr>
              <a:t>Certo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2331720"/>
            <a:ext cx="5500116" cy="27432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2514600"/>
            <a:ext cx="5500116" cy="36118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marL="228600" indent="-228600">
              <a:spcAft>
                <a:spcPts val="800"/>
              </a:spcAft>
              <a:buClr>
                <a:srgbClr val="2E7D32"/>
              </a:buClr>
              <a:buChar char="•"/>
            </a:pPr>
            <a:r>
              <a:rPr sz="1500" b="0" i="0">
                <a:solidFill>
                  <a:srgbClr val="333333"/>
                </a:solidFill>
                <a:latin typeface="Calibri"/>
              </a:rPr>
              <a:t>Causa específica</a:t>
            </a:r>
          </a:p>
          <a:p>
            <a:pPr marL="228600" indent="-228600">
              <a:spcAft>
                <a:spcPts val="800"/>
              </a:spcAft>
              <a:buClr>
                <a:srgbClr val="2E7D32"/>
              </a:buClr>
              <a:buChar char="•"/>
            </a:pPr>
            <a:r>
              <a:rPr sz="1500" b="0" i="0">
                <a:solidFill>
                  <a:srgbClr val="333333"/>
                </a:solidFill>
                <a:latin typeface="Calibri"/>
              </a:rPr>
              <a:t>Registrar na hora</a:t>
            </a:r>
          </a:p>
          <a:p>
            <a:pPr marL="228600" indent="-228600">
              <a:spcAft>
                <a:spcPts val="800"/>
              </a:spcAft>
              <a:buClr>
                <a:srgbClr val="2E7D32"/>
              </a:buClr>
              <a:buChar char="•"/>
            </a:pPr>
            <a:r>
              <a:rPr sz="1500" b="0" i="0">
                <a:solidFill>
                  <a:srgbClr val="333333"/>
                </a:solidFill>
                <a:latin typeface="Calibri"/>
              </a:rPr>
              <a:t>Duração real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31636" y="1737360"/>
            <a:ext cx="5500116" cy="54864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/>
            <a:r>
              <a:rPr sz="1800" b="1" i="0">
                <a:solidFill>
                  <a:srgbClr val="C62828"/>
                </a:solidFill>
                <a:latin typeface="Calibri"/>
              </a:rPr>
              <a:t>Errado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31636" y="2331720"/>
            <a:ext cx="5500116" cy="27432"/>
          </a:xfrm>
          <a:prstGeom prst="rect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31636" y="2514600"/>
            <a:ext cx="5500116" cy="36118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marL="228600" indent="-228600">
              <a:spcAft>
                <a:spcPts val="800"/>
              </a:spcAft>
              <a:buClr>
                <a:srgbClr val="C62828"/>
              </a:buClr>
              <a:buChar char="•"/>
            </a:pPr>
            <a:r>
              <a:rPr sz="1500" b="0" i="0">
                <a:solidFill>
                  <a:srgbClr val="333333"/>
                </a:solidFill>
                <a:latin typeface="Calibri"/>
              </a:rPr>
              <a:t>'Outros'</a:t>
            </a:r>
          </a:p>
          <a:p>
            <a:pPr marL="228600" indent="-228600">
              <a:spcAft>
                <a:spcPts val="800"/>
              </a:spcAft>
              <a:buClr>
                <a:srgbClr val="C62828"/>
              </a:buClr>
              <a:buChar char="•"/>
            </a:pPr>
            <a:r>
              <a:rPr sz="1500" b="0" i="0">
                <a:solidFill>
                  <a:srgbClr val="333333"/>
                </a:solidFill>
                <a:latin typeface="Calibri"/>
              </a:rPr>
              <a:t>Registrar no fim do turno</a:t>
            </a:r>
          </a:p>
          <a:p>
            <a:pPr marL="228600" indent="-228600">
              <a:spcAft>
                <a:spcPts val="800"/>
              </a:spcAft>
              <a:buClr>
                <a:srgbClr val="C62828"/>
              </a:buClr>
              <a:buChar char="•"/>
            </a:pPr>
            <a:r>
              <a:rPr sz="1500" b="0" i="0">
                <a:solidFill>
                  <a:srgbClr val="333333"/>
                </a:solidFill>
                <a:latin typeface="Calibri"/>
              </a:rPr>
              <a:t>Arredondar para 30 min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621792"/>
            <a:ext cx="11274552" cy="822960"/>
          </a:xfrm>
        </p:spPr>
        <p:txBody>
          <a:bodyPr wrap="square" anchor="t" lIns="45720" rIns="45720"/>
          <a:lstStyle/>
          <a:p>
            <a:pPr algn="l"/>
            <a:r>
              <a:rPr sz="2800" b="1" i="0">
                <a:solidFill>
                  <a:srgbClr val="1F3A5F"/>
                </a:solidFill>
                <a:latin typeface="Calibri"/>
              </a:rPr>
              <a:t>Comparação de três opções com uma recomendada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7315200" cy="228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900" b="1" i="0">
                <a:solidFill>
                  <a:srgbClr val="8C8C8C"/>
                </a:solidFill>
                <a:latin typeface="Calibri"/>
              </a:rPr>
              <a:t>EMPRESA EXEMPLO  |  CATÁLOGO DE MODELOS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91440"/>
            <a:ext cx="3959352" cy="228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900" b="0" i="0">
                <a:solidFill>
                  <a:srgbClr val="8C8C8C"/>
                </a:solidFill>
                <a:latin typeface="Calibri"/>
              </a:rPr>
              <a:t>set/2026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"/>
            <a:ext cx="11274552" cy="256032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/>
            <a:r>
              <a:rPr sz="1000" b="1" i="0">
                <a:solidFill>
                  <a:srgbClr val="4F81BD"/>
                </a:solidFill>
                <a:latin typeface="Calibri"/>
              </a:rPr>
              <a:t>COMPARAÇÃO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217920"/>
            <a:ext cx="8531352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000" b="0" i="0">
                <a:solidFill>
                  <a:srgbClr val="8C8C8C"/>
                </a:solidFill>
                <a:latin typeface="Calibri"/>
              </a:rPr>
              <a:t>Uso interno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17352" y="6217920"/>
            <a:ext cx="91440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8C8C8C"/>
                </a:solidFill>
                <a:latin typeface="Calibri"/>
              </a:rPr>
              <a:t>21</a:t>
            </a:r>
          </a:p>
        </p:txBody>
      </p:sp>
      <p:pic>
        <p:nvPicPr>
          <p:cNvPr id="8" name="Picture 7" descr="logo-placehol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92640" y="6245352"/>
            <a:ext cx="822960" cy="27432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457200" y="1737360"/>
            <a:ext cx="3575304" cy="429768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1737360"/>
            <a:ext cx="3575304" cy="64008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1737360"/>
            <a:ext cx="3575304" cy="6400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700" b="1" i="0">
                <a:solidFill>
                  <a:srgbClr val="FFFFFF"/>
                </a:solidFill>
                <a:latin typeface="Calibri"/>
              </a:rPr>
              <a:t>Não fazer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2560320"/>
            <a:ext cx="3300984" cy="338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marL="228600" indent="-228600">
              <a:spcAft>
                <a:spcPts val="800"/>
              </a:spcAft>
              <a:buClr>
                <a:srgbClr val="1F3A5F"/>
              </a:buClr>
              <a:buChar char="•"/>
            </a:pPr>
            <a:r>
              <a:rPr sz="1500" b="0" i="0">
                <a:solidFill>
                  <a:srgbClr val="333333"/>
                </a:solidFill>
                <a:latin typeface="Calibri"/>
              </a:rPr>
              <a:t>Custo: R$ 0</a:t>
            </a:r>
          </a:p>
          <a:p>
            <a:pPr marL="228600" indent="-228600">
              <a:spcAft>
                <a:spcPts val="800"/>
              </a:spcAft>
              <a:buClr>
                <a:srgbClr val="1F3A5F"/>
              </a:buClr>
              <a:buChar char="•"/>
            </a:pPr>
            <a:r>
              <a:rPr sz="1500" b="0" i="0">
                <a:solidFill>
                  <a:srgbClr val="333333"/>
                </a:solidFill>
                <a:latin typeface="Calibri"/>
              </a:rPr>
              <a:t>Perda: R$ 1,8 mi/ano</a:t>
            </a:r>
          </a:p>
          <a:p>
            <a:pPr marL="228600" indent="-228600">
              <a:spcAft>
                <a:spcPts val="800"/>
              </a:spcAft>
              <a:buClr>
                <a:srgbClr val="1F3A5F"/>
              </a:buClr>
              <a:buChar char="•"/>
            </a:pPr>
            <a:r>
              <a:rPr sz="1500" b="0" i="0">
                <a:solidFill>
                  <a:srgbClr val="333333"/>
                </a:solidFill>
                <a:latin typeface="Calibri"/>
              </a:rPr>
              <a:t>Risco: parada total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06824" y="1737360"/>
            <a:ext cx="3575304" cy="429768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306824" y="1737360"/>
            <a:ext cx="3575304" cy="64008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306824" y="1737360"/>
            <a:ext cx="3575304" cy="6400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700" b="1" i="0">
                <a:solidFill>
                  <a:srgbClr val="FFFFFF"/>
                </a:solidFill>
                <a:latin typeface="Calibri"/>
              </a:rPr>
              <a:t>A: Reforma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43984" y="2560320"/>
            <a:ext cx="3300984" cy="338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marL="228600" indent="-228600">
              <a:spcAft>
                <a:spcPts val="800"/>
              </a:spcAft>
              <a:buClr>
                <a:srgbClr val="1F3A5F"/>
              </a:buClr>
              <a:buChar char="•"/>
            </a:pPr>
            <a:r>
              <a:rPr sz="1500" b="0" i="0">
                <a:solidFill>
                  <a:srgbClr val="333333"/>
                </a:solidFill>
                <a:latin typeface="Calibri"/>
              </a:rPr>
              <a:t>Custo: R$ 0,9 mi</a:t>
            </a:r>
          </a:p>
          <a:p>
            <a:pPr marL="228600" indent="-228600">
              <a:spcAft>
                <a:spcPts val="800"/>
              </a:spcAft>
              <a:buClr>
                <a:srgbClr val="1F3A5F"/>
              </a:buClr>
              <a:buChar char="•"/>
            </a:pPr>
            <a:r>
              <a:rPr sz="1500" b="0" i="0">
                <a:solidFill>
                  <a:srgbClr val="333333"/>
                </a:solidFill>
                <a:latin typeface="Calibri"/>
              </a:rPr>
              <a:t>Economia: R$ 0,7 mi/ano</a:t>
            </a:r>
          </a:p>
          <a:p>
            <a:pPr marL="228600" indent="-228600">
              <a:spcAft>
                <a:spcPts val="800"/>
              </a:spcAft>
              <a:buClr>
                <a:srgbClr val="1F3A5F"/>
              </a:buClr>
              <a:buChar char="•"/>
            </a:pPr>
            <a:r>
              <a:rPr sz="1500" b="0" i="0">
                <a:solidFill>
                  <a:srgbClr val="333333"/>
                </a:solidFill>
                <a:latin typeface="Calibri"/>
              </a:rPr>
              <a:t>Risco: sem peças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156448" y="1737360"/>
            <a:ext cx="3575304" cy="4297680"/>
          </a:xfrm>
          <a:prstGeom prst="rect">
            <a:avLst/>
          </a:prstGeom>
          <a:solidFill>
            <a:srgbClr val="F2F2F2"/>
          </a:solidFill>
          <a:ln w="25400">
            <a:solidFill>
              <a:srgbClr val="F2A9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56448" y="1737360"/>
            <a:ext cx="3575304" cy="64008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156448" y="1737360"/>
            <a:ext cx="3575304" cy="6400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700" b="1" i="0">
                <a:solidFill>
                  <a:srgbClr val="FFFFFF"/>
                </a:solidFill>
                <a:latin typeface="Calibri"/>
              </a:rPr>
              <a:t>B: Prensa nova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0268712" y="1554480"/>
            <a:ext cx="1371600" cy="32004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268712" y="1554480"/>
            <a:ext cx="1371600" cy="3200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Recomendada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93608" y="2560320"/>
            <a:ext cx="3300984" cy="338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marL="228600" indent="-228600">
              <a:spcAft>
                <a:spcPts val="800"/>
              </a:spcAft>
              <a:buClr>
                <a:srgbClr val="1F3A5F"/>
              </a:buClr>
              <a:buChar char="•"/>
            </a:pPr>
            <a:r>
              <a:rPr sz="1500" b="0" i="0">
                <a:solidFill>
                  <a:srgbClr val="333333"/>
                </a:solidFill>
                <a:latin typeface="Calibri"/>
              </a:rPr>
              <a:t>Custo: R$ 2,4 mi</a:t>
            </a:r>
          </a:p>
          <a:p>
            <a:pPr marL="228600" indent="-228600">
              <a:spcAft>
                <a:spcPts val="800"/>
              </a:spcAft>
              <a:buClr>
                <a:srgbClr val="1F3A5F"/>
              </a:buClr>
              <a:buChar char="•"/>
            </a:pPr>
            <a:r>
              <a:rPr sz="1500" b="0" i="0">
                <a:solidFill>
                  <a:srgbClr val="333333"/>
                </a:solidFill>
                <a:latin typeface="Calibri"/>
              </a:rPr>
              <a:t>Economia: R$ 1,45 mi/ano</a:t>
            </a:r>
          </a:p>
          <a:p>
            <a:pPr marL="228600" indent="-228600">
              <a:spcAft>
                <a:spcPts val="800"/>
              </a:spcAft>
              <a:buClr>
                <a:srgbClr val="1F3A5F"/>
              </a:buClr>
              <a:buChar char="•"/>
            </a:pPr>
            <a:r>
              <a:rPr sz="1500" b="0" i="0">
                <a:solidFill>
                  <a:srgbClr val="333333"/>
                </a:solidFill>
                <a:latin typeface="Calibri"/>
              </a:rPr>
              <a:t>Risco: 5 dias parada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621792"/>
            <a:ext cx="11274552" cy="822960"/>
          </a:xfrm>
        </p:spPr>
        <p:txBody>
          <a:bodyPr wrap="square" anchor="t" lIns="45720" rIns="45720"/>
          <a:lstStyle/>
          <a:p>
            <a:pPr algn="l"/>
            <a:r>
              <a:rPr sz="2800" b="1" i="0">
                <a:solidFill>
                  <a:srgbClr val="1F3A5F"/>
                </a:solidFill>
                <a:latin typeface="Calibri"/>
              </a:rPr>
              <a:t>Takeaways numerados em três colunas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7315200" cy="228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900" b="1" i="0">
                <a:solidFill>
                  <a:srgbClr val="8C8C8C"/>
                </a:solidFill>
                <a:latin typeface="Calibri"/>
              </a:rPr>
              <a:t>EMPRESA EXEMPLO  |  CATÁLOGO DE MODELOS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91440"/>
            <a:ext cx="3959352" cy="228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900" b="0" i="0">
                <a:solidFill>
                  <a:srgbClr val="8C8C8C"/>
                </a:solidFill>
                <a:latin typeface="Calibri"/>
              </a:rPr>
              <a:t>set/2026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"/>
            <a:ext cx="11274552" cy="256032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/>
            <a:r>
              <a:rPr sz="1000" b="1" i="0">
                <a:solidFill>
                  <a:srgbClr val="4F81BD"/>
                </a:solidFill>
                <a:latin typeface="Calibri"/>
              </a:rPr>
              <a:t>LEITURA EXECUTIVA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217920"/>
            <a:ext cx="8531352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000" b="0" i="0">
                <a:solidFill>
                  <a:srgbClr val="8C8C8C"/>
                </a:solidFill>
                <a:latin typeface="Calibri"/>
              </a:rPr>
              <a:t>Uso interno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17352" y="6217920"/>
            <a:ext cx="91440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8C8C8C"/>
                </a:solidFill>
                <a:latin typeface="Calibri"/>
              </a:rPr>
              <a:t>22</a:t>
            </a:r>
          </a:p>
        </p:txBody>
      </p:sp>
      <p:pic>
        <p:nvPicPr>
          <p:cNvPr id="8" name="Picture 7" descr="logo-placehol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92640" y="6245352"/>
            <a:ext cx="822960" cy="27432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457200" y="5349240"/>
            <a:ext cx="11274552" cy="73152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5349240"/>
            <a:ext cx="73152" cy="73152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5349240"/>
            <a:ext cx="2103120" cy="7315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000" b="1" i="0">
                <a:solidFill>
                  <a:srgbClr val="1F3A5F"/>
                </a:solidFill>
                <a:latin typeface="Calibri"/>
              </a:rPr>
              <a:t>PRINCÍPIO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88920" y="5349240"/>
            <a:ext cx="8759952" cy="7315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400" b="1" i="0">
                <a:solidFill>
                  <a:srgbClr val="333333"/>
                </a:solidFill>
                <a:latin typeface="Calibri"/>
              </a:rPr>
              <a:t>Nenhuma iniciativa avança sem responder claramente aos três filtros.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1828800"/>
            <a:ext cx="3575304" cy="329184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1828800"/>
            <a:ext cx="3575304" cy="54864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2011680"/>
            <a:ext cx="13716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200" b="1" i="0">
                <a:solidFill>
                  <a:srgbClr val="1F3A5F"/>
                </a:solidFill>
                <a:latin typeface="Calibri"/>
              </a:rPr>
              <a:t>01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2560320"/>
            <a:ext cx="3118104" cy="685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800" b="1" i="0">
                <a:solidFill>
                  <a:srgbClr val="333333"/>
                </a:solidFill>
                <a:latin typeface="Calibri"/>
              </a:rPr>
              <a:t>Execução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3246120"/>
            <a:ext cx="3118104" cy="17373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400" b="0" i="0">
                <a:solidFill>
                  <a:srgbClr val="333333"/>
                </a:solidFill>
                <a:latin typeface="Calibri"/>
              </a:rPr>
              <a:t>A base contém 200 ensaios, dos quais 40 têm data até o corte.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306824" y="1828800"/>
            <a:ext cx="3575304" cy="329184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306824" y="1828800"/>
            <a:ext cx="3575304" cy="54864"/>
          </a:xfrm>
          <a:prstGeom prst="rect">
            <a:avLst/>
          </a:prstGeom>
          <a:solidFill>
            <a:srgbClr val="4F81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35424" y="2011680"/>
            <a:ext cx="13716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200" b="1" i="0">
                <a:solidFill>
                  <a:srgbClr val="4F81BD"/>
                </a:solidFill>
                <a:latin typeface="Calibri"/>
              </a:rPr>
              <a:t>02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35424" y="2560320"/>
            <a:ext cx="3118104" cy="685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800" b="1" i="0">
                <a:solidFill>
                  <a:srgbClr val="333333"/>
                </a:solidFill>
                <a:latin typeface="Calibri"/>
              </a:rPr>
              <a:t>Qualidade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35424" y="3246120"/>
            <a:ext cx="3118104" cy="17373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400" b="0" i="0">
                <a:solidFill>
                  <a:srgbClr val="333333"/>
                </a:solidFill>
                <a:latin typeface="Calibri"/>
              </a:rPr>
              <a:t>19 resultados ficaram abaixo da meta, 47,5% do realizado.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156448" y="1828800"/>
            <a:ext cx="3575304" cy="329184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156448" y="1828800"/>
            <a:ext cx="3575304" cy="5486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385048" y="2011680"/>
            <a:ext cx="13716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200" b="1" i="0">
                <a:solidFill>
                  <a:srgbClr val="F2A900"/>
                </a:solidFill>
                <a:latin typeface="Calibri"/>
              </a:rPr>
              <a:t>03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85048" y="2560320"/>
            <a:ext cx="3118104" cy="685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800" b="1" i="0">
                <a:solidFill>
                  <a:srgbClr val="333333"/>
                </a:solidFill>
                <a:latin typeface="Calibri"/>
              </a:rPr>
              <a:t>Governança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85048" y="3246120"/>
            <a:ext cx="3118104" cy="17373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400" b="0" i="0">
                <a:solidFill>
                  <a:srgbClr val="333333"/>
                </a:solidFill>
                <a:latin typeface="Calibri"/>
              </a:rPr>
              <a:t>Quatro ensaios aguardam revisão, dois já aprovados tecnicamente.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621792"/>
            <a:ext cx="11274552" cy="822960"/>
          </a:xfrm>
        </p:spPr>
        <p:txBody>
          <a:bodyPr wrap="square" anchor="t" lIns="45720" rIns="45720"/>
          <a:lstStyle/>
          <a:p>
            <a:pPr algn="l"/>
            <a:r>
              <a:rPr sz="2800" b="1" i="0">
                <a:solidFill>
                  <a:srgbClr val="1F3A5F"/>
                </a:solidFill>
                <a:latin typeface="Calibri"/>
              </a:rPr>
              <a:t>Takeaways com tags de fase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7315200" cy="228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900" b="1" i="0">
                <a:solidFill>
                  <a:srgbClr val="8C8C8C"/>
                </a:solidFill>
                <a:latin typeface="Calibri"/>
              </a:rPr>
              <a:t>EMPRESA EXEMPLO  |  CATÁLOGO DE MODELOS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91440"/>
            <a:ext cx="3959352" cy="228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900" b="0" i="0">
                <a:solidFill>
                  <a:srgbClr val="8C8C8C"/>
                </a:solidFill>
                <a:latin typeface="Calibri"/>
              </a:rPr>
              <a:t>set/2026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"/>
            <a:ext cx="11274552" cy="256032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/>
            <a:r>
              <a:rPr sz="1000" b="1" i="0">
                <a:solidFill>
                  <a:srgbClr val="4F81BD"/>
                </a:solidFill>
                <a:latin typeface="Calibri"/>
              </a:rPr>
              <a:t>PRÓXIMOS PASSOS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217920"/>
            <a:ext cx="8531352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000" b="0" i="0">
                <a:solidFill>
                  <a:srgbClr val="8C8C8C"/>
                </a:solidFill>
                <a:latin typeface="Calibri"/>
              </a:rPr>
              <a:t>Uso interno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17352" y="6217920"/>
            <a:ext cx="91440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8C8C8C"/>
                </a:solidFill>
                <a:latin typeface="Calibri"/>
              </a:rPr>
              <a:t>23</a:t>
            </a:r>
          </a:p>
        </p:txBody>
      </p:sp>
      <p:pic>
        <p:nvPicPr>
          <p:cNvPr id="8" name="Picture 7" descr="logo-placehol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92640" y="6245352"/>
            <a:ext cx="822960" cy="27432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457200" y="5349240"/>
            <a:ext cx="11274552" cy="731520"/>
          </a:xfrm>
          <a:prstGeom prst="rect">
            <a:avLst/>
          </a:prstGeom>
          <a:solidFill>
            <a:srgbClr val="1427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5349240"/>
            <a:ext cx="2103120" cy="7315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000" b="1" i="0">
                <a:solidFill>
                  <a:srgbClr val="F2A900"/>
                </a:solidFill>
                <a:latin typeface="Calibri"/>
              </a:rPr>
              <a:t>DECISÃO ESPERADA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88920" y="5349240"/>
            <a:ext cx="8759952" cy="7315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Aprovar a rotina semanal e nomear os donos dos quatro controles.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1828800"/>
            <a:ext cx="3575304" cy="329184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57200" y="1828800"/>
            <a:ext cx="3575304" cy="54864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85800" y="2057400"/>
            <a:ext cx="2194560" cy="29260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2057400"/>
            <a:ext cx="2194560" cy="29260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AGORA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2560320"/>
            <a:ext cx="3118104" cy="685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800" b="1" i="0">
                <a:solidFill>
                  <a:srgbClr val="333333"/>
                </a:solidFill>
                <a:latin typeface="Calibri"/>
              </a:rPr>
              <a:t>Sanear os itens atrasados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3246120"/>
            <a:ext cx="3118104" cy="17373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400" b="0" i="0">
                <a:solidFill>
                  <a:srgbClr val="333333"/>
                </a:solidFill>
                <a:latin typeface="Calibri"/>
              </a:rPr>
              <a:t>Definir próximo marco, responsável e motivo do desvio para cada item.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306824" y="1828800"/>
            <a:ext cx="3575304" cy="329184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306824" y="1828800"/>
            <a:ext cx="3575304" cy="54864"/>
          </a:xfrm>
          <a:prstGeom prst="rect">
            <a:avLst/>
          </a:prstGeom>
          <a:solidFill>
            <a:srgbClr val="4F81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535424" y="2057400"/>
            <a:ext cx="2194560" cy="292608"/>
          </a:xfrm>
          <a:prstGeom prst="rect">
            <a:avLst/>
          </a:prstGeom>
          <a:solidFill>
            <a:srgbClr val="4F81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35424" y="2057400"/>
            <a:ext cx="2194560" cy="29260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PRÓXIMAS 4 SEMANAS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35424" y="2560320"/>
            <a:ext cx="3118104" cy="685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800" b="1" i="0">
                <a:solidFill>
                  <a:srgbClr val="333333"/>
                </a:solidFill>
                <a:latin typeface="Calibri"/>
              </a:rPr>
              <a:t>Implantar a gestão à vista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35424" y="3246120"/>
            <a:ext cx="3118104" cy="17373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400" b="0" i="0">
                <a:solidFill>
                  <a:srgbClr val="333333"/>
                </a:solidFill>
                <a:latin typeface="Calibri"/>
              </a:rPr>
              <a:t>Acompanhar SLA, risco alto e confirmação do fornecedor.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156448" y="1828800"/>
            <a:ext cx="3575304" cy="329184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156448" y="1828800"/>
            <a:ext cx="3575304" cy="5486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385048" y="2057400"/>
            <a:ext cx="2194560" cy="292608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385048" y="2057400"/>
            <a:ext cx="2194560" cy="29260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APÓS 30 DIAS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85048" y="2560320"/>
            <a:ext cx="3118104" cy="685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800" b="1" i="0">
                <a:solidFill>
                  <a:srgbClr val="333333"/>
                </a:solidFill>
                <a:latin typeface="Calibri"/>
              </a:rPr>
              <a:t>Revisar causa e capacidade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85048" y="3246120"/>
            <a:ext cx="3118104" cy="17373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400" b="0" i="0">
                <a:solidFill>
                  <a:srgbClr val="333333"/>
                </a:solidFill>
                <a:latin typeface="Calibri"/>
              </a:rPr>
              <a:t>Comparar coortes, modalidades e carga por equipe.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621792"/>
            <a:ext cx="11274552" cy="822960"/>
          </a:xfrm>
        </p:spPr>
        <p:txBody>
          <a:bodyPr wrap="square" anchor="t" lIns="45720" rIns="45720"/>
          <a:lstStyle/>
          <a:p>
            <a:pPr algn="l"/>
            <a:r>
              <a:rPr sz="2800" b="1" i="0">
                <a:solidFill>
                  <a:srgbClr val="1F3A5F"/>
                </a:solidFill>
                <a:latin typeface="Calibri"/>
              </a:rPr>
              <a:t>Timeline com marcador de hoje e legenda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7315200" cy="228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900" b="1" i="0">
                <a:solidFill>
                  <a:srgbClr val="8C8C8C"/>
                </a:solidFill>
                <a:latin typeface="Calibri"/>
              </a:rPr>
              <a:t>EMPRESA EXEMPLO  |  CATÁLOGO DE MODELOS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91440"/>
            <a:ext cx="3959352" cy="228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900" b="0" i="0">
                <a:solidFill>
                  <a:srgbClr val="8C8C8C"/>
                </a:solidFill>
                <a:latin typeface="Calibri"/>
              </a:rPr>
              <a:t>set/2026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"/>
            <a:ext cx="11274552" cy="256032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/>
            <a:r>
              <a:rPr sz="1000" b="1" i="0">
                <a:solidFill>
                  <a:srgbClr val="4F81BD"/>
                </a:solidFill>
                <a:latin typeface="Calibri"/>
              </a:rPr>
              <a:t>TIMELINE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217920"/>
            <a:ext cx="8531352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000" b="0" i="0">
                <a:solidFill>
                  <a:srgbClr val="8C8C8C"/>
                </a:solidFill>
                <a:latin typeface="Calibri"/>
              </a:rPr>
              <a:t>Uso interno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17352" y="6217920"/>
            <a:ext cx="91440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8C8C8C"/>
                </a:solidFill>
                <a:latin typeface="Calibri"/>
              </a:rPr>
              <a:t>24</a:t>
            </a:r>
          </a:p>
        </p:txBody>
      </p:sp>
      <p:pic>
        <p:nvPicPr>
          <p:cNvPr id="8" name="Picture 7" descr="logo-placehol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92640" y="6245352"/>
            <a:ext cx="822960" cy="27432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731520" y="3858768"/>
            <a:ext cx="10698480" cy="54864"/>
          </a:xfrm>
          <a:prstGeom prst="rect">
            <a:avLst/>
          </a:prstGeom>
          <a:solidFill>
            <a:srgbClr val="8C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005840" y="3703320"/>
            <a:ext cx="365760" cy="365760"/>
          </a:xfrm>
          <a:prstGeom prst="ellipse">
            <a:avLst/>
          </a:prstGeom>
          <a:solidFill>
            <a:srgbClr val="2E7D32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5760" y="2971800"/>
            <a:ext cx="1645920" cy="36576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ctr"/>
            <a:r>
              <a:rPr sz="1300" b="0" i="0">
                <a:solidFill>
                  <a:srgbClr val="8C8C8C"/>
                </a:solidFill>
                <a:latin typeface="Calibri"/>
              </a:rPr>
              <a:t>Jun/26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4206240"/>
            <a:ext cx="164592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Kickoff</a:t>
            </a:r>
          </a:p>
        </p:txBody>
      </p:sp>
      <p:sp>
        <p:nvSpPr>
          <p:cNvPr id="13" name="Oval 12"/>
          <p:cNvSpPr/>
          <p:nvPr/>
        </p:nvSpPr>
        <p:spPr>
          <a:xfrm>
            <a:off x="3451859" y="3703320"/>
            <a:ext cx="365760" cy="365760"/>
          </a:xfrm>
          <a:prstGeom prst="ellipse">
            <a:avLst/>
          </a:prstGeom>
          <a:solidFill>
            <a:srgbClr val="2E7D32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811779" y="2971800"/>
            <a:ext cx="1645920" cy="36576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ctr"/>
            <a:r>
              <a:rPr sz="1300" b="0" i="0">
                <a:solidFill>
                  <a:srgbClr val="8C8C8C"/>
                </a:solidFill>
                <a:latin typeface="Calibri"/>
              </a:rPr>
              <a:t>Jul/26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811779" y="4206240"/>
            <a:ext cx="164592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Design aprovado</a:t>
            </a:r>
          </a:p>
        </p:txBody>
      </p:sp>
      <p:sp>
        <p:nvSpPr>
          <p:cNvPr id="16" name="Oval 15"/>
          <p:cNvSpPr/>
          <p:nvPr/>
        </p:nvSpPr>
        <p:spPr>
          <a:xfrm>
            <a:off x="5897879" y="3703320"/>
            <a:ext cx="365760" cy="365760"/>
          </a:xfrm>
          <a:prstGeom prst="ellipse">
            <a:avLst/>
          </a:prstGeom>
          <a:solidFill>
            <a:srgbClr val="F9A825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257799" y="2971800"/>
            <a:ext cx="1645920" cy="36576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ctr"/>
            <a:r>
              <a:rPr sz="1300" b="0" i="0">
                <a:solidFill>
                  <a:srgbClr val="8C8C8C"/>
                </a:solidFill>
                <a:latin typeface="Calibri"/>
              </a:rPr>
              <a:t>Set/26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257799" y="4206240"/>
            <a:ext cx="164592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Homologação</a:t>
            </a:r>
          </a:p>
        </p:txBody>
      </p:sp>
      <p:sp>
        <p:nvSpPr>
          <p:cNvPr id="19" name="Oval 18"/>
          <p:cNvSpPr/>
          <p:nvPr/>
        </p:nvSpPr>
        <p:spPr>
          <a:xfrm>
            <a:off x="8343900" y="3703320"/>
            <a:ext cx="365760" cy="365760"/>
          </a:xfrm>
          <a:prstGeom prst="ellipse">
            <a:avLst/>
          </a:prstGeom>
          <a:solidFill>
            <a:srgbClr val="C62828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03819" y="2971800"/>
            <a:ext cx="1645920" cy="36576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ctr"/>
            <a:r>
              <a:rPr sz="1300" b="0" i="0">
                <a:solidFill>
                  <a:srgbClr val="8C8C8C"/>
                </a:solidFill>
                <a:latin typeface="Calibri"/>
              </a:rPr>
              <a:t>Out/26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03819" y="4206240"/>
            <a:ext cx="164592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Testes</a:t>
            </a:r>
          </a:p>
        </p:txBody>
      </p:sp>
      <p:sp>
        <p:nvSpPr>
          <p:cNvPr id="22" name="Oval 21"/>
          <p:cNvSpPr/>
          <p:nvPr/>
        </p:nvSpPr>
        <p:spPr>
          <a:xfrm>
            <a:off x="10789920" y="3703320"/>
            <a:ext cx="365760" cy="365760"/>
          </a:xfrm>
          <a:prstGeom prst="ellipse">
            <a:avLst/>
          </a:prstGeom>
          <a:solidFill>
            <a:srgbClr val="1F3A5F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149840" y="2971800"/>
            <a:ext cx="1645920" cy="36576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ctr"/>
            <a:r>
              <a:rPr sz="1300" b="0" i="0">
                <a:solidFill>
                  <a:srgbClr val="8C8C8C"/>
                </a:solidFill>
                <a:latin typeface="Calibri"/>
              </a:rPr>
              <a:t>Nov/26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149840" y="4206240"/>
            <a:ext cx="164592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Go-live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303769" y="3246120"/>
            <a:ext cx="27432" cy="128016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846569" y="2926080"/>
            <a:ext cx="9144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100" b="1" i="0">
                <a:solidFill>
                  <a:srgbClr val="F2A900"/>
                </a:solidFill>
                <a:latin typeface="Calibri"/>
              </a:rPr>
              <a:t>Hoje</a:t>
            </a:r>
          </a:p>
        </p:txBody>
      </p:sp>
      <p:sp>
        <p:nvSpPr>
          <p:cNvPr id="27" name="Oval 26"/>
          <p:cNvSpPr/>
          <p:nvPr/>
        </p:nvSpPr>
        <p:spPr>
          <a:xfrm>
            <a:off x="457200" y="5852160"/>
            <a:ext cx="182880" cy="182880"/>
          </a:xfrm>
          <a:prstGeom prst="ellipse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85800" y="5806440"/>
            <a:ext cx="1371600" cy="2743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100" b="0" i="0">
                <a:solidFill>
                  <a:srgbClr val="8C8C8C"/>
                </a:solidFill>
                <a:latin typeface="Calibri"/>
              </a:rPr>
              <a:t>Concluído</a:t>
            </a:r>
          </a:p>
        </p:txBody>
      </p:sp>
      <p:sp>
        <p:nvSpPr>
          <p:cNvPr id="29" name="Oval 28"/>
          <p:cNvSpPr/>
          <p:nvPr/>
        </p:nvSpPr>
        <p:spPr>
          <a:xfrm>
            <a:off x="2011680" y="5852160"/>
            <a:ext cx="182880" cy="182880"/>
          </a:xfrm>
          <a:prstGeom prst="ellipse">
            <a:avLst/>
          </a:prstGeom>
          <a:solidFill>
            <a:srgbClr val="F9A8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2240280" y="5806440"/>
            <a:ext cx="1371600" cy="2743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100" b="0" i="0">
                <a:solidFill>
                  <a:srgbClr val="8C8C8C"/>
                </a:solidFill>
                <a:latin typeface="Calibri"/>
              </a:rPr>
              <a:t>Em risco</a:t>
            </a:r>
          </a:p>
        </p:txBody>
      </p:sp>
      <p:sp>
        <p:nvSpPr>
          <p:cNvPr id="31" name="Oval 30"/>
          <p:cNvSpPr/>
          <p:nvPr/>
        </p:nvSpPr>
        <p:spPr>
          <a:xfrm>
            <a:off x="3566160" y="5852160"/>
            <a:ext cx="182880" cy="182880"/>
          </a:xfrm>
          <a:prstGeom prst="ellipse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794760" y="5806440"/>
            <a:ext cx="1371600" cy="2743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100" b="0" i="0">
                <a:solidFill>
                  <a:srgbClr val="8C8C8C"/>
                </a:solidFill>
                <a:latin typeface="Calibri"/>
              </a:rPr>
              <a:t>Atrasado</a:t>
            </a:r>
          </a:p>
        </p:txBody>
      </p:sp>
      <p:sp>
        <p:nvSpPr>
          <p:cNvPr id="33" name="Oval 32"/>
          <p:cNvSpPr/>
          <p:nvPr/>
        </p:nvSpPr>
        <p:spPr>
          <a:xfrm>
            <a:off x="5120640" y="5852160"/>
            <a:ext cx="182880" cy="182880"/>
          </a:xfrm>
          <a:prstGeom prst="ellipse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349240" y="5806440"/>
            <a:ext cx="1371600" cy="2743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100" b="0" i="0">
                <a:solidFill>
                  <a:srgbClr val="8C8C8C"/>
                </a:solidFill>
                <a:latin typeface="Calibri"/>
              </a:rPr>
              <a:t>Planejado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621792"/>
            <a:ext cx="11274552" cy="822960"/>
          </a:xfrm>
        </p:spPr>
        <p:txBody>
          <a:bodyPr wrap="square" anchor="t" lIns="45720" rIns="45720"/>
          <a:lstStyle/>
          <a:p>
            <a:pPr algn="l"/>
            <a:r>
              <a:rPr sz="2800" b="1" i="0">
                <a:solidFill>
                  <a:srgbClr val="1F3A5F"/>
                </a:solidFill>
                <a:latin typeface="Calibri"/>
              </a:rPr>
              <a:t>Processo em chevrons com métrica por etapa e etapa atual destacada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7315200" cy="228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900" b="1" i="0">
                <a:solidFill>
                  <a:srgbClr val="8C8C8C"/>
                </a:solidFill>
                <a:latin typeface="Calibri"/>
              </a:rPr>
              <a:t>EMPRESA EXEMPLO  |  CATÁLOGO DE MODELOS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91440"/>
            <a:ext cx="3959352" cy="228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900" b="0" i="0">
                <a:solidFill>
                  <a:srgbClr val="8C8C8C"/>
                </a:solidFill>
                <a:latin typeface="Calibri"/>
              </a:rPr>
              <a:t>set/2026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"/>
            <a:ext cx="11274552" cy="256032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/>
            <a:r>
              <a:rPr sz="1000" b="1" i="0">
                <a:solidFill>
                  <a:srgbClr val="4F81BD"/>
                </a:solidFill>
                <a:latin typeface="Calibri"/>
              </a:rPr>
              <a:t>FLUXO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217920"/>
            <a:ext cx="8531352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000" b="0" i="0">
                <a:solidFill>
                  <a:srgbClr val="8C8C8C"/>
                </a:solidFill>
                <a:latin typeface="Calibri"/>
              </a:rPr>
              <a:t>Uso interno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17352" y="6217920"/>
            <a:ext cx="91440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8C8C8C"/>
                </a:solidFill>
                <a:latin typeface="Calibri"/>
              </a:rPr>
              <a:t>25</a:t>
            </a:r>
          </a:p>
        </p:txBody>
      </p:sp>
      <p:pic>
        <p:nvPicPr>
          <p:cNvPr id="8" name="Picture 7" descr="logo-placehol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92640" y="6245352"/>
            <a:ext cx="822960" cy="27432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457200" y="5349240"/>
            <a:ext cx="11274552" cy="731520"/>
          </a:xfrm>
          <a:prstGeom prst="rect">
            <a:avLst/>
          </a:prstGeom>
          <a:solidFill>
            <a:srgbClr val="EA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5349240"/>
            <a:ext cx="73152" cy="731520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5349240"/>
            <a:ext cx="2103120" cy="7315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000" b="1" i="0">
                <a:solidFill>
                  <a:srgbClr val="2E7D32"/>
                </a:solidFill>
                <a:latin typeface="Calibri"/>
              </a:rPr>
              <a:t>FOCO DE MELHORIA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88920" y="5349240"/>
            <a:ext cx="8759952" cy="7315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400" b="1" i="0">
                <a:solidFill>
                  <a:srgbClr val="333333"/>
                </a:solidFill>
                <a:latin typeface="Calibri"/>
              </a:rPr>
              <a:t>Confirmar data do fornecedor no pedido e escalar desvios antes do vencimento.</a:t>
            </a:r>
          </a:p>
        </p:txBody>
      </p:sp>
      <p:sp>
        <p:nvSpPr>
          <p:cNvPr id="13" name="Pentagon 12"/>
          <p:cNvSpPr/>
          <p:nvPr/>
        </p:nvSpPr>
        <p:spPr>
          <a:xfrm>
            <a:off x="457200" y="2194560"/>
            <a:ext cx="2727198" cy="1280160"/>
          </a:xfrm>
          <a:prstGeom prst="homePlate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274320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1. Solicitação</a:t>
            </a:r>
          </a:p>
        </p:txBody>
      </p:sp>
      <p:sp>
        <p:nvSpPr>
          <p:cNvPr id="14" name="Chevron 13"/>
          <p:cNvSpPr/>
          <p:nvPr/>
        </p:nvSpPr>
        <p:spPr>
          <a:xfrm>
            <a:off x="3275838" y="2194560"/>
            <a:ext cx="2727198" cy="1280160"/>
          </a:xfrm>
          <a:prstGeom prst="chevron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 rIns="274320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2. Aprovação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67278" y="3657600"/>
            <a:ext cx="2544318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1" i="0">
                <a:solidFill>
                  <a:srgbClr val="1F3A5F"/>
                </a:solidFill>
                <a:latin typeface="Calibri"/>
              </a:rPr>
              <a:t>7,2 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67278" y="4251960"/>
            <a:ext cx="2544318" cy="12801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300" b="0" i="0">
                <a:solidFill>
                  <a:srgbClr val="333333"/>
                </a:solidFill>
                <a:latin typeface="Calibri"/>
              </a:rPr>
              <a:t>até aprovação (n=40)</a:t>
            </a:r>
          </a:p>
        </p:txBody>
      </p:sp>
      <p:sp>
        <p:nvSpPr>
          <p:cNvPr id="17" name="Chevron 16"/>
          <p:cNvSpPr/>
          <p:nvPr/>
        </p:nvSpPr>
        <p:spPr>
          <a:xfrm>
            <a:off x="6094476" y="2194560"/>
            <a:ext cx="2727198" cy="1280160"/>
          </a:xfrm>
          <a:prstGeom prst="chevron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 rIns="274320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3. Pedido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85916" y="3657600"/>
            <a:ext cx="2544318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1" i="0">
                <a:solidFill>
                  <a:srgbClr val="1F3A5F"/>
                </a:solidFill>
                <a:latin typeface="Calibri"/>
              </a:rPr>
              <a:t>4,3 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185916" y="4251960"/>
            <a:ext cx="2544318" cy="12801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300" b="0" i="0">
                <a:solidFill>
                  <a:srgbClr val="333333"/>
                </a:solidFill>
                <a:latin typeface="Calibri"/>
              </a:rPr>
              <a:t>até pedido (n=27)</a:t>
            </a:r>
          </a:p>
        </p:txBody>
      </p:sp>
      <p:sp>
        <p:nvSpPr>
          <p:cNvPr id="20" name="Chevron 19"/>
          <p:cNvSpPr/>
          <p:nvPr/>
        </p:nvSpPr>
        <p:spPr>
          <a:xfrm>
            <a:off x="8913114" y="2194560"/>
            <a:ext cx="2727198" cy="1280160"/>
          </a:xfrm>
          <a:prstGeom prst="chevron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 rIns="274320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4. Entrega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004554" y="3657600"/>
            <a:ext cx="2544318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1" i="0">
                <a:solidFill>
                  <a:srgbClr val="F2A900"/>
                </a:solidFill>
                <a:latin typeface="Calibri"/>
              </a:rPr>
              <a:t>39,9 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004554" y="4251960"/>
            <a:ext cx="2544318" cy="12801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300" b="0" i="0">
                <a:solidFill>
                  <a:srgbClr val="333333"/>
                </a:solidFill>
                <a:latin typeface="Calibri"/>
              </a:rPr>
              <a:t>até entrega real (n=13)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621792"/>
            <a:ext cx="11274552" cy="822960"/>
          </a:xfrm>
        </p:spPr>
        <p:txBody>
          <a:bodyPr wrap="square" anchor="t" lIns="45720" rIns="45720"/>
          <a:lstStyle/>
          <a:p>
            <a:pPr algn="l"/>
            <a:r>
              <a:rPr sz="2800" b="1" i="0">
                <a:solidFill>
                  <a:srgbClr val="1F3A5F"/>
                </a:solidFill>
                <a:latin typeface="Calibri"/>
              </a:rPr>
              <a:t>Matriz 2×2 com quadrante destacado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7315200" cy="228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900" b="1" i="0">
                <a:solidFill>
                  <a:srgbClr val="8C8C8C"/>
                </a:solidFill>
                <a:latin typeface="Calibri"/>
              </a:rPr>
              <a:t>EMPRESA EXEMPLO  |  CATÁLOGO DE MODELOS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91440"/>
            <a:ext cx="3959352" cy="228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900" b="0" i="0">
                <a:solidFill>
                  <a:srgbClr val="8C8C8C"/>
                </a:solidFill>
                <a:latin typeface="Calibri"/>
              </a:rPr>
              <a:t>set/2026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"/>
            <a:ext cx="11274552" cy="256032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/>
            <a:r>
              <a:rPr sz="1000" b="1" i="0">
                <a:solidFill>
                  <a:srgbClr val="4F81BD"/>
                </a:solidFill>
                <a:latin typeface="Calibri"/>
              </a:rPr>
              <a:t>MATRIZ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217920"/>
            <a:ext cx="8531352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000" b="0" i="0">
                <a:solidFill>
                  <a:srgbClr val="8C8C8C"/>
                </a:solidFill>
                <a:latin typeface="Calibri"/>
              </a:rPr>
              <a:t>Uso interno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17352" y="6217920"/>
            <a:ext cx="91440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8C8C8C"/>
                </a:solidFill>
                <a:latin typeface="Calibri"/>
              </a:rPr>
              <a:t>26</a:t>
            </a:r>
          </a:p>
        </p:txBody>
      </p:sp>
      <p:pic>
        <p:nvPicPr>
          <p:cNvPr id="8" name="Picture 7" descr="logo-placehol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92640" y="6245352"/>
            <a:ext cx="822960" cy="27432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1463040" y="1737360"/>
            <a:ext cx="4069080" cy="192024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554480" y="1783080"/>
            <a:ext cx="38862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00" b="1" i="0">
                <a:solidFill>
                  <a:srgbClr val="8C8C8C"/>
                </a:solidFill>
                <a:latin typeface="Calibri"/>
              </a:rPr>
              <a:t>PLANEJAR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2148840"/>
            <a:ext cx="3886200" cy="1463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marL="228600" indent="-228600">
              <a:spcAft>
                <a:spcPts val="400"/>
              </a:spcAft>
              <a:buClr>
                <a:srgbClr val="1F3A5F"/>
              </a:buClr>
              <a:buChar char="•"/>
            </a:pPr>
            <a:r>
              <a:rPr sz="1300" b="0" i="0">
                <a:solidFill>
                  <a:srgbClr val="333333"/>
                </a:solidFill>
                <a:latin typeface="Calibri"/>
              </a:rPr>
              <a:t>Automação L4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23560" y="1737360"/>
            <a:ext cx="4069080" cy="1920240"/>
          </a:xfrm>
          <a:prstGeom prst="rect">
            <a:avLst/>
          </a:prstGeom>
          <a:solidFill>
            <a:srgbClr val="FFF3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715000" y="1783080"/>
            <a:ext cx="38862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00" b="1" i="0">
                <a:solidFill>
                  <a:srgbClr val="8C8C8C"/>
                </a:solidFill>
                <a:latin typeface="Calibri"/>
              </a:rPr>
              <a:t>FAZER AGORA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715000" y="2148840"/>
            <a:ext cx="3886200" cy="1463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marL="228600" indent="-228600">
              <a:spcAft>
                <a:spcPts val="400"/>
              </a:spcAft>
              <a:buClr>
                <a:srgbClr val="1F3A5F"/>
              </a:buClr>
              <a:buChar char="•"/>
            </a:pPr>
            <a:r>
              <a:rPr sz="1300" b="0" i="0">
                <a:solidFill>
                  <a:srgbClr val="333333"/>
                </a:solidFill>
                <a:latin typeface="Calibri"/>
              </a:rPr>
              <a:t>SMED turno C</a:t>
            </a:r>
          </a:p>
          <a:p>
            <a:pPr marL="228600" indent="-228600">
              <a:spcAft>
                <a:spcPts val="400"/>
              </a:spcAft>
              <a:buClr>
                <a:srgbClr val="1F3A5F"/>
              </a:buClr>
              <a:buChar char="•"/>
            </a:pPr>
            <a:r>
              <a:rPr sz="1300" b="0" i="0">
                <a:solidFill>
                  <a:srgbClr val="333333"/>
                </a:solidFill>
                <a:latin typeface="Calibri"/>
              </a:rPr>
              <a:t>Kit de material</a:t>
            </a:r>
          </a:p>
          <a:p>
            <a:pPr marL="228600" indent="-228600">
              <a:spcAft>
                <a:spcPts val="400"/>
              </a:spcAft>
              <a:buClr>
                <a:srgbClr val="1F3A5F"/>
              </a:buClr>
              <a:buChar char="•"/>
            </a:pPr>
            <a:r>
              <a:rPr sz="1300" b="0" i="0">
                <a:solidFill>
                  <a:srgbClr val="333333"/>
                </a:solidFill>
                <a:latin typeface="Calibri"/>
              </a:rPr>
              <a:t>Alerta de energia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463040" y="3749040"/>
            <a:ext cx="4069080" cy="192024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554480" y="3794760"/>
            <a:ext cx="38862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00" b="1" i="0">
                <a:solidFill>
                  <a:srgbClr val="8C8C8C"/>
                </a:solidFill>
                <a:latin typeface="Calibri"/>
              </a:rPr>
              <a:t>DESCARTAR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54480" y="4160520"/>
            <a:ext cx="3886200" cy="1463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marL="228600" indent="-228600">
              <a:spcAft>
                <a:spcPts val="400"/>
              </a:spcAft>
              <a:buClr>
                <a:srgbClr val="1F3A5F"/>
              </a:buClr>
              <a:buChar char="•"/>
            </a:pPr>
            <a:r>
              <a:rPr sz="1300" b="0" i="0">
                <a:solidFill>
                  <a:srgbClr val="333333"/>
                </a:solidFill>
                <a:latin typeface="Calibri"/>
              </a:rPr>
              <a:t>Layout do refeitório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623560" y="3749040"/>
            <a:ext cx="4069080" cy="192024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715000" y="3794760"/>
            <a:ext cx="38862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00" b="1" i="0">
                <a:solidFill>
                  <a:srgbClr val="8C8C8C"/>
                </a:solidFill>
                <a:latin typeface="Calibri"/>
              </a:rPr>
              <a:t>DELEGAR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715000" y="4160520"/>
            <a:ext cx="3886200" cy="1463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marL="228600" indent="-228600">
              <a:spcAft>
                <a:spcPts val="400"/>
              </a:spcAft>
              <a:buClr>
                <a:srgbClr val="1F3A5F"/>
              </a:buClr>
              <a:buChar char="•"/>
            </a:pPr>
            <a:r>
              <a:rPr sz="1300" b="0" i="0">
                <a:solidFill>
                  <a:srgbClr val="333333"/>
                </a:solidFill>
                <a:latin typeface="Calibri"/>
              </a:rPr>
              <a:t>Revisão de checklist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63040" y="5715000"/>
            <a:ext cx="82296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300" b="1" i="0">
                <a:solidFill>
                  <a:srgbClr val="8C8C8C"/>
                </a:solidFill>
                <a:latin typeface="Calibri"/>
              </a:rPr>
              <a:t>Facilidade  →</a:t>
            </a:r>
          </a:p>
        </p:txBody>
      </p:sp>
      <p:sp>
        <p:nvSpPr>
          <p:cNvPr id="22" name="TextBox 21"/>
          <p:cNvSpPr txBox="1"/>
          <p:nvPr/>
        </p:nvSpPr>
        <p:spPr>
          <a:xfrm rot="16200000">
            <a:off x="457200" y="3520440"/>
            <a:ext cx="9144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300" b="1" i="0">
                <a:solidFill>
                  <a:srgbClr val="8C8C8C"/>
                </a:solidFill>
                <a:latin typeface="Calibri"/>
              </a:rPr>
              <a:t>Impacto  →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3A5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097280"/>
            <a:ext cx="1097280" cy="12801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000" b="1" i="0">
                <a:solidFill>
                  <a:srgbClr val="F2A900"/>
                </a:solidFill>
                <a:latin typeface="Calibri"/>
              </a:rPr>
              <a:t>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2011680"/>
            <a:ext cx="9445752" cy="23774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2800" b="0" i="1">
                <a:solidFill>
                  <a:srgbClr val="FFFFFF"/>
                </a:solidFill>
                <a:latin typeface="Calibri"/>
              </a:rPr>
              <a:t>Em 6 meses reduzimos 18% do custo de energia e descobrimos duas máquinas que consumiam paradas.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4572000"/>
            <a:ext cx="9445752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500" b="0" i="0">
                <a:solidFill>
                  <a:srgbClr val="D9E1EA"/>
                </a:solidFill>
                <a:latin typeface="Calibri"/>
              </a:rPr>
              <a:t>— Gerente industrial, cliente do setor metalúrgico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3A5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011680"/>
            <a:ext cx="1828800" cy="9144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6000" b="1" i="0">
                <a:solidFill>
                  <a:srgbClr val="F2A900"/>
                </a:solidFill>
                <a:latin typeface="Calibri"/>
              </a:rPr>
              <a:t>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017520"/>
            <a:ext cx="1069848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  <a:latin typeface="Calibri"/>
              </a:rPr>
              <a:t>Fechamento</a:t>
            </a:r>
          </a:p>
        </p:txBody>
      </p:sp>
      <p:pic>
        <p:nvPicPr>
          <p:cNvPr id="4" name="Picture 3" descr="logo-placeholder-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07040" y="457200"/>
            <a:ext cx="1097280" cy="365760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621792"/>
            <a:ext cx="11274552" cy="822960"/>
          </a:xfrm>
        </p:spPr>
        <p:txBody>
          <a:bodyPr wrap="square" anchor="t" lIns="45720" rIns="45720"/>
          <a:lstStyle/>
          <a:p>
            <a:pPr algn="l"/>
            <a:r>
              <a:rPr sz="2800" b="1" i="0">
                <a:solidFill>
                  <a:srgbClr val="1F3A5F"/>
                </a:solidFill>
                <a:latin typeface="Calibri"/>
              </a:rPr>
              <a:t>Plano de ação com decisão pedida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7315200" cy="228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900" b="1" i="0">
                <a:solidFill>
                  <a:srgbClr val="8C8C8C"/>
                </a:solidFill>
                <a:latin typeface="Calibri"/>
              </a:rPr>
              <a:t>EMPRESA EXEMPLO  |  CATÁLOGO DE MODELOS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91440"/>
            <a:ext cx="3959352" cy="228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900" b="0" i="0">
                <a:solidFill>
                  <a:srgbClr val="8C8C8C"/>
                </a:solidFill>
                <a:latin typeface="Calibri"/>
              </a:rPr>
              <a:t>set/2026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"/>
            <a:ext cx="11274552" cy="256032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/>
            <a:r>
              <a:rPr sz="1000" b="1" i="0">
                <a:solidFill>
                  <a:srgbClr val="4F81BD"/>
                </a:solidFill>
                <a:latin typeface="Calibri"/>
              </a:rPr>
              <a:t>PLANO DE AÇÃO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217920"/>
            <a:ext cx="8531352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000" b="0" i="0">
                <a:solidFill>
                  <a:srgbClr val="8C8C8C"/>
                </a:solidFill>
                <a:latin typeface="Calibri"/>
              </a:rPr>
              <a:t>Uso interno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17352" y="6217920"/>
            <a:ext cx="91440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8C8C8C"/>
                </a:solidFill>
                <a:latin typeface="Calibri"/>
              </a:rPr>
              <a:t>29</a:t>
            </a:r>
          </a:p>
        </p:txBody>
      </p:sp>
      <p:pic>
        <p:nvPicPr>
          <p:cNvPr id="8" name="Picture 7" descr="logo-placehol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92640" y="6245352"/>
            <a:ext cx="822960" cy="274320"/>
          </a:xfrm>
          <a:prstGeom prst="rect">
            <a:avLst/>
          </a:prstGeom>
        </p:spPr>
      </p:pic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57200" y="1737360"/>
          <a:ext cx="11274552" cy="228600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5943600"/>
                <a:gridCol w="1828800"/>
                <a:gridCol w="1371600"/>
                <a:gridCol w="2130552"/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Ação</a:t>
                      </a:r>
                    </a:p>
                  </a:txBody>
                  <a:tcPr anchor="ctr" marL="73152" marR="73152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Dono</a:t>
                      </a:r>
                    </a:p>
                  </a:txBody>
                  <a:tcPr anchor="ctr" marL="73152" marR="73152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Prazo</a:t>
                      </a:r>
                    </a:p>
                  </a:txBody>
                  <a:tcPr anchor="ctr" marL="73152" marR="73152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Status</a:t>
                      </a:r>
                    </a:p>
                  </a:txBody>
                  <a:tcPr anchor="ctr" marL="73152" marR="73152">
                    <a:solidFill>
                      <a:srgbClr val="1F3A5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Aprovar fornecedor Y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Sponsor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05/09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Em andamento</a:t>
                      </a:r>
                    </a:p>
                  </a:txBody>
                  <a:tcPr anchor="ctr" marL="73152" marR="73152">
                    <a:solidFill>
                      <a:srgbClr val="F9A82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Replanejar testes</a:t>
                      </a:r>
                    </a:p>
                  </a:txBody>
                  <a:tcPr anchor="ctr" marL="73152" marR="73152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GP</a:t>
                      </a:r>
                    </a:p>
                  </a:txBody>
                  <a:tcPr anchor="ctr" marL="73152" marR="73152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10/09</a:t>
                      </a:r>
                    </a:p>
                  </a:txBody>
                  <a:tcPr anchor="ctr" marL="73152" marR="73152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8C8C8C"/>
                          </a:solidFill>
                          <a:latin typeface="Calibri"/>
                        </a:rPr>
                        <a:t>Não iniciada</a:t>
                      </a:r>
                    </a:p>
                  </a:txBody>
                  <a:tcPr anchor="ctr" marL="73152" marR="73152">
                    <a:solidFill>
                      <a:srgbClr val="F2F2F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Treinar turno C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Supervisor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28/08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Atrasada</a:t>
                      </a:r>
                    </a:p>
                  </a:txBody>
                  <a:tcPr anchor="ctr" marL="73152" marR="73152">
                    <a:solidFill>
                      <a:srgbClr val="C6282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Mapear processo atual</a:t>
                      </a:r>
                    </a:p>
                  </a:txBody>
                  <a:tcPr anchor="ctr" marL="73152" marR="73152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Carlos</a:t>
                      </a:r>
                    </a:p>
                  </a:txBody>
                  <a:tcPr anchor="ctr" marL="73152" marR="73152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20/08</a:t>
                      </a:r>
                    </a:p>
                  </a:txBody>
                  <a:tcPr anchor="ctr" marL="73152" marR="73152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Concluída</a:t>
                      </a:r>
                    </a:p>
                  </a:txBody>
                  <a:tcPr anchor="ctr" marL="73152" marR="73152">
                    <a:solidFill>
                      <a:srgbClr val="2E7D32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457200" y="5394960"/>
            <a:ext cx="11274552" cy="685800"/>
          </a:xfrm>
          <a:prstGeom prst="rect">
            <a:avLst/>
          </a:prstGeom>
          <a:solidFill>
            <a:srgbClr val="FFF3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" y="5394960"/>
            <a:ext cx="73152" cy="685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5394960"/>
            <a:ext cx="10881360" cy="6858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600" b="0" i="0">
                <a:solidFill>
                  <a:srgbClr val="333333"/>
                </a:solidFill>
                <a:latin typeface="Calibri"/>
              </a:rPr>
              <a:t/>
            </a:r>
            <a:r>
              <a:rPr sz="1600" b="1" i="0">
                <a:solidFill>
                  <a:srgbClr val="F2A900"/>
                </a:solidFill>
                <a:latin typeface="Calibri"/>
              </a:rPr>
              <a:t>Decisão pedida: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Aprovar o fornecedor Y como plano B (R$ 40 mil adicionais)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621792"/>
            <a:ext cx="11274552" cy="822960"/>
          </a:xfrm>
        </p:spPr>
        <p:txBody>
          <a:bodyPr wrap="square" anchor="t" lIns="45720" rIns="45720"/>
          <a:lstStyle/>
          <a:p>
            <a:pPr algn="l"/>
            <a:r>
              <a:rPr sz="2800" b="1" i="0">
                <a:solidFill>
                  <a:srgbClr val="1F3A5F"/>
                </a:solidFill>
                <a:latin typeface="Calibri"/>
              </a:rPr>
              <a:t>Quadro de decisões editável (headers alternativos)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7315200" cy="228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900" b="1" i="0">
                <a:solidFill>
                  <a:srgbClr val="8C8C8C"/>
                </a:solidFill>
                <a:latin typeface="Calibri"/>
              </a:rPr>
              <a:t>EMPRESA EXEMPLO  |  CATÁLOGO DE MODELOS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91440"/>
            <a:ext cx="3959352" cy="228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900" b="0" i="0">
                <a:solidFill>
                  <a:srgbClr val="8C8C8C"/>
                </a:solidFill>
                <a:latin typeface="Calibri"/>
              </a:rPr>
              <a:t>set/2026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"/>
            <a:ext cx="11274552" cy="256032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/>
            <a:r>
              <a:rPr sz="1000" b="1" i="0">
                <a:solidFill>
                  <a:srgbClr val="4F81BD"/>
                </a:solidFill>
                <a:latin typeface="Calibri"/>
              </a:rPr>
              <a:t>FECHAMENTO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217920"/>
            <a:ext cx="8531352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000" b="0" i="0">
                <a:solidFill>
                  <a:srgbClr val="8C8C8C"/>
                </a:solidFill>
                <a:latin typeface="Calibri"/>
              </a:rPr>
              <a:t>Uso interno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17352" y="6217920"/>
            <a:ext cx="91440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8C8C8C"/>
                </a:solidFill>
                <a:latin typeface="Calibri"/>
              </a:rPr>
              <a:t>30</a:t>
            </a:r>
          </a:p>
        </p:txBody>
      </p:sp>
      <p:pic>
        <p:nvPicPr>
          <p:cNvPr id="8" name="Picture 7" descr="logo-placehol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92640" y="6245352"/>
            <a:ext cx="822960" cy="27432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457200" y="5349240"/>
            <a:ext cx="11274552" cy="731520"/>
          </a:xfrm>
          <a:prstGeom prst="rect">
            <a:avLst/>
          </a:prstGeom>
          <a:solidFill>
            <a:srgbClr val="EA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5349240"/>
            <a:ext cx="73152" cy="731520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5349240"/>
            <a:ext cx="2103120" cy="7315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000" b="1" i="0">
                <a:solidFill>
                  <a:srgbClr val="2E7D32"/>
                </a:solidFill>
                <a:latin typeface="Calibri"/>
              </a:rPr>
              <a:t>CRITÉRIO DE SAÍDA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88920" y="5349240"/>
            <a:ext cx="8759952" cy="7315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400" b="1" i="0">
                <a:solidFill>
                  <a:srgbClr val="333333"/>
                </a:solidFill>
                <a:latin typeface="Calibri"/>
              </a:rPr>
              <a:t>Cada tema relevante precisa de decisão ou de um responsável por fechar a pendência.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457200" y="1737360"/>
          <a:ext cx="11274552" cy="228600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5943600"/>
                <a:gridCol w="1828800"/>
                <a:gridCol w="1371600"/>
                <a:gridCol w="2130552"/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Decisão / direcionamento</a:t>
                      </a:r>
                    </a:p>
                  </a:txBody>
                  <a:tcPr anchor="ctr" marL="73152" marR="73152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Responsável</a:t>
                      </a:r>
                    </a:p>
                  </a:txBody>
                  <a:tcPr anchor="ctr" marL="73152" marR="73152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Prazo</a:t>
                      </a:r>
                    </a:p>
                  </a:txBody>
                  <a:tcPr anchor="ctr" marL="73152" marR="73152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Pendência</a:t>
                      </a:r>
                    </a:p>
                  </a:txBody>
                  <a:tcPr anchor="ctr" marL="73152" marR="73152">
                    <a:solidFill>
                      <a:srgbClr val="1F3A5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01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02</a:t>
                      </a:r>
                    </a:p>
                  </a:txBody>
                  <a:tcPr anchor="ctr" marL="73152" marR="73152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73152" marR="73152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73152" marR="73152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73152" marR="73152">
                    <a:solidFill>
                      <a:srgbClr val="F2F2F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03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04</a:t>
                      </a:r>
                    </a:p>
                  </a:txBody>
                  <a:tcPr anchor="ctr" marL="73152" marR="73152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73152" marR="73152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73152" marR="73152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73152" marR="73152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3A5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011680"/>
            <a:ext cx="1828800" cy="9144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6000" b="1" i="0">
                <a:solidFill>
                  <a:srgbClr val="F2A900"/>
                </a:solidFill>
                <a:latin typeface="Calibri"/>
              </a:rPr>
              <a:t>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017520"/>
            <a:ext cx="1069848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  <a:latin typeface="Calibri"/>
              </a:rPr>
              <a:t>Anexos</a:t>
            </a:r>
          </a:p>
        </p:txBody>
      </p:sp>
      <p:pic>
        <p:nvPicPr>
          <p:cNvPr id="4" name="Picture 3" descr="logo-placeholder-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07040" y="457200"/>
            <a:ext cx="1097280" cy="365760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621792"/>
            <a:ext cx="11274552" cy="822960"/>
          </a:xfrm>
        </p:spPr>
        <p:txBody>
          <a:bodyPr wrap="square" anchor="t" lIns="45720" rIns="45720"/>
          <a:lstStyle/>
          <a:p>
            <a:pPr algn="l"/>
            <a:r>
              <a:rPr sz="2800" b="1" i="0">
                <a:solidFill>
                  <a:srgbClr val="1F3A5F"/>
                </a:solidFill>
                <a:latin typeface="Calibri"/>
              </a:rPr>
              <a:t>Tabela longa paginada automaticamente (25 linhas) (1/3)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7315200" cy="228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900" b="1" i="0">
                <a:solidFill>
                  <a:srgbClr val="8C8C8C"/>
                </a:solidFill>
                <a:latin typeface="Calibri"/>
              </a:rPr>
              <a:t>EMPRESA EXEMPLO  |  CATÁLOGO DE MODELOS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91440"/>
            <a:ext cx="3959352" cy="228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900" b="0" i="0">
                <a:solidFill>
                  <a:srgbClr val="8C8C8C"/>
                </a:solidFill>
                <a:latin typeface="Calibri"/>
              </a:rPr>
              <a:t>set/2026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"/>
            <a:ext cx="11274552" cy="256032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/>
            <a:r>
              <a:rPr sz="1000" b="1" i="0">
                <a:solidFill>
                  <a:srgbClr val="4F81BD"/>
                </a:solidFill>
                <a:latin typeface="Calibri"/>
              </a:rPr>
              <a:t>ANEXO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217920"/>
            <a:ext cx="8531352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000" b="0" i="0">
                <a:solidFill>
                  <a:srgbClr val="8C8C8C"/>
                </a:solidFill>
                <a:latin typeface="Calibri"/>
              </a:rPr>
              <a:t>Fonte: Base de portfólio (exemplo)   |   Uso interno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17352" y="6217920"/>
            <a:ext cx="91440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8C8C8C"/>
                </a:solidFill>
                <a:latin typeface="Calibri"/>
              </a:rPr>
              <a:t>32</a:t>
            </a:r>
          </a:p>
        </p:txBody>
      </p:sp>
      <p:pic>
        <p:nvPicPr>
          <p:cNvPr id="8" name="Picture 7" descr="logo-placehol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92640" y="6245352"/>
            <a:ext cx="822960" cy="274320"/>
          </a:xfrm>
          <a:prstGeom prst="rect">
            <a:avLst/>
          </a:prstGeom>
        </p:spPr>
      </p:pic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57200" y="1737360"/>
          <a:ext cx="11274552" cy="438912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879092"/>
                <a:gridCol w="1879092"/>
                <a:gridCol w="1879092"/>
                <a:gridCol w="1879092"/>
                <a:gridCol w="1879092"/>
                <a:gridCol w="1879092"/>
              </a:tblGrid>
              <a:tr h="399010">
                <a:tc>
                  <a:txBody>
                    <a:bodyPr wrap="square"/>
                    <a:lstStyle/>
                    <a:p>
                      <a:pPr algn="l"/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ID</a:t>
                      </a:r>
                    </a:p>
                  </a:txBody>
                  <a:tcPr marL="73152" marR="73152" marT="27432" marB="27432" anchor="ctr">
                    <a:solidFill>
                      <a:srgbClr val="1F3A5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Projeto</a:t>
                      </a:r>
                    </a:p>
                  </a:txBody>
                  <a:tcPr marL="73152" marR="73152" marT="27432" marB="27432" anchor="ctr">
                    <a:solidFill>
                      <a:srgbClr val="1F3A5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Status</a:t>
                      </a:r>
                    </a:p>
                  </a:txBody>
                  <a:tcPr marL="73152" marR="73152" marT="27432" marB="27432" anchor="ctr">
                    <a:solidFill>
                      <a:srgbClr val="1F3A5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Risco</a:t>
                      </a:r>
                    </a:p>
                  </a:txBody>
                  <a:tcPr marL="73152" marR="73152" marT="27432" marB="27432" anchor="ctr">
                    <a:solidFill>
                      <a:srgbClr val="1F3A5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Conclusão</a:t>
                      </a:r>
                    </a:p>
                  </a:txBody>
                  <a:tcPr marL="73152" marR="73152" marT="27432" marB="27432" anchor="ctr">
                    <a:solidFill>
                      <a:srgbClr val="1F3A5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Orçamento</a:t>
                      </a:r>
                    </a:p>
                  </a:txBody>
                  <a:tcPr marL="73152" marR="73152" marT="27432" marB="27432" anchor="ctr">
                    <a:solidFill>
                      <a:srgbClr val="1F3A5F"/>
                    </a:solidFill>
                  </a:tcPr>
                </a:tc>
              </a:tr>
              <a:tr h="399010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P-001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Projeto 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Em andamento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Médio</a:t>
                      </a:r>
                    </a:p>
                  </a:txBody>
                  <a:tcPr marL="73152" marR="73152" marT="27432" marB="27432" anchor="ctr">
                    <a:solidFill>
                      <a:srgbClr val="F9A82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31%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R$ 1,1 mi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99010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P-002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Projeto 2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Em andamento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Médio</a:t>
                      </a:r>
                    </a:p>
                  </a:txBody>
                  <a:tcPr marL="73152" marR="73152" marT="27432" marB="27432" anchor="ctr">
                    <a:solidFill>
                      <a:srgbClr val="F9A82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32%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R$ 1,2 mi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</a:tr>
              <a:tr h="399010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P-003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Projeto 3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Validação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Médio</a:t>
                      </a:r>
                    </a:p>
                  </a:txBody>
                  <a:tcPr marL="73152" marR="73152" marT="27432" marB="27432" anchor="ctr">
                    <a:solidFill>
                      <a:srgbClr val="F9A82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33%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R$ 1,3 mi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99010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P-004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Projeto 4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Em andamento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Alto</a:t>
                      </a:r>
                    </a:p>
                  </a:txBody>
                  <a:tcPr marL="73152" marR="73152" marT="27432" marB="27432" anchor="ctr">
                    <a:solidFill>
                      <a:srgbClr val="C6282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34%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R$ 1,4 mi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</a:tr>
              <a:tr h="399010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P-005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Projeto 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Em andamento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Médio</a:t>
                      </a:r>
                    </a:p>
                  </a:txBody>
                  <a:tcPr marL="73152" marR="73152" marT="27432" marB="27432" anchor="ctr">
                    <a:solidFill>
                      <a:srgbClr val="F9A82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35%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R$ 1,5 mi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99010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P-006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Projeto 6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Validação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Médio</a:t>
                      </a:r>
                    </a:p>
                  </a:txBody>
                  <a:tcPr marL="73152" marR="73152" marT="27432" marB="27432" anchor="ctr">
                    <a:solidFill>
                      <a:srgbClr val="F9A82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36%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R$ 1,6 mi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</a:tr>
              <a:tr h="399010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P-007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Projeto 7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Em andamento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Médio</a:t>
                      </a:r>
                    </a:p>
                  </a:txBody>
                  <a:tcPr marL="73152" marR="73152" marT="27432" marB="27432" anchor="ctr">
                    <a:solidFill>
                      <a:srgbClr val="F9A82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37%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R$ 1,7 mi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99010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P-008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Projeto 8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Em andamento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Alto</a:t>
                      </a:r>
                    </a:p>
                  </a:txBody>
                  <a:tcPr marL="73152" marR="73152" marT="27432" marB="27432" anchor="ctr">
                    <a:solidFill>
                      <a:srgbClr val="C6282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38%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R$ 1,8 mi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</a:tr>
              <a:tr h="399010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P-009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Projeto 9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Validação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Médio</a:t>
                      </a:r>
                    </a:p>
                  </a:txBody>
                  <a:tcPr marL="73152" marR="73152" marT="27432" marB="27432" anchor="ctr">
                    <a:solidFill>
                      <a:srgbClr val="F9A82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39%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R$ 1,9 mi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99020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P-010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Projeto 10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Em andamento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Médio</a:t>
                      </a:r>
                    </a:p>
                  </a:txBody>
                  <a:tcPr marL="73152" marR="73152" marT="27432" marB="27432" anchor="ctr">
                    <a:solidFill>
                      <a:srgbClr val="F9A82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40%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R$ 2,0 mi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621792"/>
            <a:ext cx="11274552" cy="822960"/>
          </a:xfrm>
        </p:spPr>
        <p:txBody>
          <a:bodyPr wrap="square" anchor="t" lIns="45720" rIns="45720"/>
          <a:lstStyle/>
          <a:p>
            <a:pPr algn="l"/>
            <a:r>
              <a:rPr sz="2800" b="1" i="0">
                <a:solidFill>
                  <a:srgbClr val="1F3A5F"/>
                </a:solidFill>
                <a:latin typeface="Calibri"/>
              </a:rPr>
              <a:t>Tabela longa paginada automaticamente (25 linhas) (2/3)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7315200" cy="228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900" b="1" i="0">
                <a:solidFill>
                  <a:srgbClr val="8C8C8C"/>
                </a:solidFill>
                <a:latin typeface="Calibri"/>
              </a:rPr>
              <a:t>EMPRESA EXEMPLO  |  CATÁLOGO DE MODELOS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91440"/>
            <a:ext cx="3959352" cy="228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900" b="0" i="0">
                <a:solidFill>
                  <a:srgbClr val="8C8C8C"/>
                </a:solidFill>
                <a:latin typeface="Calibri"/>
              </a:rPr>
              <a:t>set/2026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"/>
            <a:ext cx="11274552" cy="256032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/>
            <a:r>
              <a:rPr sz="1000" b="1" i="0">
                <a:solidFill>
                  <a:srgbClr val="4F81BD"/>
                </a:solidFill>
                <a:latin typeface="Calibri"/>
              </a:rPr>
              <a:t>ANEXO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217920"/>
            <a:ext cx="8531352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000" b="0" i="0">
                <a:solidFill>
                  <a:srgbClr val="8C8C8C"/>
                </a:solidFill>
                <a:latin typeface="Calibri"/>
              </a:rPr>
              <a:t>Fonte: Base de portfólio (exemplo)   |   Uso interno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17352" y="6217920"/>
            <a:ext cx="91440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8C8C8C"/>
                </a:solidFill>
                <a:latin typeface="Calibri"/>
              </a:rPr>
              <a:t>33</a:t>
            </a:r>
          </a:p>
        </p:txBody>
      </p:sp>
      <p:pic>
        <p:nvPicPr>
          <p:cNvPr id="8" name="Picture 7" descr="logo-placehol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92640" y="6245352"/>
            <a:ext cx="822960" cy="274320"/>
          </a:xfrm>
          <a:prstGeom prst="rect">
            <a:avLst/>
          </a:prstGeom>
        </p:spPr>
      </p:pic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57200" y="1737360"/>
          <a:ext cx="11274552" cy="438912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879092"/>
                <a:gridCol w="1879092"/>
                <a:gridCol w="1879092"/>
                <a:gridCol w="1879092"/>
                <a:gridCol w="1879092"/>
                <a:gridCol w="1879092"/>
              </a:tblGrid>
              <a:tr h="399010">
                <a:tc>
                  <a:txBody>
                    <a:bodyPr wrap="square"/>
                    <a:lstStyle/>
                    <a:p>
                      <a:pPr algn="l"/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ID</a:t>
                      </a:r>
                    </a:p>
                  </a:txBody>
                  <a:tcPr marL="73152" marR="73152" marT="27432" marB="27432" anchor="ctr">
                    <a:solidFill>
                      <a:srgbClr val="1F3A5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Projeto</a:t>
                      </a:r>
                    </a:p>
                  </a:txBody>
                  <a:tcPr marL="73152" marR="73152" marT="27432" marB="27432" anchor="ctr">
                    <a:solidFill>
                      <a:srgbClr val="1F3A5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Status</a:t>
                      </a:r>
                    </a:p>
                  </a:txBody>
                  <a:tcPr marL="73152" marR="73152" marT="27432" marB="27432" anchor="ctr">
                    <a:solidFill>
                      <a:srgbClr val="1F3A5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Risco</a:t>
                      </a:r>
                    </a:p>
                  </a:txBody>
                  <a:tcPr marL="73152" marR="73152" marT="27432" marB="27432" anchor="ctr">
                    <a:solidFill>
                      <a:srgbClr val="1F3A5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Conclusão</a:t>
                      </a:r>
                    </a:p>
                  </a:txBody>
                  <a:tcPr marL="73152" marR="73152" marT="27432" marB="27432" anchor="ctr">
                    <a:solidFill>
                      <a:srgbClr val="1F3A5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Orçamento</a:t>
                      </a:r>
                    </a:p>
                  </a:txBody>
                  <a:tcPr marL="73152" marR="73152" marT="27432" marB="27432" anchor="ctr">
                    <a:solidFill>
                      <a:srgbClr val="1F3A5F"/>
                    </a:solidFill>
                  </a:tcPr>
                </a:tc>
              </a:tr>
              <a:tr h="399010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P-011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Projeto 11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Em andamento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Médio</a:t>
                      </a:r>
                    </a:p>
                  </a:txBody>
                  <a:tcPr marL="73152" marR="73152" marT="27432" marB="27432" anchor="ctr">
                    <a:solidFill>
                      <a:srgbClr val="F9A82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41%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R$ 2,1 mi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99010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P-012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Projeto 12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Validação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Alto</a:t>
                      </a:r>
                    </a:p>
                  </a:txBody>
                  <a:tcPr marL="73152" marR="73152" marT="27432" marB="27432" anchor="ctr">
                    <a:solidFill>
                      <a:srgbClr val="C6282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42%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R$ 2,2 mi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</a:tr>
              <a:tr h="399010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P-013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Projeto 13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Em andamento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Médio</a:t>
                      </a:r>
                    </a:p>
                  </a:txBody>
                  <a:tcPr marL="73152" marR="73152" marT="27432" marB="27432" anchor="ctr">
                    <a:solidFill>
                      <a:srgbClr val="F9A82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43%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R$ 2,3 mi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99010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P-014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Projeto 14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Em andamento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Médio</a:t>
                      </a:r>
                    </a:p>
                  </a:txBody>
                  <a:tcPr marL="73152" marR="73152" marT="27432" marB="27432" anchor="ctr">
                    <a:solidFill>
                      <a:srgbClr val="F9A82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44%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R$ 2,4 mi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</a:tr>
              <a:tr h="399010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P-015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Projeto 15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Validação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Médio</a:t>
                      </a:r>
                    </a:p>
                  </a:txBody>
                  <a:tcPr marL="73152" marR="73152" marT="27432" marB="27432" anchor="ctr">
                    <a:solidFill>
                      <a:srgbClr val="F9A82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45%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R$ 2,5 mi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99010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P-016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Projeto 16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Em andamento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Alto</a:t>
                      </a:r>
                    </a:p>
                  </a:txBody>
                  <a:tcPr marL="73152" marR="73152" marT="27432" marB="27432" anchor="ctr">
                    <a:solidFill>
                      <a:srgbClr val="C6282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46%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R$ 2,6 mi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</a:tr>
              <a:tr h="399010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P-017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Projeto 17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Em andamento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Médio</a:t>
                      </a:r>
                    </a:p>
                  </a:txBody>
                  <a:tcPr marL="73152" marR="73152" marT="27432" marB="27432" anchor="ctr">
                    <a:solidFill>
                      <a:srgbClr val="F9A82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47%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R$ 2,7 mi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99010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P-018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Projeto 18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Validação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Médio</a:t>
                      </a:r>
                    </a:p>
                  </a:txBody>
                  <a:tcPr marL="73152" marR="73152" marT="27432" marB="27432" anchor="ctr">
                    <a:solidFill>
                      <a:srgbClr val="F9A82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48%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R$ 2,8 mi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</a:tr>
              <a:tr h="399010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P-019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Projeto 19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Em andamento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Médio</a:t>
                      </a:r>
                    </a:p>
                  </a:txBody>
                  <a:tcPr marL="73152" marR="73152" marT="27432" marB="27432" anchor="ctr">
                    <a:solidFill>
                      <a:srgbClr val="F9A82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49%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R$ 2,9 mi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99020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P-020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Projeto 20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Em andamento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Alto</a:t>
                      </a:r>
                    </a:p>
                  </a:txBody>
                  <a:tcPr marL="73152" marR="73152" marT="27432" marB="27432" anchor="ctr">
                    <a:solidFill>
                      <a:srgbClr val="C6282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50%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R$ 3,0 mi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621792"/>
            <a:ext cx="11274552" cy="822960"/>
          </a:xfrm>
        </p:spPr>
        <p:txBody>
          <a:bodyPr wrap="square" anchor="t" lIns="45720" rIns="45720"/>
          <a:lstStyle/>
          <a:p>
            <a:pPr algn="l"/>
            <a:r>
              <a:rPr sz="2800" b="1" i="0">
                <a:solidFill>
                  <a:srgbClr val="1F3A5F"/>
                </a:solidFill>
                <a:latin typeface="Calibri"/>
              </a:rPr>
              <a:t>Tabela longa paginada automaticamente (25 linhas) (3/3)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7315200" cy="228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900" b="1" i="0">
                <a:solidFill>
                  <a:srgbClr val="8C8C8C"/>
                </a:solidFill>
                <a:latin typeface="Calibri"/>
              </a:rPr>
              <a:t>EMPRESA EXEMPLO  |  CATÁLOGO DE MODELOS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91440"/>
            <a:ext cx="3959352" cy="228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900" b="0" i="0">
                <a:solidFill>
                  <a:srgbClr val="8C8C8C"/>
                </a:solidFill>
                <a:latin typeface="Calibri"/>
              </a:rPr>
              <a:t>set/2026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"/>
            <a:ext cx="11274552" cy="256032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/>
            <a:r>
              <a:rPr sz="1000" b="1" i="0">
                <a:solidFill>
                  <a:srgbClr val="4F81BD"/>
                </a:solidFill>
                <a:latin typeface="Calibri"/>
              </a:rPr>
              <a:t>ANEXO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217920"/>
            <a:ext cx="8531352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000" b="0" i="0">
                <a:solidFill>
                  <a:srgbClr val="8C8C8C"/>
                </a:solidFill>
                <a:latin typeface="Calibri"/>
              </a:rPr>
              <a:t>Fonte: Base de portfólio (exemplo)   |   Uso interno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17352" y="6217920"/>
            <a:ext cx="91440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8C8C8C"/>
                </a:solidFill>
                <a:latin typeface="Calibri"/>
              </a:rPr>
              <a:t>34</a:t>
            </a:r>
          </a:p>
        </p:txBody>
      </p:sp>
      <p:pic>
        <p:nvPicPr>
          <p:cNvPr id="8" name="Picture 7" descr="logo-placehol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92640" y="6245352"/>
            <a:ext cx="822960" cy="274320"/>
          </a:xfrm>
          <a:prstGeom prst="rect">
            <a:avLst/>
          </a:prstGeom>
        </p:spPr>
      </p:pic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57200" y="1737360"/>
          <a:ext cx="11274552" cy="274320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879092"/>
                <a:gridCol w="1879092"/>
                <a:gridCol w="1879092"/>
                <a:gridCol w="1879092"/>
                <a:gridCol w="1879092"/>
                <a:gridCol w="1879092"/>
              </a:tblGrid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ID</a:t>
                      </a:r>
                    </a:p>
                  </a:txBody>
                  <a:tcPr marL="73152" marR="73152" marT="27432" marB="27432" anchor="ctr">
                    <a:solidFill>
                      <a:srgbClr val="1F3A5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Projeto</a:t>
                      </a:r>
                    </a:p>
                  </a:txBody>
                  <a:tcPr marL="73152" marR="73152" marT="27432" marB="27432" anchor="ctr">
                    <a:solidFill>
                      <a:srgbClr val="1F3A5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Status</a:t>
                      </a:r>
                    </a:p>
                  </a:txBody>
                  <a:tcPr marL="73152" marR="73152" marT="27432" marB="27432" anchor="ctr">
                    <a:solidFill>
                      <a:srgbClr val="1F3A5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Risco</a:t>
                      </a:r>
                    </a:p>
                  </a:txBody>
                  <a:tcPr marL="73152" marR="73152" marT="27432" marB="27432" anchor="ctr">
                    <a:solidFill>
                      <a:srgbClr val="1F3A5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Conclusão</a:t>
                      </a:r>
                    </a:p>
                  </a:txBody>
                  <a:tcPr marL="73152" marR="73152" marT="27432" marB="27432" anchor="ctr">
                    <a:solidFill>
                      <a:srgbClr val="1F3A5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Orçamento</a:t>
                      </a:r>
                    </a:p>
                  </a:txBody>
                  <a:tcPr marL="73152" marR="73152" marT="27432" marB="27432" anchor="ctr">
                    <a:solidFill>
                      <a:srgbClr val="1F3A5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P-021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Projeto 21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Validação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Médio</a:t>
                      </a:r>
                    </a:p>
                  </a:txBody>
                  <a:tcPr marL="73152" marR="73152" marT="27432" marB="27432" anchor="ctr">
                    <a:solidFill>
                      <a:srgbClr val="F9A82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51%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R$ 3,1 mi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P-022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Projeto 22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Em andamento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Médio</a:t>
                      </a:r>
                    </a:p>
                  </a:txBody>
                  <a:tcPr marL="73152" marR="73152" marT="27432" marB="27432" anchor="ctr">
                    <a:solidFill>
                      <a:srgbClr val="F9A82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52%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R$ 3,2 mi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P-023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Projeto 23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Em andamento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Médio</a:t>
                      </a:r>
                    </a:p>
                  </a:txBody>
                  <a:tcPr marL="73152" marR="73152" marT="27432" marB="27432" anchor="ctr">
                    <a:solidFill>
                      <a:srgbClr val="F9A82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53%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R$ 3,3 mi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P-024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Projeto 24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Validação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Alto</a:t>
                      </a:r>
                    </a:p>
                  </a:txBody>
                  <a:tcPr marL="73152" marR="73152" marT="27432" marB="27432" anchor="ctr">
                    <a:solidFill>
                      <a:srgbClr val="C6282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54%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R$ 3,4 mi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P-025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Projeto 25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Em andamento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Médio</a:t>
                      </a:r>
                    </a:p>
                  </a:txBody>
                  <a:tcPr marL="73152" marR="73152" marT="27432" marB="27432" anchor="ctr">
                    <a:solidFill>
                      <a:srgbClr val="F9A82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55%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R$ 3,5 mi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73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377440"/>
            <a:ext cx="10698480" cy="128016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/>
            <a:r>
              <a:rPr sz="3800" b="1" i="0">
                <a:solidFill>
                  <a:srgbClr val="FFFFFF"/>
                </a:solidFill>
                <a:latin typeface="Calibri"/>
              </a:rPr>
              <a:t>Próxima revisão: 15/09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749039"/>
            <a:ext cx="1069848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900" b="0" i="0">
                <a:solidFill>
                  <a:srgbClr val="D9E1EA"/>
                </a:solidFill>
                <a:latin typeface="Calibri"/>
              </a:rPr>
              <a:t>pmo@empresa.com | Anexos: cronograma completo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309360"/>
            <a:ext cx="12191695" cy="54864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-placeholder-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32720" y="457200"/>
            <a:ext cx="1371600" cy="4572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