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Receita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F2A900"/>
              </a:solidFill>
            </c:spPr>
          </c:dPt>
          <c:cat>
            <c:strRef>
              <c:f>Sheet1!$A$2:$A$5</c:f>
              <c:strCache>
                <c:ptCount val="4"/>
                <c:pt idx="0">
                  <c:v>Sudeste</c:v>
                </c:pt>
                <c:pt idx="1">
                  <c:v>Sul</c:v>
                </c:pt>
                <c:pt idx="2">
                  <c:v>Nordeste</c:v>
                </c:pt>
                <c:pt idx="3">
                  <c:v>Centro-Oeste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2.0</c:v>
                </c:pt>
                <c:pt idx="1">
                  <c:v>1.35</c:v>
                </c:pt>
                <c:pt idx="2">
                  <c:v>0.8</c:v>
                </c:pt>
                <c:pt idx="3">
                  <c:v>0.58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33333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ln w="31750">
              <a:solidFill>
                <a:srgbClr val="8C8C8C"/>
              </a:solidFill>
              <a:prstDash val="dash"/>
            </a:ln>
          </c:spPr>
          <c:marker>
            <c:spPr>
              <a:solidFill>
                <a:srgbClr val="8C8C8C"/>
              </a:solidFill>
              <a:ln>
                <a:solidFill>
                  <a:srgbClr val="8C8C8C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S28</c:v>
                </c:pt>
                <c:pt idx="1">
                  <c:v>S29</c:v>
                </c:pt>
                <c:pt idx="2">
                  <c:v>S30</c:v>
                </c:pt>
                <c:pt idx="3">
                  <c:v>S31</c:v>
                </c:pt>
                <c:pt idx="4">
                  <c:v>S32</c:v>
                </c:pt>
                <c:pt idx="5">
                  <c:v>S33</c:v>
                </c:pt>
                <c:pt idx="6">
                  <c:v>S34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  <c:pt idx="4">
                  <c:v>60</c:v>
                </c:pt>
                <c:pt idx="5">
                  <c:v>64</c:v>
                </c:pt>
                <c:pt idx="6">
                  <c:v>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ln w="31750">
              <a:solidFill>
                <a:srgbClr val="4F81BD"/>
              </a:solidFill>
            </a:ln>
          </c:spPr>
          <c:marker>
            <c:spPr>
              <a:solidFill>
                <a:srgbClr val="4F81BD"/>
              </a:solidFill>
              <a:ln>
                <a:solidFill>
                  <a:srgbClr val="4F81BD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S28</c:v>
                </c:pt>
                <c:pt idx="1">
                  <c:v>S29</c:v>
                </c:pt>
                <c:pt idx="2">
                  <c:v>S30</c:v>
                </c:pt>
                <c:pt idx="3">
                  <c:v>S31</c:v>
                </c:pt>
                <c:pt idx="4">
                  <c:v>S32</c:v>
                </c:pt>
                <c:pt idx="5">
                  <c:v>S33</c:v>
                </c:pt>
                <c:pt idx="6">
                  <c:v>S34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40</c:v>
                </c:pt>
                <c:pt idx="1">
                  <c:v>44</c:v>
                </c:pt>
                <c:pt idx="2">
                  <c:v>48</c:v>
                </c:pt>
                <c:pt idx="3">
                  <c:v>52</c:v>
                </c:pt>
                <c:pt idx="4">
                  <c:v>56</c:v>
                </c:pt>
                <c:pt idx="5">
                  <c:v>59</c:v>
                </c:pt>
                <c:pt idx="6">
                  <c:v>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Produto A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1T</c:v>
                </c:pt>
                <c:pt idx="1">
                  <c:v>2T</c:v>
                </c:pt>
                <c:pt idx="2">
                  <c:v>3T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12</c:v>
                </c:pt>
                <c:pt idx="2">
                  <c:v>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Produto B</c:v>
                </c:pt>
              </c:strCache>
            </c:strRef>
          </c:tx>
          <c:spPr>
            <a:solidFill>
              <a:srgbClr val="4F81B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1T</c:v>
                </c:pt>
                <c:pt idx="1">
                  <c:v>2T</c:v>
                </c:pt>
                <c:pt idx="2">
                  <c:v>3T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</c:v>
                </c:pt>
                <c:pt idx="1">
                  <c:v>7</c:v>
                </c:pt>
                <c:pt idx="2">
                  <c:v>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Serviços</c:v>
                </c:pt>
              </c:strCache>
            </c:strRef>
          </c:tx>
          <c:spPr>
            <a:solidFill>
              <a:srgbClr val="F2A9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1T</c:v>
                </c:pt>
                <c:pt idx="1">
                  <c:v>2T</c:v>
                </c:pt>
                <c:pt idx="2">
                  <c:v>3T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dPt>
            <c:idx val="0"/>
            <c:spPr>
              <a:solidFill>
                <a:srgbClr val="1F3A5F"/>
              </a:solidFill>
            </c:spPr>
          </c:dPt>
          <c:dPt>
            <c:idx val="1"/>
            <c:spPr>
              <a:solidFill>
                <a:srgbClr val="4F81BD"/>
              </a:solidFill>
            </c:spPr>
          </c:dPt>
          <c:dPt>
            <c:idx val="2"/>
            <c:spPr>
              <a:solidFill>
                <a:srgbClr val="F2A900"/>
              </a:solidFill>
            </c:spPr>
          </c:dPt>
          <c:dPt>
            <c:idx val="3"/>
            <c:spPr>
              <a:solidFill>
                <a:srgbClr val="8C8C8C"/>
              </a:solidFill>
            </c:spPr>
          </c:dPt>
          <c:cat>
            <c:strRef>
              <c:f>Sheet1!$A$2:$A$5</c:f>
              <c:strCache>
                <c:ptCount val="4"/>
                <c:pt idx="0">
                  <c:v>Troca de ferramenta</c:v>
                </c:pt>
                <c:pt idx="1">
                  <c:v>Falta de material</c:v>
                </c:pt>
                <c:pt idx="2">
                  <c:v>Falha hidráulica</c:v>
                </c:pt>
                <c:pt idx="3">
                  <c:v>Outros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95</c:v>
                </c:pt>
                <c:pt idx="2">
                  <c:v>50</c:v>
                </c:pt>
                <c:pt idx="3">
                  <c:v>45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333333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de teste: exercita todos os modelos.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Catálogo de modelos de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Um slide de cada tipo suportado pela spec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Calibri"/>
              </a:rPr>
              <a:t>Uso interno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5544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Abertura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5544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5 min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402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Dados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2402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15 min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9260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Estrutura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9260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10 min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118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Fechamento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6118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Abertura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9E1EA"/>
                </a:solidFill>
                <a:latin typeface="Calibri"/>
              </a:rPr>
              <a:t>Sumário, KPIs e número grande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build_examples.py   |   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Todos os 17 modelos geram slides dentro do grid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Título no placeholder nativo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Rodapé com fonte e página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Cores só por papel da paleta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/>
            </a:r>
            <a:r>
              <a:rPr sz="1600" b="1" i="0">
                <a:solidFill>
                  <a:srgbClr val="F2A900"/>
                </a:solidFill>
                <a:latin typeface="Calibri"/>
              </a:rPr>
              <a:t>Pedimos: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Revisar visualmente e ajustar coordenadas se necessário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Seis KPIs cabem em uma linha com fonte reduzida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MES   |   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650492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SEGURANÇA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142 dias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82012" y="155448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82012" y="1554480"/>
            <a:ext cx="1650492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9172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PRODUÇÃO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9172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4.120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9172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meta 4.500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06824" y="155448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6824" y="1554480"/>
            <a:ext cx="1650492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3984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QUALIDADE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1,8%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4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meta 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1636" y="155448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1554480"/>
            <a:ext cx="1650492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8796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OEE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68%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meta 75%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56448" y="155448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6448" y="1554480"/>
            <a:ext cx="1650492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3608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OTIF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96%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meta 95%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81260" y="155448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81260" y="1554480"/>
            <a:ext cx="1650492" cy="731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8420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CUSTO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18420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1" i="0">
                <a:solidFill>
                  <a:srgbClr val="333333"/>
                </a:solidFill>
                <a:latin typeface="Calibri"/>
              </a:rPr>
              <a:t>R$ 1,2 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18420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8C8C8C"/>
                </a:solidFill>
                <a:latin typeface="Calibri"/>
              </a:rPr>
              <a:t>no orçamento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023359"/>
            <a:ext cx="11274552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Contexto opcional abaixo dos cartões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Segunda linha de contexto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Um número que é a mensagem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Faturas 2025   |   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1274552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8000" b="1" i="0">
                <a:solidFill>
                  <a:srgbClr val="1F3A5F"/>
                </a:solidFill>
                <a:latin typeface="Calibri"/>
              </a:rPr>
              <a:t>R$ 2,1 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127455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8C8C8C"/>
                </a:solidFill>
                <a:latin typeface="Calibri"/>
              </a:rPr>
              <a:t>custo 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9445752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600" b="0" i="0">
                <a:solidFill>
                  <a:srgbClr val="333333"/>
                </a:solidFill>
                <a:latin typeface="Calibri"/>
              </a:rPr>
              <a:t>Equivale a 8% do faturamento. Comparação obrigatória.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Dados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Barras horizontais ordenadas com destaque em accent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R$ mi, agosto/26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CRM   |   Uso interno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828800"/>
          <a:ext cx="11274552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Linha com meta tracejada e comentários à direita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Cronograma   |   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9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73152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1554480"/>
            <a:ext cx="3685032" cy="4480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Gap abre a partir da S31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Causa: homologação do fornecedor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Recuperação prevista na S38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Composição com colunas empilhadas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ERP   |   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10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Rosca com até 4 fatias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Apontamento de paradas   |   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11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Tabela com colunas de status, linha de total e destaque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DRE gerencial   |   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59352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Orçado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Var. %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Receita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41,3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42,1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-1,9%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Amarelo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Custo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27,0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28,3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-4,6%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73152" marR="73152" marT="27432" marB="27432" anchor="ctr">
                    <a:solidFill>
                      <a:srgbClr val="2E7D3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Despesas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6,1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6,1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73152" marR="73152" marT="27432" marB="27432" anchor="ctr">
                    <a:solidFill>
                      <a:srgbClr val="2E7D3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8,2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7,7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+6,5%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73152" marR="73152" marT="27432" marB="27432" anchor="ctr">
                    <a:solidFill>
                      <a:srgbClr val="2E7D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Estrutura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Bullets com negrito inicial e sub-itens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Máximo 6 itens, 2 linhas cada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74552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Prazo: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go-live em 15/03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Custo: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3% abaixo do orçamento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Escopo: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sem mudanças aprovadas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Riscos: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um crítico, fornecedor X</a:t>
            </a:r>
          </a:p>
          <a:p>
            <a:pPr marL="457200" indent="-228600">
              <a:spcAft>
                <a:spcPts val="500"/>
              </a:spcAft>
              <a:buClr>
                <a:srgbClr val="8C8C8C"/>
              </a:buClr>
              <a:buChar char="–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Plano B com fornecedor Y</a:t>
            </a:r>
          </a:p>
          <a:p>
            <a:pPr marL="457200" indent="-228600">
              <a:spcAft>
                <a:spcPts val="500"/>
              </a:spcAft>
              <a:buClr>
                <a:srgbClr val="8C8C8C"/>
              </a:buClr>
              <a:buChar char="–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Decisão até sexta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Duas colunas: certo vs. errado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Certo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57400"/>
            <a:ext cx="5500116" cy="274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2E7D32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Causa específica</a:t>
            </a:r>
          </a:p>
          <a:p>
            <a:pPr marL="228600" indent="-228600">
              <a:spcAft>
                <a:spcPts val="800"/>
              </a:spcAft>
              <a:buClr>
                <a:srgbClr val="2E7D32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Registrar na hora</a:t>
            </a:r>
          </a:p>
          <a:p>
            <a:pPr marL="228600" indent="-228600">
              <a:spcAft>
                <a:spcPts val="800"/>
              </a:spcAft>
              <a:buClr>
                <a:srgbClr val="2E7D32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Duração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C62828"/>
                </a:solidFill>
                <a:latin typeface="Calibri"/>
              </a:rPr>
              <a:t>Errado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1636" y="2057400"/>
            <a:ext cx="5500116" cy="2743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1636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C62828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'Outros'</a:t>
            </a:r>
          </a:p>
          <a:p>
            <a:pPr marL="228600" indent="-228600">
              <a:spcAft>
                <a:spcPts val="800"/>
              </a:spcAft>
              <a:buClr>
                <a:srgbClr val="C62828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Registrar no fim do turno</a:t>
            </a:r>
          </a:p>
          <a:p>
            <a:pPr marL="228600" indent="-228600">
              <a:spcAft>
                <a:spcPts val="800"/>
              </a:spcAft>
              <a:buClr>
                <a:srgbClr val="C62828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Arredondar para 30 min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Comparação de três opções com uma recomendada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575304" cy="457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3575304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Não fazer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Custo: R$ 0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Perda: R$ 1,8 mi/ano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Risco: parada total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6824" y="1463040"/>
            <a:ext cx="3575304" cy="457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6824" y="1463040"/>
            <a:ext cx="3575304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06824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A: Reforma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Custo: R$ 0,9 mi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Economia: R$ 0,7 mi/ano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Risco: sem peças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6448" y="1463040"/>
            <a:ext cx="3575304" cy="4572000"/>
          </a:xfrm>
          <a:prstGeom prst="rect">
            <a:avLst/>
          </a:prstGeom>
          <a:solidFill>
            <a:srgbClr val="F2F2F2"/>
          </a:solidFill>
          <a:ln w="2540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56448" y="1463040"/>
            <a:ext cx="3575304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B: Prensa nova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8712" y="1280160"/>
            <a:ext cx="1371600" cy="3200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68712" y="1280160"/>
            <a:ext cx="13716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Recomendada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Custo: R$ 2,4 mi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Economia: R$ 1,45 mi/ano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Risco: 5 dias parada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Timeline com marcador de hoje e legenda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721607"/>
            <a:ext cx="10698480" cy="5486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3566159"/>
            <a:ext cx="365760" cy="36576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Jun/26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Kickoff</a:t>
            </a:r>
          </a:p>
        </p:txBody>
      </p:sp>
      <p:sp>
        <p:nvSpPr>
          <p:cNvPr id="9" name="Oval 8"/>
          <p:cNvSpPr/>
          <p:nvPr/>
        </p:nvSpPr>
        <p:spPr>
          <a:xfrm>
            <a:off x="3451859" y="3566159"/>
            <a:ext cx="365760" cy="36576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11779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Jul/26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1779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Design aprovado</a:t>
            </a:r>
          </a:p>
        </p:txBody>
      </p:sp>
      <p:sp>
        <p:nvSpPr>
          <p:cNvPr id="12" name="Oval 11"/>
          <p:cNvSpPr/>
          <p:nvPr/>
        </p:nvSpPr>
        <p:spPr>
          <a:xfrm>
            <a:off x="5897879" y="3566159"/>
            <a:ext cx="365760" cy="365760"/>
          </a:xfrm>
          <a:prstGeom prst="ellipse">
            <a:avLst/>
          </a:prstGeom>
          <a:solidFill>
            <a:srgbClr val="F9A82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799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Set/26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799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Homologação</a:t>
            </a:r>
          </a:p>
        </p:txBody>
      </p:sp>
      <p:sp>
        <p:nvSpPr>
          <p:cNvPr id="15" name="Oval 14"/>
          <p:cNvSpPr/>
          <p:nvPr/>
        </p:nvSpPr>
        <p:spPr>
          <a:xfrm>
            <a:off x="8343900" y="3566159"/>
            <a:ext cx="365760" cy="365760"/>
          </a:xfrm>
          <a:prstGeom prst="ellipse">
            <a:avLst/>
          </a:prstGeom>
          <a:solidFill>
            <a:srgbClr val="C6282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3819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Out/26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3819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Testes</a:t>
            </a:r>
          </a:p>
        </p:txBody>
      </p:sp>
      <p:sp>
        <p:nvSpPr>
          <p:cNvPr id="18" name="Oval 17"/>
          <p:cNvSpPr/>
          <p:nvPr/>
        </p:nvSpPr>
        <p:spPr>
          <a:xfrm>
            <a:off x="10789920" y="3566159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4984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Nov/26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Go-live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03769" y="3108959"/>
            <a:ext cx="27432" cy="12801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46569" y="27889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F2A900"/>
                </a:solidFill>
                <a:latin typeface="Calibri"/>
              </a:rPr>
              <a:t>Hoje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" y="5852160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Concluído</a:t>
            </a:r>
          </a:p>
        </p:txBody>
      </p:sp>
      <p:sp>
        <p:nvSpPr>
          <p:cNvPr id="25" name="Oval 24"/>
          <p:cNvSpPr/>
          <p:nvPr/>
        </p:nvSpPr>
        <p:spPr>
          <a:xfrm>
            <a:off x="2011680" y="5852160"/>
            <a:ext cx="182880" cy="182880"/>
          </a:xfrm>
          <a:prstGeom prst="ellipse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4028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Em risco</a:t>
            </a:r>
          </a:p>
        </p:txBody>
      </p:sp>
      <p:sp>
        <p:nvSpPr>
          <p:cNvPr id="27" name="Oval 26"/>
          <p:cNvSpPr/>
          <p:nvPr/>
        </p:nvSpPr>
        <p:spPr>
          <a:xfrm>
            <a:off x="3566160" y="5852160"/>
            <a:ext cx="182880" cy="182880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9476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Atrasado</a:t>
            </a:r>
          </a:p>
        </p:txBody>
      </p:sp>
      <p:sp>
        <p:nvSpPr>
          <p:cNvPr id="29" name="Oval 28"/>
          <p:cNvSpPr/>
          <p:nvPr/>
        </p:nvSpPr>
        <p:spPr>
          <a:xfrm>
            <a:off x="5120640" y="5852160"/>
            <a:ext cx="182880" cy="1828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924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Planejado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Processo em chevrons com etapa atual destacada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18</a:t>
            </a:r>
          </a:p>
        </p:txBody>
      </p:sp>
      <p:sp>
        <p:nvSpPr>
          <p:cNvPr id="5" name="Pentagon 4"/>
          <p:cNvSpPr/>
          <p:nvPr/>
        </p:nvSpPr>
        <p:spPr>
          <a:xfrm>
            <a:off x="457200" y="1920240"/>
            <a:ext cx="2727198" cy="1280160"/>
          </a:xfrm>
          <a:prstGeom prst="homePlat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1. Instalar sensores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2544318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Semana 1</a:t>
            </a:r>
          </a:p>
        </p:txBody>
      </p:sp>
      <p:sp>
        <p:nvSpPr>
          <p:cNvPr id="7" name="Chevron 6"/>
          <p:cNvSpPr/>
          <p:nvPr/>
        </p:nvSpPr>
        <p:spPr>
          <a:xfrm>
            <a:off x="3275838" y="1920240"/>
            <a:ext cx="2727198" cy="1280160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2. Integrar ao 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7278" y="3383280"/>
            <a:ext cx="2544318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Semana 2, via API</a:t>
            </a:r>
          </a:p>
        </p:txBody>
      </p:sp>
      <p:sp>
        <p:nvSpPr>
          <p:cNvPr id="9" name="Chevron 8"/>
          <p:cNvSpPr/>
          <p:nvPr/>
        </p:nvSpPr>
        <p:spPr>
          <a:xfrm>
            <a:off x="6094476" y="192024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3. Painéis por máquina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85916" y="3383280"/>
            <a:ext cx="2544318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Semana 3</a:t>
            </a:r>
          </a:p>
        </p:txBody>
      </p:sp>
      <p:sp>
        <p:nvSpPr>
          <p:cNvPr id="11" name="Chevron 10"/>
          <p:cNvSpPr/>
          <p:nvPr/>
        </p:nvSpPr>
        <p:spPr>
          <a:xfrm>
            <a:off x="8913114" y="192024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4. Alertas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4554" y="3383280"/>
            <a:ext cx="2544318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Semana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Matriz 2×2 com quadrante destacado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3040" y="1463040"/>
            <a:ext cx="4069080" cy="2057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50876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PLANEJAR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74520"/>
            <a:ext cx="388620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Automação L4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23560" y="1463040"/>
            <a:ext cx="4069080" cy="205740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150876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FAZER AGORA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1874520"/>
            <a:ext cx="388620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SMED turno C</a:t>
            </a:r>
          </a:p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Kit de material</a:t>
            </a:r>
          </a:p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Alerta de energia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63040" y="3611880"/>
            <a:ext cx="4069080" cy="2057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365760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DESCARTAR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023360"/>
            <a:ext cx="388620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Layout do refeitório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3611880"/>
            <a:ext cx="4069080" cy="2057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365760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DELEGAR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4023360"/>
            <a:ext cx="388620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Revisão de checklist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7150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8C8C8C"/>
                </a:solidFill>
                <a:latin typeface="Calibri"/>
              </a:rPr>
              <a:t>Facilidade  →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457200" y="338328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8C8C8C"/>
                </a:solidFill>
                <a:latin typeface="Calibri"/>
              </a:rPr>
              <a:t>Impacto  →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972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0" b="1" i="0">
                <a:solidFill>
                  <a:srgbClr val="F2A900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45752" cy="2377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0" i="1">
                <a:solidFill>
                  <a:srgbClr val="FFFFFF"/>
                </a:solidFill>
                <a:latin typeface="Calibri"/>
              </a:rPr>
              <a:t>Em 6 meses reduzimos 18% do custo de energia e descobrimos duas máquinas que consumiam paradas.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44575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D9E1EA"/>
                </a:solidFill>
                <a:latin typeface="Calibri"/>
              </a:rPr>
              <a:t>— Gerente industrial, cliente do setor metalúrgico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Fechamento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Plano de ação com decisão pedida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Aprovar fornecedor 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05/09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9A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Replanejar testes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GP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10/09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Treinar turno 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Supervisor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28/08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Atrasada</a:t>
                      </a:r>
                    </a:p>
                  </a:txBody>
                  <a:tcPr anchor="ctr" marL="73152" marR="73152">
                    <a:solidFill>
                      <a:srgbClr val="C628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Mapear processo atual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Carlos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20/08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Concluída</a:t>
                      </a:r>
                    </a:p>
                  </a:txBody>
                  <a:tcPr anchor="ctr" marL="73152" marR="73152">
                    <a:solidFill>
                      <a:srgbClr val="2E7D3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5394960"/>
            <a:ext cx="73152" cy="685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/>
            </a:r>
            <a:r>
              <a:rPr sz="1600" b="1" i="0">
                <a:solidFill>
                  <a:srgbClr val="F2A900"/>
                </a:solidFill>
                <a:latin typeface="Calibri"/>
              </a:rPr>
              <a:t>Decisão pedida: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Aprovar o fornecedor Y como plano B (R$ 40 mil adicionais)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Próxima revisão: 15/09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Calibri"/>
              </a:rPr>
              <a:t>pmo@empresa.com | Anexos: cronograma completo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