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7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5486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D9E1EA"/>
                </a:solidFill>
                <a:latin typeface="Calibri"/>
              </a:rPr>
              <a:t>EMPRESA EXEMPLO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36576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F2A900"/>
                </a:solidFill>
                <a:latin typeface="Calibri"/>
              </a:rPr>
              <a:t>RELATÓRIO FINAL DE INCIDENTE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7315200" cy="173736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Indisponibilidade do portal B2B em 12/09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49039"/>
            <a:ext cx="73152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0" i="0">
                <a:solidFill>
                  <a:srgbClr val="D9E1EA"/>
                </a:solidFill>
                <a:latin typeface="Calibri"/>
              </a:rPr>
              <a:t>Severidade 2 | relatório final (6 dias após o evento)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0" y="1920240"/>
            <a:ext cx="3319272" cy="2468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0" y="1920240"/>
            <a:ext cx="73152" cy="246888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41080" y="2057400"/>
            <a:ext cx="2971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8C8C8C"/>
                </a:solidFill>
                <a:latin typeface="Calibri"/>
              </a:rPr>
              <a:t>TESE CENTRAL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1080" y="2423160"/>
            <a:ext cx="2971800" cy="187451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1" i="0">
                <a:solidFill>
                  <a:srgbClr val="1F3A5F"/>
                </a:solidFill>
                <a:latin typeface="Calibri"/>
              </a:rPr>
              <a:t>Portal indisponível por 3h40 por certificado expirado sem dono nem alerta; sem perda de dados; três mudanças permanentes.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669280"/>
            <a:ext cx="106984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BFC9D4"/>
                </a:solidFill>
                <a:latin typeface="Calibri"/>
              </a:rPr>
              <a:t>18/09/2026 | Uso interno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0" y="457200"/>
            <a:ext cx="13716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EMPRESA EXEMPLO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1792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"/>
              </a:rPr>
              <a:t>3h40 de indisponibilidade afetaram 210 clientes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8C8C8C"/>
                </a:solidFill>
                <a:latin typeface="Calibri"/>
              </a:rPr>
              <a:t>EMPRESA EXEMPLO  |  RELATÓRIO DE INCIDENTE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8C8C8C"/>
                </a:solidFill>
                <a:latin typeface="Calibri"/>
              </a:rPr>
              <a:t>18/09/2026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4F81BD"/>
                </a:solidFill>
                <a:latin typeface="Calibri"/>
              </a:rPr>
              <a:t>IMPACTO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C8C8C"/>
                </a:solidFill>
                <a:latin typeface="Calibri"/>
              </a:rPr>
              <a:t>Fonte: Logs do portal e registro do incidente   |   Uso interno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6217920"/>
            <a:ext cx="18288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1" i="0">
                <a:solidFill>
                  <a:srgbClr val="1F3A5F"/>
                </a:solidFill>
                <a:latin typeface="Calibri"/>
              </a:rPr>
              <a:t>EMPRESA EXEMPLO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2035454" cy="21945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2035454" cy="73152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057400"/>
            <a:ext cx="1761134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8C8C8C"/>
                </a:solidFill>
                <a:latin typeface="Calibri"/>
              </a:rPr>
              <a:t>DURAÇÃO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423160"/>
            <a:ext cx="1761134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400" b="1" i="0">
                <a:solidFill>
                  <a:srgbClr val="333333"/>
                </a:solidFill>
                <a:latin typeface="Calibri"/>
              </a:rPr>
              <a:t>3h40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429000"/>
            <a:ext cx="1761134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C62828"/>
                </a:solidFill>
                <a:latin typeface="Calibri"/>
              </a:rPr>
              <a:t>09:10 a 12:50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66974" y="1828800"/>
            <a:ext cx="2035454" cy="21945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66974" y="1828800"/>
            <a:ext cx="2035454" cy="73152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04134" y="2057400"/>
            <a:ext cx="1761134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8C8C8C"/>
                </a:solidFill>
                <a:latin typeface="Calibri"/>
              </a:rPr>
              <a:t>CLIENTES AFETADOS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04134" y="2423160"/>
            <a:ext cx="1761134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400" b="1" i="0">
                <a:solidFill>
                  <a:srgbClr val="333333"/>
                </a:solidFill>
                <a:latin typeface="Calibri"/>
              </a:rPr>
              <a:t>210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04134" y="3429000"/>
            <a:ext cx="1761134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C62828"/>
                </a:solidFill>
                <a:latin typeface="Calibri"/>
              </a:rPr>
              <a:t>38% da base ativa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76748" y="1828800"/>
            <a:ext cx="2035454" cy="21945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76748" y="1828800"/>
            <a:ext cx="2035454" cy="73152"/>
          </a:xfrm>
          <a:prstGeom prst="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3908" y="2057400"/>
            <a:ext cx="1761134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8C8C8C"/>
                </a:solidFill>
                <a:latin typeface="Calibri"/>
              </a:rPr>
              <a:t>PEDIDOS REPRESADOS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3908" y="2423160"/>
            <a:ext cx="1761134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400" b="1" i="0">
                <a:solidFill>
                  <a:srgbClr val="333333"/>
                </a:solidFill>
                <a:latin typeface="Calibri"/>
              </a:rPr>
              <a:t>126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3908" y="3429000"/>
            <a:ext cx="1761134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F9A825"/>
                </a:solidFill>
                <a:latin typeface="Calibri"/>
              </a:rPr>
              <a:t>todos processados até 14h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86523" y="1828800"/>
            <a:ext cx="2035454" cy="21945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86523" y="1828800"/>
            <a:ext cx="2035454" cy="7315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23683" y="2057400"/>
            <a:ext cx="1761134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8C8C8C"/>
                </a:solidFill>
                <a:latin typeface="Calibri"/>
              </a:rPr>
              <a:t>PERDA DE DADOS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23683" y="2423160"/>
            <a:ext cx="1761134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300" b="1" i="0">
                <a:solidFill>
                  <a:srgbClr val="333333"/>
                </a:solidFill>
                <a:latin typeface="Calibri"/>
              </a:rPr>
              <a:t>Nenhuma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23683" y="3429000"/>
            <a:ext cx="1761134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Calibri"/>
              </a:rPr>
              <a:t>verificado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96297" y="1828800"/>
            <a:ext cx="2035454" cy="21945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696297" y="1828800"/>
            <a:ext cx="2035454" cy="73152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33457" y="2057400"/>
            <a:ext cx="1761134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8C8C8C"/>
                </a:solidFill>
                <a:latin typeface="Calibri"/>
              </a:rPr>
              <a:t>TEMPO DE DETECÇÃO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33457" y="2423160"/>
            <a:ext cx="1761134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400" b="1" i="0">
                <a:solidFill>
                  <a:srgbClr val="333333"/>
                </a:solidFill>
                <a:latin typeface="Calibri"/>
              </a:rPr>
              <a:t>50 min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33457" y="3429000"/>
            <a:ext cx="1761134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C62828"/>
                </a:solidFill>
                <a:latin typeface="Calibri"/>
              </a:rPr>
              <a:t>meta 10 min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1792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"/>
              </a:rPr>
              <a:t>Detecção levou 50 min; contenção, 2 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8C8C8C"/>
                </a:solidFill>
                <a:latin typeface="Calibri"/>
              </a:rPr>
              <a:t>EMPRESA EXEMPLO  |  RELATÓRIO DE INCIDENTE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8C8C8C"/>
                </a:solidFill>
                <a:latin typeface="Calibri"/>
              </a:rPr>
              <a:t>18/09/2026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4F81BD"/>
                </a:solidFill>
                <a:latin typeface="Calibri"/>
              </a:rPr>
              <a:t>LINHA DO TEMPO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C8C8C"/>
                </a:solidFill>
                <a:latin typeface="Calibri"/>
              </a:rPr>
              <a:t>Uso interno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  <a:latin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6217920"/>
            <a:ext cx="18288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1" i="0">
                <a:solidFill>
                  <a:srgbClr val="1F3A5F"/>
                </a:solidFill>
                <a:latin typeface="Calibri"/>
              </a:rPr>
              <a:t>EMPRESA EXEMPLO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858768"/>
            <a:ext cx="10698480" cy="54864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5840" y="3703320"/>
            <a:ext cx="365760" cy="365760"/>
          </a:xfrm>
          <a:prstGeom prst="ellipse">
            <a:avLst/>
          </a:prstGeom>
          <a:solidFill>
            <a:srgbClr val="C6282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971800"/>
            <a:ext cx="1645920" cy="36576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ctr"/>
            <a:r>
              <a:rPr sz="1300" b="0" i="0">
                <a:solidFill>
                  <a:srgbClr val="8C8C8C"/>
                </a:solidFill>
                <a:latin typeface="Calibri"/>
              </a:rPr>
              <a:t>09:10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206240"/>
            <a:ext cx="16459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Certificado expira; portal fora</a:t>
            </a:r>
          </a:p>
        </p:txBody>
      </p:sp>
      <p:sp>
        <p:nvSpPr>
          <p:cNvPr id="13" name="Oval 12"/>
          <p:cNvSpPr/>
          <p:nvPr/>
        </p:nvSpPr>
        <p:spPr>
          <a:xfrm>
            <a:off x="2962655" y="3703320"/>
            <a:ext cx="365760" cy="365760"/>
          </a:xfrm>
          <a:prstGeom prst="ellipse">
            <a:avLst/>
          </a:prstGeom>
          <a:solidFill>
            <a:srgbClr val="F9A825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22575" y="2971800"/>
            <a:ext cx="1645920" cy="36576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ctr"/>
            <a:r>
              <a:rPr sz="1300" b="0" i="0">
                <a:solidFill>
                  <a:srgbClr val="8C8C8C"/>
                </a:solidFill>
                <a:latin typeface="Calibri"/>
              </a:rPr>
              <a:t>10:00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2575" y="4206240"/>
            <a:ext cx="16459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Cliente reporta; chamado aberto</a:t>
            </a:r>
          </a:p>
        </p:txBody>
      </p:sp>
      <p:sp>
        <p:nvSpPr>
          <p:cNvPr id="16" name="Oval 15"/>
          <p:cNvSpPr/>
          <p:nvPr/>
        </p:nvSpPr>
        <p:spPr>
          <a:xfrm>
            <a:off x="4919471" y="3703320"/>
            <a:ext cx="365760" cy="365760"/>
          </a:xfrm>
          <a:prstGeom prst="ellipse">
            <a:avLst/>
          </a:prstGeom>
          <a:solidFill>
            <a:srgbClr val="F9A825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79391" y="2971800"/>
            <a:ext cx="1645920" cy="36576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ctr"/>
            <a:r>
              <a:rPr sz="1300" b="0" i="0">
                <a:solidFill>
                  <a:srgbClr val="8C8C8C"/>
                </a:solidFill>
                <a:latin typeface="Calibri"/>
              </a:rPr>
              <a:t>10:20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79391" y="4206240"/>
            <a:ext cx="16459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Escalonado para infraestrutura</a:t>
            </a:r>
          </a:p>
        </p:txBody>
      </p:sp>
      <p:sp>
        <p:nvSpPr>
          <p:cNvPr id="19" name="Oval 18"/>
          <p:cNvSpPr/>
          <p:nvPr/>
        </p:nvSpPr>
        <p:spPr>
          <a:xfrm>
            <a:off x="6876287" y="3703320"/>
            <a:ext cx="365760" cy="365760"/>
          </a:xfrm>
          <a:prstGeom prst="ellipse">
            <a:avLst/>
          </a:prstGeom>
          <a:solidFill>
            <a:srgbClr val="2E7D32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36207" y="2971800"/>
            <a:ext cx="1645920" cy="36576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ctr"/>
            <a:r>
              <a:rPr sz="1300" b="0" i="0">
                <a:solidFill>
                  <a:srgbClr val="8C8C8C"/>
                </a:solidFill>
                <a:latin typeface="Calibri"/>
              </a:rPr>
              <a:t>12:10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6207" y="4206240"/>
            <a:ext cx="16459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Novo certificado emitido</a:t>
            </a:r>
          </a:p>
        </p:txBody>
      </p:sp>
      <p:sp>
        <p:nvSpPr>
          <p:cNvPr id="22" name="Oval 21"/>
          <p:cNvSpPr/>
          <p:nvPr/>
        </p:nvSpPr>
        <p:spPr>
          <a:xfrm>
            <a:off x="8833104" y="3703320"/>
            <a:ext cx="365760" cy="365760"/>
          </a:xfrm>
          <a:prstGeom prst="ellipse">
            <a:avLst/>
          </a:prstGeom>
          <a:solidFill>
            <a:srgbClr val="2E7D32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93023" y="2971800"/>
            <a:ext cx="1645920" cy="36576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ctr"/>
            <a:r>
              <a:rPr sz="1300" b="0" i="0">
                <a:solidFill>
                  <a:srgbClr val="8C8C8C"/>
                </a:solidFill>
                <a:latin typeface="Calibri"/>
              </a:rPr>
              <a:t>12:50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93023" y="4206240"/>
            <a:ext cx="16459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Portal restabelecido</a:t>
            </a:r>
          </a:p>
        </p:txBody>
      </p:sp>
      <p:sp>
        <p:nvSpPr>
          <p:cNvPr id="25" name="Oval 24"/>
          <p:cNvSpPr/>
          <p:nvPr/>
        </p:nvSpPr>
        <p:spPr>
          <a:xfrm>
            <a:off x="10789920" y="3703320"/>
            <a:ext cx="365760" cy="365760"/>
          </a:xfrm>
          <a:prstGeom prst="ellipse">
            <a:avLst/>
          </a:prstGeom>
          <a:solidFill>
            <a:srgbClr val="2E7D32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49840" y="2971800"/>
            <a:ext cx="1645920" cy="36576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ctr"/>
            <a:r>
              <a:rPr sz="1300" b="0" i="0">
                <a:solidFill>
                  <a:srgbClr val="8C8C8C"/>
                </a:solidFill>
                <a:latin typeface="Calibri"/>
              </a:rPr>
              <a:t>14:00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49840" y="4206240"/>
            <a:ext cx="16459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Pedidos represados processados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247120" y="3246120"/>
            <a:ext cx="27432" cy="128016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789920" y="292608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00" b="1" i="0">
                <a:solidFill>
                  <a:srgbClr val="F2A900"/>
                </a:solidFill>
                <a:latin typeface="Calibri"/>
              </a:rPr>
              <a:t>Hoje</a:t>
            </a:r>
          </a:p>
        </p:txBody>
      </p:sp>
      <p:sp>
        <p:nvSpPr>
          <p:cNvPr id="30" name="Oval 29"/>
          <p:cNvSpPr/>
          <p:nvPr/>
        </p:nvSpPr>
        <p:spPr>
          <a:xfrm>
            <a:off x="457200" y="5852160"/>
            <a:ext cx="182880" cy="18288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5806440"/>
            <a:ext cx="1371600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 i="0">
                <a:solidFill>
                  <a:srgbClr val="8C8C8C"/>
                </a:solidFill>
                <a:latin typeface="Calibri"/>
              </a:rPr>
              <a:t>Concluído</a:t>
            </a:r>
          </a:p>
        </p:txBody>
      </p:sp>
      <p:sp>
        <p:nvSpPr>
          <p:cNvPr id="32" name="Oval 31"/>
          <p:cNvSpPr/>
          <p:nvPr/>
        </p:nvSpPr>
        <p:spPr>
          <a:xfrm>
            <a:off x="2011680" y="5852160"/>
            <a:ext cx="182880" cy="182880"/>
          </a:xfrm>
          <a:prstGeom prst="ellipse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240280" y="5806440"/>
            <a:ext cx="1371600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 i="0">
                <a:solidFill>
                  <a:srgbClr val="8C8C8C"/>
                </a:solidFill>
                <a:latin typeface="Calibri"/>
              </a:rPr>
              <a:t>Em risco</a:t>
            </a:r>
          </a:p>
        </p:txBody>
      </p:sp>
      <p:sp>
        <p:nvSpPr>
          <p:cNvPr id="34" name="Oval 33"/>
          <p:cNvSpPr/>
          <p:nvPr/>
        </p:nvSpPr>
        <p:spPr>
          <a:xfrm>
            <a:off x="3566160" y="5852160"/>
            <a:ext cx="182880" cy="182880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94760" y="5806440"/>
            <a:ext cx="1371600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 i="0">
                <a:solidFill>
                  <a:srgbClr val="8C8C8C"/>
                </a:solidFill>
                <a:latin typeface="Calibri"/>
              </a:rPr>
              <a:t>Atrasado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1792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"/>
              </a:rPr>
              <a:t>Causa raiz: renovação de certificado sem dono nem alerta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8C8C8C"/>
                </a:solidFill>
                <a:latin typeface="Calibri"/>
              </a:rPr>
              <a:t>EMPRESA EXEMPLO  |  RELATÓRIO DE INCIDENTE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8C8C8C"/>
                </a:solidFill>
                <a:latin typeface="Calibri"/>
              </a:rPr>
              <a:t>18/09/2026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4F81BD"/>
                </a:solidFill>
                <a:latin typeface="Calibri"/>
              </a:rPr>
              <a:t>CAUSAS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C8C8C"/>
                </a:solidFill>
                <a:latin typeface="Calibri"/>
              </a:rPr>
              <a:t>Uso interno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  <a:latin typeface="Calibr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6217920"/>
            <a:ext cx="18288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1" i="0">
                <a:solidFill>
                  <a:srgbClr val="1F3A5F"/>
                </a:solidFill>
                <a:latin typeface="Calibri"/>
              </a:rPr>
              <a:t>EMPRESA EXEMPLO</a:t>
            </a:r>
          </a:p>
        </p:txBody>
      </p:sp>
      <p:sp>
        <p:nvSpPr>
          <p:cNvPr id="9" name="Pentagon 8"/>
          <p:cNvSpPr/>
          <p:nvPr/>
        </p:nvSpPr>
        <p:spPr>
          <a:xfrm>
            <a:off x="457200" y="2194560"/>
            <a:ext cx="2727198" cy="1280160"/>
          </a:xfrm>
          <a:prstGeom prst="homePlat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27432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1. Sintoma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57600"/>
            <a:ext cx="2544318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Portal retorna erro de segurança</a:t>
            </a:r>
          </a:p>
        </p:txBody>
      </p:sp>
      <p:sp>
        <p:nvSpPr>
          <p:cNvPr id="11" name="Chevron 10"/>
          <p:cNvSpPr/>
          <p:nvPr/>
        </p:nvSpPr>
        <p:spPr>
          <a:xfrm>
            <a:off x="3275838" y="2194560"/>
            <a:ext cx="2727198" cy="1280160"/>
          </a:xfrm>
          <a:prstGeom prst="chevron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2. Causa imediata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67278" y="3657600"/>
            <a:ext cx="2544318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Certificado TLS expirado às 09:10</a:t>
            </a:r>
          </a:p>
        </p:txBody>
      </p:sp>
      <p:sp>
        <p:nvSpPr>
          <p:cNvPr id="13" name="Chevron 12"/>
          <p:cNvSpPr/>
          <p:nvPr/>
        </p:nvSpPr>
        <p:spPr>
          <a:xfrm>
            <a:off x="6094476" y="2194560"/>
            <a:ext cx="2727198" cy="1280160"/>
          </a:xfrm>
          <a:prstGeom prst="chevron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3. Contribuinte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85916" y="3657600"/>
            <a:ext cx="2544318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Monitoramento não cobre validade de certificados</a:t>
            </a:r>
          </a:p>
        </p:txBody>
      </p:sp>
      <p:sp>
        <p:nvSpPr>
          <p:cNvPr id="15" name="Chevron 14"/>
          <p:cNvSpPr/>
          <p:nvPr/>
        </p:nvSpPr>
        <p:spPr>
          <a:xfrm>
            <a:off x="8913114" y="2194560"/>
            <a:ext cx="2727198" cy="1280160"/>
          </a:xfrm>
          <a:prstGeom prst="chevron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4. Causa raiz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4554" y="3657600"/>
            <a:ext cx="2544318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Inventário de certificados sem responsável e sem rotina de renovação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1792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"/>
              </a:rPr>
              <a:t>Comunicação ao cliente funcionou; monitoramento falhou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8C8C8C"/>
                </a:solidFill>
                <a:latin typeface="Calibri"/>
              </a:rPr>
              <a:t>EMPRESA EXEMPLO  |  RELATÓRIO DE INCIDENTE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8C8C8C"/>
                </a:solidFill>
                <a:latin typeface="Calibri"/>
              </a:rPr>
              <a:t>18/09/2026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4F81BD"/>
                </a:solidFill>
                <a:latin typeface="Calibri"/>
              </a:rPr>
              <a:t>RESPOSTA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C8C8C"/>
                </a:solidFill>
                <a:latin typeface="Calibri"/>
              </a:rPr>
              <a:t>Uso interno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  <a:latin typeface="Calibr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6217920"/>
            <a:ext cx="18288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1" i="0">
                <a:solidFill>
                  <a:srgbClr val="1F3A5F"/>
                </a:solidFill>
                <a:latin typeface="Calibri"/>
              </a:rPr>
              <a:t>EMPRESA EXEMPLO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5500116" cy="54864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800" b="1" i="0">
                <a:solidFill>
                  <a:srgbClr val="2E7D32"/>
                </a:solidFill>
                <a:latin typeface="Calibri"/>
              </a:rPr>
              <a:t>Funcionou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331720"/>
            <a:ext cx="5500116" cy="2743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514600"/>
            <a:ext cx="5500116" cy="3611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28600" indent="-228600">
              <a:spcAft>
                <a:spcPts val="800"/>
              </a:spcAft>
              <a:buClr>
                <a:srgbClr val="2E7D32"/>
              </a:buClr>
              <a:buChar char="•"/>
            </a:pPr>
            <a:r>
              <a:rPr sz="1500" b="0" i="0">
                <a:solidFill>
                  <a:srgbClr val="333333"/>
                </a:solidFill>
                <a:latin typeface="Calibri"/>
              </a:rPr>
              <a:t>Comunicado aos clientes em 25 min após detecção</a:t>
            </a:r>
          </a:p>
          <a:p>
            <a:pPr marL="228600" indent="-228600">
              <a:spcAft>
                <a:spcPts val="800"/>
              </a:spcAft>
              <a:buClr>
                <a:srgbClr val="2E7D32"/>
              </a:buClr>
              <a:buChar char="•"/>
            </a:pPr>
            <a:r>
              <a:rPr sz="1500" b="0" i="0">
                <a:solidFill>
                  <a:srgbClr val="333333"/>
                </a:solidFill>
                <a:latin typeface="Calibri"/>
              </a:rPr>
              <a:t>Pedidos represados processados sem retrabalho</a:t>
            </a:r>
          </a:p>
          <a:p>
            <a:pPr marL="228600" indent="-228600">
              <a:spcAft>
                <a:spcPts val="800"/>
              </a:spcAft>
              <a:buClr>
                <a:srgbClr val="2E7D32"/>
              </a:buClr>
              <a:buChar char="•"/>
            </a:pPr>
            <a:r>
              <a:rPr sz="1500" b="0" i="0">
                <a:solidFill>
                  <a:srgbClr val="333333"/>
                </a:solidFill>
                <a:latin typeface="Calibri"/>
              </a:rPr>
              <a:t>Registro completo do incidente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1636" y="1737360"/>
            <a:ext cx="5500116" cy="54864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800" b="1" i="0">
                <a:solidFill>
                  <a:srgbClr val="C62828"/>
                </a:solidFill>
                <a:latin typeface="Calibri"/>
              </a:rPr>
              <a:t>Falhou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1636" y="2331720"/>
            <a:ext cx="5500116" cy="27432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31636" y="2514600"/>
            <a:ext cx="5500116" cy="3611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28600" indent="-228600">
              <a:spcAft>
                <a:spcPts val="800"/>
              </a:spcAft>
              <a:buClr>
                <a:srgbClr val="C62828"/>
              </a:buClr>
              <a:buChar char="•"/>
            </a:pPr>
            <a:r>
              <a:rPr sz="1500" b="0" i="0">
                <a:solidFill>
                  <a:srgbClr val="333333"/>
                </a:solidFill>
                <a:latin typeface="Calibri"/>
              </a:rPr>
              <a:t>Detecção por cliente, não por monitoramento</a:t>
            </a:r>
          </a:p>
          <a:p>
            <a:pPr marL="228600" indent="-228600">
              <a:spcAft>
                <a:spcPts val="800"/>
              </a:spcAft>
              <a:buClr>
                <a:srgbClr val="C62828"/>
              </a:buClr>
              <a:buChar char="•"/>
            </a:pPr>
            <a:r>
              <a:rPr sz="1500" b="0" i="0">
                <a:solidFill>
                  <a:srgbClr val="333333"/>
                </a:solidFill>
                <a:latin typeface="Calibri"/>
              </a:rPr>
              <a:t>Escalonamento levou 20 min sem dono claro</a:t>
            </a:r>
          </a:p>
          <a:p>
            <a:pPr marL="228600" indent="-228600">
              <a:spcAft>
                <a:spcPts val="800"/>
              </a:spcAft>
              <a:buClr>
                <a:srgbClr val="C62828"/>
              </a:buClr>
              <a:buChar char="•"/>
            </a:pPr>
            <a:r>
              <a:rPr sz="1500" b="0" i="0">
                <a:solidFill>
                  <a:srgbClr val="333333"/>
                </a:solidFill>
                <a:latin typeface="Calibri"/>
              </a:rPr>
              <a:t>Emissão do certificado dependeu de uma pessoa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1792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"/>
              </a:rPr>
              <a:t>Cinco ações, três preventivas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8C8C8C"/>
                </a:solidFill>
                <a:latin typeface="Calibri"/>
              </a:rPr>
              <a:t>EMPRESA EXEMPLO  |  RELATÓRIO DE INCIDENTE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8C8C8C"/>
                </a:solidFill>
                <a:latin typeface="Calibri"/>
              </a:rPr>
              <a:t>18/09/2026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4F81BD"/>
                </a:solidFill>
                <a:latin typeface="Calibri"/>
              </a:rPr>
              <a:t>AÇÕES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C8C8C"/>
                </a:solidFill>
                <a:latin typeface="Calibri"/>
              </a:rPr>
              <a:t>Uso interno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  <a:latin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6217920"/>
            <a:ext cx="18288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1" i="0">
                <a:solidFill>
                  <a:srgbClr val="1F3A5F"/>
                </a:solidFill>
                <a:latin typeface="Calibri"/>
              </a:rPr>
              <a:t>EMPRESA EXEMPLO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737360"/>
          <a:ext cx="11274552" cy="27432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943600"/>
                <a:gridCol w="1828800"/>
                <a:gridCol w="1371600"/>
                <a:gridCol w="2130552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Ação</a:t>
                      </a:r>
                    </a:p>
                  </a:txBody>
                  <a:tcPr anchor="ctr" marL="73152" marR="7315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Dono</a:t>
                      </a:r>
                    </a:p>
                  </a:txBody>
                  <a:tcPr anchor="ctr" marL="73152" marR="7315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Prazo</a:t>
                      </a:r>
                    </a:p>
                  </a:txBody>
                  <a:tcPr anchor="ctr" marL="73152" marR="7315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anchor="ctr" marL="73152" marR="73152"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Renovar certificados com menos de 60 dias de validade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Infraestrutura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20/09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Concluída</a:t>
                      </a:r>
                    </a:p>
                  </a:txBody>
                  <a:tcPr anchor="ctr" marL="73152" marR="73152">
                    <a:solidFill>
                      <a:srgbClr val="2E7D3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Alerta automático de validade (30 dias)</a:t>
                      </a:r>
                    </a:p>
                  </a:txBody>
                  <a:tcPr anchor="ctr" marL="73152" marR="7315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Infraestrutura</a:t>
                      </a:r>
                    </a:p>
                  </a:txBody>
                  <a:tcPr anchor="ctr" marL="73152" marR="7315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30/09</a:t>
                      </a:r>
                    </a:p>
                  </a:txBody>
                  <a:tcPr anchor="ctr" marL="73152" marR="7315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Em andamento</a:t>
                      </a:r>
                    </a:p>
                  </a:txBody>
                  <a:tcPr anchor="ctr" marL="73152" marR="73152">
                    <a:solidFill>
                      <a:srgbClr val="F9A82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Inventário de certificados com dono por sistema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TI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15/10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8C8C8C"/>
                          </a:solidFill>
                          <a:latin typeface="Calibri"/>
                        </a:rPr>
                        <a:t>Não iniciada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Rotina de escalonamento de severidade 1 e 2 revisada</a:t>
                      </a:r>
                    </a:p>
                  </a:txBody>
                  <a:tcPr anchor="ctr" marL="73152" marR="7315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Suporte</a:t>
                      </a:r>
                    </a:p>
                  </a:txBody>
                  <a:tcPr anchor="ctr" marL="73152" marR="7315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10/10</a:t>
                      </a:r>
                    </a:p>
                  </a:txBody>
                  <a:tcPr anchor="ctr" marL="73152" marR="7315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8C8C8C"/>
                          </a:solidFill>
                          <a:latin typeface="Calibri"/>
                        </a:rPr>
                        <a:t>Não iniciada</a:t>
                      </a:r>
                    </a:p>
                  </a:txBody>
                  <a:tcPr anchor="ctr" marL="73152" marR="73152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Segundo emissor autorizado (backup)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TI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31/10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8C8C8C"/>
                          </a:solidFill>
                          <a:latin typeface="Calibri"/>
                        </a:rPr>
                        <a:t>Não iniciada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5394960"/>
            <a:ext cx="11274552" cy="685800"/>
          </a:xfrm>
          <a:prstGeom prst="rect">
            <a:avLst/>
          </a:prstGeom>
          <a:solidFill>
            <a:srgbClr val="FFF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5394960"/>
            <a:ext cx="73152" cy="68580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5394960"/>
            <a:ext cx="1088136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  <a:latin typeface="Calibri"/>
              </a:rPr>
              <a:t/>
            </a:r>
            <a:r>
              <a:rPr sz="1600" b="1" i="0">
                <a:solidFill>
                  <a:srgbClr val="F2A900"/>
                </a:solidFill>
                <a:latin typeface="Calibri"/>
              </a:rPr>
              <a:t>Decisão pedida:  </a:t>
            </a:r>
            <a:r>
              <a:rPr sz="1600" b="1" i="0">
                <a:solidFill>
                  <a:srgbClr val="333333"/>
                </a:solidFill>
                <a:latin typeface="Calibri"/>
              </a:rPr>
              <a:t>Aprovar a ferramenta de monitoramento de certificados (R$ 12 mil/ano)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1792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"/>
              </a:rPr>
              <a:t>Três mudanças permanentes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8C8C8C"/>
                </a:solidFill>
                <a:latin typeface="Calibri"/>
              </a:rPr>
              <a:t>EMPRESA EXEMPLO  |  RELATÓRIO DE INCIDENTE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8C8C8C"/>
                </a:solidFill>
                <a:latin typeface="Calibri"/>
              </a:rPr>
              <a:t>18/09/2026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4F81BD"/>
                </a:solidFill>
                <a:latin typeface="Calibri"/>
              </a:rPr>
              <a:t>O QUE MUDA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C8C8C"/>
                </a:solidFill>
                <a:latin typeface="Calibri"/>
              </a:rPr>
              <a:t>Uso interno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  <a:latin typeface="Calibr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6217920"/>
            <a:ext cx="18288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1" i="0">
                <a:solidFill>
                  <a:srgbClr val="1F3A5F"/>
                </a:solidFill>
                <a:latin typeface="Calibri"/>
              </a:rPr>
              <a:t>EMPRESA EXEMPLO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3575304" cy="42062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3575304" cy="5486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11680"/>
            <a:ext cx="1371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1" i="0">
                <a:solidFill>
                  <a:srgbClr val="1F3A5F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60320"/>
            <a:ext cx="3118104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1" i="0">
                <a:solidFill>
                  <a:srgbClr val="333333"/>
                </a:solidFill>
                <a:latin typeface="Calibri"/>
              </a:rPr>
              <a:t>Monitoramento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246120"/>
            <a:ext cx="3118104" cy="2651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Validade de certificados entra no painel de disponibilidade com alerta de 30 dias.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06824" y="1828800"/>
            <a:ext cx="3575304" cy="42062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06824" y="1828800"/>
            <a:ext cx="3575304" cy="54864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35424" y="2011680"/>
            <a:ext cx="1371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1" i="0">
                <a:solidFill>
                  <a:srgbClr val="4F81BD"/>
                </a:solidFill>
                <a:latin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5424" y="2560320"/>
            <a:ext cx="3118104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1" i="0">
                <a:solidFill>
                  <a:srgbClr val="333333"/>
                </a:solidFill>
                <a:latin typeface="Calibri"/>
              </a:rPr>
              <a:t>Responsabilidade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3246120"/>
            <a:ext cx="3118104" cy="2651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Cada certificado tem dono e data de renovação no inventário.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56448" y="1828800"/>
            <a:ext cx="3575304" cy="42062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6448" y="1828800"/>
            <a:ext cx="3575304" cy="54864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5048" y="2011680"/>
            <a:ext cx="1371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1" i="0">
                <a:solidFill>
                  <a:srgbClr val="F2A900"/>
                </a:solidFill>
                <a:latin typeface="Calibr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5048" y="2560320"/>
            <a:ext cx="3118104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1" i="0">
                <a:solidFill>
                  <a:srgbClr val="333333"/>
                </a:solidFill>
                <a:latin typeface="Calibri"/>
              </a:rPr>
              <a:t>Resposta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5048" y="3246120"/>
            <a:ext cx="3118104" cy="2651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Severidade 2 escala em 10 minutos para o plantão de infraestrutura.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