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Produzido</c:v>
                </c:pt>
              </c:strCache>
            </c:strRef>
          </c:tx>
          <c:spPr>
            <a:ln w="31750">
              <a:solidFill>
                <a:srgbClr val="003366"/>
              </a:solidFill>
            </a:ln>
          </c:spPr>
          <c:marker>
            <c:spPr>
              <a:solidFill>
                <a:srgbClr val="003366"/>
              </a:solidFill>
              <a:ln>
                <a:solidFill>
                  <a:srgbClr val="0033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4600</c:v>
                </c:pt>
                <c:pt idx="1">
                  <c:v>4300</c:v>
                </c:pt>
                <c:pt idx="2">
                  <c:v>4100</c:v>
                </c:pt>
                <c:pt idx="3">
                  <c:v>4550</c:v>
                </c:pt>
                <c:pt idx="4">
                  <c:v>4200</c:v>
                </c:pt>
                <c:pt idx="5">
                  <c:v>3900</c:v>
                </c:pt>
                <c:pt idx="6">
                  <c:v>4120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31750">
              <a:solidFill>
                <a:srgbClr val="666666"/>
              </a:solidFill>
              <a:prstDash val="dash"/>
            </a:ln>
          </c:spPr>
          <c:marker>
            <c:spPr>
              <a:solidFill>
                <a:srgbClr val="666666"/>
              </a:solidFill>
              <a:ln>
                <a:solidFill>
                  <a:srgbClr val="666666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26/08</c:v>
                </c:pt>
                <c:pt idx="1">
                  <c:v>27/08</c:v>
                </c:pt>
                <c:pt idx="2">
                  <c:v>28/08</c:v>
                </c:pt>
                <c:pt idx="3">
                  <c:v>29/08</c:v>
                </c:pt>
                <c:pt idx="4">
                  <c:v>30/08</c:v>
                </c:pt>
                <c:pt idx="5">
                  <c:v>31/08</c:v>
                </c:pt>
                <c:pt idx="6">
                  <c:v>01/09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4500</c:v>
                </c:pt>
                <c:pt idx="1">
                  <c:v>4500</c:v>
                </c:pt>
                <c:pt idx="2">
                  <c:v>4500</c:v>
                </c:pt>
                <c:pt idx="3">
                  <c:v>4500</c:v>
                </c:pt>
                <c:pt idx="4">
                  <c:v>4500</c:v>
                </c:pt>
                <c:pt idx="5">
                  <c:v>4500</c:v>
                </c:pt>
                <c:pt idx="6">
                  <c:v>4500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75"/>
          </a:pPr>
        </a:p>
      </c:txPr>
    </c:legend>
    <c:plotVisOnly val="1"/>
    <c:dispBlanksAs val="gap"/>
    <c:showDLblsOverMax val="0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>
            <a:solidFill>
              <a:srgbClr val="003366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Ajuste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75">
                  <a:solidFill>
                    <a:srgbClr val="1A1A1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66666"/>
            </a:solidFill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75">
                <a:solidFill>
                  <a:srgbClr val="666666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375">
          <a:solidFill>
            <a:srgbClr val="1A1A1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Ontem: 3 de 6 indicadores no verde; OEE em 68%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SEGURANÇA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0 inc.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142 dias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2012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2012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9172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9172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125" b="1" i="0">
                <a:solidFill>
                  <a:srgbClr val="1A1A1A"/>
                </a:solidFill>
                <a:latin typeface="Arial"/>
              </a:rPr>
              <a:t>4.120 pç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9172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4.500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6824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06824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QUALIDADE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Arial"/>
              </a:rPr>
              <a:t>1,8% refugo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1636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8796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OEE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750" b="1" i="0">
                <a:solidFill>
                  <a:srgbClr val="1A1A1A"/>
                </a:solidFill>
                <a:latin typeface="Arial"/>
              </a:rPr>
              <a:t>68%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75%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6448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6448" y="1554480"/>
            <a:ext cx="1650492" cy="73152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ENTREGAS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125" b="1" i="0">
                <a:solidFill>
                  <a:srgbClr val="1A1A1A"/>
                </a:solidFill>
                <a:latin typeface="Arial"/>
              </a:rPr>
              <a:t>96% OTIF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00A651"/>
                </a:solidFill>
                <a:latin typeface="Arial"/>
              </a:rPr>
              <a:t>meta 95%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81260" y="1554480"/>
            <a:ext cx="1650492" cy="219456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81260" y="1554480"/>
            <a:ext cx="1650492" cy="73152"/>
          </a:xfrm>
          <a:prstGeom prst="rect">
            <a:avLst/>
          </a:prstGeom>
          <a:solidFill>
            <a:srgbClr val="E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8420" y="178308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666666"/>
                </a:solidFill>
                <a:latin typeface="Arial"/>
              </a:rPr>
              <a:t>PARADAS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18420" y="214884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625" b="1" i="0">
                <a:solidFill>
                  <a:srgbClr val="1A1A1A"/>
                </a:solidFill>
                <a:latin typeface="Arial"/>
              </a:rPr>
              <a:t>310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18420" y="315468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25" b="1" i="0">
                <a:solidFill>
                  <a:srgbClr val="E00000"/>
                </a:solidFill>
                <a:latin typeface="Arial"/>
              </a:rPr>
              <a:t>meta 180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Produção abaixo da meta em 4 dos últimos 7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MES, turnos A+B+C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graphicFrame>
        <p:nvGraphicFramePr>
          <p:cNvPr id="6" name="Chart 5" descr="Produção abaixo da meta em 4 dos últimos 7 dias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Troca de ferramenta e falta de material = 70% das paradas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Arial"/>
              </a:rPr>
              <a:t>Fonte: Apontamento de paradas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Chart 5" descr="Troca de ferramenta e falta de material = 70% das paradas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Prensa 3: 4h de parada por falha hidráulica; manutenção corretiva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Causa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73152" marR="73152" marT="27432" marB="27432" anchor="ctr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Paradas Prensa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240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Vazamento no cilindro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Hoje 14h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Falta de material L2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95 min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Atraso do almoxarifado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2h na linha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marL="73152" marR="73152" marT="27432" marB="27432" anchor="ctr"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3500" b="1" i="0">
                <a:solidFill>
                  <a:srgbClr val="003366"/>
                </a:solidFill>
                <a:latin typeface="Arial"/>
              </a:rPr>
              <a:t>5 ações abertas, 2 atrasadas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25" b="0" i="0">
                <a:solidFill>
                  <a:srgbClr val="666666"/>
                </a:solidFill>
                <a:latin typeface="Arial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5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Trocar vedação Prensa 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Manutenção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01/09 14h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FC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Kit de material 2h na linha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Logística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02/09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666666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Treinar turno C em SMED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Supervisor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Arial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E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