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Produzido</c:v>
                </c:pt>
              </c:strCache>
            </c:strRef>
          </c:tx>
          <c:spPr>
            <a:ln w="31750">
              <a:solidFill>
                <a:srgbClr val="003366"/>
              </a:solidFill>
            </a:ln>
          </c:spPr>
          <c:marker>
            <c:spPr>
              <a:solidFill>
                <a:srgbClr val="003366"/>
              </a:solidFill>
              <a:ln>
                <a:solidFill>
                  <a:srgbClr val="003366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4600</c:v>
                </c:pt>
                <c:pt idx="1">
                  <c:v>4300</c:v>
                </c:pt>
                <c:pt idx="2">
                  <c:v>4100</c:v>
                </c:pt>
                <c:pt idx="3">
                  <c:v>4550</c:v>
                </c:pt>
                <c:pt idx="4">
                  <c:v>4200</c:v>
                </c:pt>
                <c:pt idx="5">
                  <c:v>3900</c:v>
                </c:pt>
                <c:pt idx="6">
                  <c:v>4120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ln w="31750">
              <a:solidFill>
                <a:srgbClr val="666666"/>
              </a:solidFill>
              <a:prstDash val="dash"/>
            </a:ln>
          </c:spPr>
          <c:marker>
            <c:spPr>
              <a:solidFill>
                <a:srgbClr val="666666"/>
              </a:solidFill>
              <a:ln>
                <a:solidFill>
                  <a:srgbClr val="666666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4500</c:v>
                </c:pt>
                <c:pt idx="1">
                  <c:v>4500</c:v>
                </c:pt>
                <c:pt idx="2">
                  <c:v>4500</c:v>
                </c:pt>
                <c:pt idx="3">
                  <c:v>4500</c:v>
                </c:pt>
                <c:pt idx="4">
                  <c:v>4500</c:v>
                </c:pt>
                <c:pt idx="5">
                  <c:v>4500</c:v>
                </c:pt>
                <c:pt idx="6">
                  <c:v>4500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375"/>
          </a:pPr>
        </a:p>
      </c:txPr>
    </c:legend>
    <c:plotVisOnly val="1"/>
    <c:dispBlanksAs val="gap"/>
    <c:showDLblsOverMax val="0"/>
  </c:chart>
  <c:txPr>
    <a:bodyPr/>
    <a:lstStyle/>
    <a:p>
      <a:pPr>
        <a:defRPr sz="1375">
          <a:solidFill>
            <a:srgbClr val="1A1A1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spPr>
            <a:solidFill>
              <a:srgbClr val="00336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Troca de ferramenta</c:v>
                </c:pt>
                <c:pt idx="1">
                  <c:v>Falta de material</c:v>
                </c:pt>
                <c:pt idx="2">
                  <c:v>Falha hidráulica</c:v>
                </c:pt>
                <c:pt idx="3">
                  <c:v>Ajuste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95</c:v>
                </c:pt>
                <c:pt idx="2">
                  <c:v>50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375">
                  <a:solidFill>
                    <a:srgbClr val="1A1A1A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75">
          <a:solidFill>
            <a:srgbClr val="1A1A1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Ontem: 3 de 6 indicadores no verde; OEE em 68%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650492" cy="73152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SEGURANÇA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750" b="1" i="0">
                <a:solidFill>
                  <a:srgbClr val="1A1A1A"/>
                </a:solidFill>
                <a:latin typeface="Arial"/>
              </a:rPr>
              <a:t>0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00A651"/>
                </a:solidFill>
                <a:latin typeface="Arial"/>
              </a:rPr>
              <a:t>142 dias</a:t>
            </a:r>
          </a:p>
        </p:txBody>
      </p:sp>
      <p:sp>
        <p:nvSpPr>
          <p:cNvPr id="9" name="Rectangle 8"/>
          <p:cNvSpPr/>
          <p:nvPr/>
        </p:nvSpPr>
        <p:spPr>
          <a:xfrm>
            <a:off x="2382012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82012" y="1554480"/>
            <a:ext cx="1650492" cy="73152"/>
          </a:xfrm>
          <a:prstGeom prst="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9172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PRODUÇÃO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9172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750" b="1" i="0">
                <a:solidFill>
                  <a:srgbClr val="1A1A1A"/>
                </a:solidFill>
                <a:latin typeface="Arial"/>
              </a:rPr>
              <a:t>4.120 pç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9172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E00000"/>
                </a:solidFill>
                <a:latin typeface="Arial"/>
              </a:rPr>
              <a:t>meta 4.500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06824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06824" y="1554480"/>
            <a:ext cx="1650492" cy="73152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QUALIDADE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750" b="1" i="0">
                <a:solidFill>
                  <a:srgbClr val="1A1A1A"/>
                </a:solidFill>
                <a:latin typeface="Arial"/>
              </a:rPr>
              <a:t>1,8% refugo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00A651"/>
                </a:solidFill>
                <a:latin typeface="Arial"/>
              </a:rPr>
              <a:t>meta 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1636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1636" y="1554480"/>
            <a:ext cx="1650492" cy="73152"/>
          </a:xfrm>
          <a:prstGeom prst="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8796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OEE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750" b="1" i="0">
                <a:solidFill>
                  <a:srgbClr val="1A1A1A"/>
                </a:solidFill>
                <a:latin typeface="Arial"/>
              </a:rPr>
              <a:t>68%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E00000"/>
                </a:solidFill>
                <a:latin typeface="Arial"/>
              </a:rPr>
              <a:t>meta 75%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6448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56448" y="1554480"/>
            <a:ext cx="1650492" cy="73152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93608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ENTREGAS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750" b="1" i="0">
                <a:solidFill>
                  <a:srgbClr val="1A1A1A"/>
                </a:solidFill>
                <a:latin typeface="Arial"/>
              </a:rPr>
              <a:t>96% OTIF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00A651"/>
                </a:solidFill>
                <a:latin typeface="Arial"/>
              </a:rPr>
              <a:t>meta 95%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81260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1260" y="1554480"/>
            <a:ext cx="1650492" cy="73152"/>
          </a:xfrm>
          <a:prstGeom prst="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18420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PARADAS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8420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750" b="1" i="0">
                <a:solidFill>
                  <a:srgbClr val="1A1A1A"/>
                </a:solidFill>
                <a:latin typeface="Arial"/>
              </a:rPr>
              <a:t>310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18420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E00000"/>
                </a:solidFill>
                <a:latin typeface="Arial"/>
              </a:rPr>
              <a:t>meta 180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Produção abaixo da meta em 4 dos últimos 7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Arial"/>
              </a:rPr>
              <a:t>Fonte: MES, turnos A+B+C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Troca de ferramenta e falta de material = 70% das paradas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Arial"/>
              </a:rPr>
              <a:t>Fonte: Apontamento de paradas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Prensa 3: 4h de parada por falha hidráulica; manutenção corretiva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0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0650"/>
                <a:gridCol w="1610650"/>
                <a:gridCol w="1610650"/>
                <a:gridCol w="1610650"/>
                <a:gridCol w="1610650"/>
                <a:gridCol w="1610650"/>
                <a:gridCol w="161065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Desvio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Causa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Paradas Prensa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240 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60 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Vazamento no cilindro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Trocar vedação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Manutenção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Hoje 14h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Falta de material L2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95 min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Atraso do almoxarifado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Kit de 2h na linha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Logística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02/09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5 ações abertas, 2 atrasadas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Trocar vedação Prensa 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Manutenção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01/09 14h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FC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Kit de material 2h na linha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Logística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02/09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666666"/>
                          </a:solidFill>
                          <a:latin typeface="Arial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Treinar turno C em SMED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Supervisor 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28/08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Atrasada</a:t>
                      </a:r>
                    </a:p>
                  </a:txBody>
                  <a:tcPr anchor="ctr" marL="73152" marR="73152">
                    <a:solidFill>
                      <a:srgbClr val="E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