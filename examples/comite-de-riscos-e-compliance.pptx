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B8860B"/>
                </a:solidFill>
                <a:latin typeface="Arial"/>
              </a:rPr>
              <a:t>COMITÊ DE RISCOS 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Comitê de riscos e compliance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Mapa de riscos, tratamento, compliance e auditoria interna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Arial"/>
              </a:rPr>
              <a:t>Exposição geral estável; o risco cibernético subiu para crítico e dois planos de tratamento estão atrasados.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out/2026 | Confidencial - comitê de riscos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3 riscos críticos; 85% dos planos de tratamento no prazo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RISCOS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Registro de riscos, canal de denúncias e auditoria interna, set/26   |   Confidencial - comitê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RISCOS CRÍTICOS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Arial"/>
              </a:rPr>
              <a:t>+1 no trimestre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RISCOS ALTOS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estável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PLANOS NO PRAZO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2 atrasados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DENÚNCIAS TRATADAS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9 de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prazo médio 21 dias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ACHADOS DE AUDITORIA ABERTOS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Arial"/>
              </a:rPr>
              <a:t>3 altos atrasados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TREINAMENTO DE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meta 95%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Três riscos no quadrante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RISCOS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MAPA DE RISCOS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Registro de riscos (escala no anexo)   |   Confidencial - comitê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737360"/>
            <a:ext cx="4069080" cy="1920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7F7F7F"/>
                </a:solidFill>
                <a:latin typeface="Arial"/>
              </a:rPr>
              <a:t>ALTO IMPACTO, BAIXA PROB.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4. Concentração de clientes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6. Falha de fornecedor crítico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737360"/>
            <a:ext cx="4069080" cy="192024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7F7F7F"/>
                </a:solidFill>
                <a:latin typeface="Arial"/>
              </a:rPr>
              <a:t>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1. Ataque cibernético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2. Câmbio (novo hedge em curso)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3. Perda de licença regulatória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749040"/>
            <a:ext cx="4069080" cy="1920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7F7F7F"/>
                </a:solidFill>
                <a:latin typeface="Arial"/>
              </a:rPr>
              <a:t>MONITORAR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8. Rotatividade de talentos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10. Inadimplência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3749040"/>
            <a:ext cx="4069080" cy="1920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7F7F7F"/>
                </a:solidFill>
                <a:latin typeface="Arial"/>
              </a:rPr>
              <a:t>ALTA PROB., BAIXO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5. Atraso em projetos de TI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7. Multas trabalhistas</a:t>
            </a:r>
          </a:p>
          <a:p>
            <a:pPr marL="228600" indent="-228600">
              <a:spcAft>
                <a:spcPts val="400"/>
              </a:spcAft>
              <a:buClr>
                <a:srgbClr val="0B2545"/>
              </a:buClr>
              <a:buChar char="•"/>
            </a:pPr>
            <a:r>
              <a:rPr sz="1300" b="0" i="0">
                <a:solidFill>
                  <a:srgbClr val="2B2B2B"/>
                </a:solidFill>
                <a:latin typeface="Arial"/>
              </a:rPr>
              <a:t>9. Interrupção logística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150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Arial"/>
              </a:rPr>
              <a:t>Probabilidade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57200" y="35204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Arial"/>
              </a:rPr>
              <a:t>Impacto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Cibernético sobe; câmbio desce com o hedge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RISCOS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MUDANÇAS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Registro de riscos   |   Confidencial - comitê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Trimestre anterior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Atual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Motivo da mudança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Ataque cibernético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Crítico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Dois incidentes no setor e teste de intrusão com falhas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Câmbio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Crítico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Hedge de 60% da exposição contratado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Perda de licença regulatória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Crítico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Nova exigência com prazo em mar/27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Interrupção logística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Sem mudança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Dois planos de tratamento atrasados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RISCOS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TRATAMENTO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Planos de tratamento   |   Confidencial - comitê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Residual esperado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Ataque cibernético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Autenticação multifator e segmentação de rede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dez/26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Ataque cibernético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Resposta a incidentes testada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TI + Jurídico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set/26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Atrasado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Licença regulatória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Adequação ao novo requisito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Regulatório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fev/27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Concentração de clientes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Plano de diversificação comercial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Comercial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ago/26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Atrasado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Três decisões para o comitê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RISCOS 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Confidencial - comitê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investimento em segurança cibernética (R$ 600 mil)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Comitê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hoje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Escalar plano de diversificação comercial à diretoria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Comitê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hoje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Confirmar apetite a risco cambial (hedge de 60% para 80%)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nov/26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F7F7F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Decisão pedida: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o investimento em segurança e o novo apetite cambial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