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frequência</c:v>
                </c:pt>
              </c:strCache>
            </c:strRef>
          </c:tx>
          <c:spPr>
            <a:ln w="31750">
              <a:solidFill>
                <a:srgbClr val="1C3F60"/>
              </a:solidFill>
            </a:ln>
          </c:spPr>
          <c:marker>
            <c:spPr>
              <a:solidFill>
                <a:srgbClr val="1C3F60"/>
              </a:solidFill>
              <a:ln>
                <a:solidFill>
                  <a:srgbClr val="1C3F6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out</c:v>
                </c:pt>
                <c:pt idx="1">
                  <c:v>nov</c:v>
                </c:pt>
                <c:pt idx="2">
                  <c:v>dez</c:v>
                </c:pt>
                <c:pt idx="3">
                  <c:v>jan</c:v>
                </c:pt>
                <c:pt idx="4">
                  <c:v>fev</c:v>
                </c:pt>
                <c:pt idx="5">
                  <c:v>mar</c:v>
                </c:pt>
                <c:pt idx="6">
                  <c:v>abr</c:v>
                </c:pt>
                <c:pt idx="7">
                  <c:v>mai</c:v>
                </c:pt>
                <c:pt idx="8">
                  <c:v>jun</c:v>
                </c:pt>
                <c:pt idx="9">
                  <c:v>jul</c:v>
                </c:pt>
                <c:pt idx="10">
                  <c:v>ago</c:v>
                </c:pt>
                <c:pt idx="11">
                  <c:v>set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3.1</c:v>
                </c:pt>
                <c:pt idx="1">
                  <c:v>3.0</c:v>
                </c:pt>
                <c:pt idx="2">
                  <c:v>3.2</c:v>
                </c:pt>
                <c:pt idx="3">
                  <c:v>2.9</c:v>
                </c:pt>
                <c:pt idx="4">
                  <c:v>2.8</c:v>
                </c:pt>
                <c:pt idx="5">
                  <c:v>2.9</c:v>
                </c:pt>
                <c:pt idx="6">
                  <c:v>2.6</c:v>
                </c:pt>
                <c:pt idx="7">
                  <c:v>2.4</c:v>
                </c:pt>
                <c:pt idx="8">
                  <c:v>2.3</c:v>
                </c:pt>
                <c:pt idx="9">
                  <c:v>2.1</c:v>
                </c:pt>
                <c:pt idx="10">
                  <c:v>1.9</c:v>
                </c:pt>
                <c:pt idx="11">
                  <c:v>1.8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ln w="31750">
              <a:solidFill>
                <a:srgbClr val="8C8C8C"/>
              </a:solidFill>
              <a:prstDash val="dash"/>
            </a:ln>
          </c:spPr>
          <c:marker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out</c:v>
                </c:pt>
                <c:pt idx="1">
                  <c:v>nov</c:v>
                </c:pt>
                <c:pt idx="2">
                  <c:v>dez</c:v>
                </c:pt>
                <c:pt idx="3">
                  <c:v>jan</c:v>
                </c:pt>
                <c:pt idx="4">
                  <c:v>fev</c:v>
                </c:pt>
                <c:pt idx="5">
                  <c:v>mar</c:v>
                </c:pt>
                <c:pt idx="6">
                  <c:v>abr</c:v>
                </c:pt>
                <c:pt idx="7">
                  <c:v>mai</c:v>
                </c:pt>
                <c:pt idx="8">
                  <c:v>jun</c:v>
                </c:pt>
                <c:pt idx="9">
                  <c:v>jul</c:v>
                </c:pt>
                <c:pt idx="10">
                  <c:v>ago</c:v>
                </c:pt>
                <c:pt idx="11">
                  <c:v>set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Arial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6A21"/>
                </a:solidFill>
                <a:latin typeface="Arial"/>
              </a:rPr>
              <a:t>COMITÊ DE 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Segurança e saúde, setembro/26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Arial"/>
              </a:rPr>
              <a:t>Unidade industrial | dados sem identificação de pessoas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C3F60"/>
                </a:solidFill>
                <a:latin typeface="Arial"/>
              </a:rPr>
              <a:t>142 dias sem acidente com afastamento; mãos e ergonomia concentram os eventos e pedem ação em duas linhas.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Arial"/>
              </a:rPr>
              <a:t>out/2026 | Uso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142 dias sem acidente com afastamento; taxa de frequência abaixo da meta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PAINEL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Sistema de SSMA, set/26 (base 182 mil horas)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DIAS SEM CAF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Arial"/>
              </a:rPr>
              <a:t>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recorde: 210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6974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6974" y="1828800"/>
            <a:ext cx="2035454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4134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ACIDENTES SAF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4134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Arial"/>
              </a:rPr>
              <a:t>mês anterior: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6748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6748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3908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TAXA DE FREQUÊNCIA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3908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Arial"/>
              </a:rPr>
              <a:t>1,8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3908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meta 2,5 (12 meses)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6523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6523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3683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QUASE-ACIDENTES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3683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Arial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3683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reportados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6297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6297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3457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DESVIOS TRATADOS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3457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Arial"/>
              </a:rPr>
              <a:t>91%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33457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meta 90%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Taxa de frequência cai pelo quarto mês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TENDÊNCIA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Arial"/>
              </a:rPr>
              <a:t>Acidentes por milhão de horas, 12 meses móveis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Sistema de SSMA   |   Uso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10" name="Chart 9" descr="Taxa de frequência cai pelo quarto mês"/>
          <p:cNvGraphicFramePr>
            <a:graphicFrameLocks noGrp="1"/>
          </p:cNvGraphicFramePr>
          <p:nvPr/>
        </p:nvGraphicFramePr>
        <p:xfrm>
          <a:off x="457200" y="2011680"/>
          <a:ext cx="11274552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Mãos e ergonomia concentram 60% dos eventos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TIPOS DE EVENTO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Acidentes, quase-acidentes e primeiros socorros, 12 meses (n=30)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Arial"/>
              </a:rPr>
              <a:t>FOCO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Proteções de máquina na linha 2 e análise ergonômica do envase atacam os dois tipos principais.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4389120"/>
            <a:ext cx="10177272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4290" y="2011680"/>
            <a:ext cx="1221272" cy="237744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410" y="1719072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439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Mãos (corte/prensamento)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9745" y="2876203"/>
            <a:ext cx="1221272" cy="1512916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6865" y="2583595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2654" y="44439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Ergonômico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5199" y="3308465"/>
            <a:ext cx="1221272" cy="1080654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2319" y="3015857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8108" y="44439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Queda mesmo nível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70654" y="3524596"/>
            <a:ext cx="1221272" cy="864523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7774" y="3231988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3563" y="44439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Outros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108" y="3740727"/>
            <a:ext cx="1221272" cy="648392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228" y="3448119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9017" y="44439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Químico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474927" y="2962656"/>
            <a:ext cx="2035454" cy="554736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510381" y="2566416"/>
            <a:ext cx="2035455" cy="396240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545836" y="2249424"/>
            <a:ext cx="2035454" cy="316992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581290" y="2011680"/>
            <a:ext cx="2035454" cy="237744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410919" y="3453384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7727" y="3151632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37%</a:t>
            </a:r>
          </a:p>
        </p:txBody>
      </p:sp>
      <p:sp>
        <p:nvSpPr>
          <p:cNvPr id="35" name="Oval 34"/>
          <p:cNvSpPr/>
          <p:nvPr/>
        </p:nvSpPr>
        <p:spPr>
          <a:xfrm>
            <a:off x="3446373" y="2898648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53181" y="2596896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60%</a:t>
            </a:r>
          </a:p>
        </p:txBody>
      </p:sp>
      <p:sp>
        <p:nvSpPr>
          <p:cNvPr id="37" name="Oval 36"/>
          <p:cNvSpPr/>
          <p:nvPr/>
        </p:nvSpPr>
        <p:spPr>
          <a:xfrm>
            <a:off x="5481827" y="2502408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88636" y="2200656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77%</a:t>
            </a:r>
          </a:p>
        </p:txBody>
      </p:sp>
      <p:sp>
        <p:nvSpPr>
          <p:cNvPr id="39" name="Oval 38"/>
          <p:cNvSpPr/>
          <p:nvPr/>
        </p:nvSpPr>
        <p:spPr>
          <a:xfrm>
            <a:off x="7517282" y="2185416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24090" y="1883664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90%</a:t>
            </a:r>
          </a:p>
        </p:txBody>
      </p:sp>
      <p:sp>
        <p:nvSpPr>
          <p:cNvPr id="41" name="Oval 40"/>
          <p:cNvSpPr/>
          <p:nvPr/>
        </p:nvSpPr>
        <p:spPr>
          <a:xfrm>
            <a:off x="9552736" y="1947672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59544" y="1645920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100%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" y="2487168"/>
            <a:ext cx="10177272" cy="0"/>
          </a:xfrm>
          <a:prstGeom prst="line">
            <a:avLst/>
          </a:prstGeom>
          <a:ln w="9525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680192" y="2350008"/>
            <a:ext cx="10058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80% acum.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Dois eventos com potencial de gravidade 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EVENTOS DO MÊS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Investigações de eventos (sem identificação de pessoas)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10650"/>
                <a:gridCol w="1610650"/>
                <a:gridCol w="1610650"/>
                <a:gridCol w="1610650"/>
                <a:gridCol w="1610650"/>
                <a:gridCol w="1610650"/>
                <a:gridCol w="161065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Área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Gravidade potencial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Causa básica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03/09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Linha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Prensamento de dedo (SAF)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27432" marB="27432" anchor="ctr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Proteção removida para ajuste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Intertravamento e bloqueio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17/09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Expedição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Quase-acidente empilhadeira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27432" marB="27432" anchor="ctr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Pedestre em área de tráfego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Segregação de fluxo e sinalização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Concluída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22/09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Envase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Corte leve (SAF)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Baixa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Estilete inadequado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Substituir por cortador de segurança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Concluída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Inspeções em 96%; observações comportamentais em 70%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PREVENÇÃO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Programas de SSMA, set/26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Inspeções planejadas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74519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6144768" cy="228600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178308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48 de 50 (96%)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DDS realizados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37744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377440"/>
            <a:ext cx="6400800" cy="228600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22 de 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Treinamentos obrigatórios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88036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880360"/>
            <a:ext cx="5952744" cy="228600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78892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93%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Observações comportamentais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38328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383280"/>
            <a:ext cx="4480559" cy="2286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329184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Arial"/>
              </a:rPr>
              <a:t>35 de 50 (70%)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Exames periódicos em dia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88620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886200"/>
            <a:ext cx="6272783" cy="228600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379476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98%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5 ações abertas, 1 atrasada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C3F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Intertravamento das proteções da linha 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Manutenção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15/10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Análise ergonômica do envase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SSMA + Ergonomista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31/10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Segregação de fluxo na expedição (pintura e barreiras)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Logística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30/09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Atrasada</a:t>
                      </a:r>
                    </a:p>
                  </a:txBody>
                  <a:tcPr anchor="ctr" marL="73152" marR="73152"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Campanha de observação comportamental por líder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Supervisores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out/26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Substituir estiletes por cortadores de segurança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Compras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Concluída</a:t>
                      </a:r>
                    </a:p>
                  </a:txBody>
                  <a:tcPr anchor="ctr" marL="73152" marR="73152"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73152" cy="685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Arial"/>
              </a:rPr>
              <a:t/>
            </a:r>
            <a:r>
              <a:rPr sz="1600" b="1" i="0">
                <a:solidFill>
                  <a:srgbClr val="F26A21"/>
                </a:solidFill>
                <a:latin typeface="Arial"/>
              </a:rPr>
              <a:t>Decisão pedida:  </a:t>
            </a:r>
            <a:r>
              <a:rPr sz="1600" b="1" i="0">
                <a:solidFill>
                  <a:srgbClr val="333333"/>
                </a:solidFill>
                <a:latin typeface="Arial"/>
              </a:rPr>
              <a:t>Aprovar R$ 45 mil para intertravamento e barreiras da expedição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