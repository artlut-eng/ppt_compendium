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B8860B"/>
                </a:solidFill>
                <a:latin typeface="Arial"/>
              </a:rPr>
              <a:t>REUNIÃO ORDINÁRIA Nº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Reunião do conselho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Resultado, estratégia, riscos e deliberações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Arial"/>
              </a:rPr>
              <a:t>Resultado no plano e caixa confortável; duas iniciativas estratégicas precisam de decisão hoje.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Resultado do trimestre (informe)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15 min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Iniciativas estratégicas (informe)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402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15 min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Riscos corporativos (informe)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10 min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Investimento na planta 2 (deliberação)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118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20 min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Política de dividendos (deliberação)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2976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15 min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Arial"/>
              </a:rPr>
              <a:t>Pendências e encerramento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9834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SUMÁRIO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Fechamento 3T26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73152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Arial"/>
              </a:rPr>
              <a:t>EBITDA no plano; dois projetos estratégicos em risco; três deliberações hoje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EBITDA de R$ 24,5 mi (+1% vs. plano), receita 2% abaixo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6427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1856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Caixa líquido de R$ 38 mi, alavancagem 0,8x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5676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1104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Expansão da planta 2 e portal B2B com marcos 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Pedimos: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investimento de R$ 12 mi e a política de dividendos revisada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Todos os indicadores acima do ano anterior; receita 2% abaixo do plano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DRE gerencial e pesquisa NPS, 3T26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R$ 124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-2% vs. plano | +9% a.a.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2B2B2B"/>
                </a:solidFill>
                <a:latin typeface="Arial"/>
              </a:rPr>
              <a:t>R$ 24,5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+1% vs. plano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CAIXA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R$ 38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0,8x EBITDA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NPS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+4 vs. 2T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Custo compensou volume menor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PONTE DO 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EBITDA, R$ mi, 3T26 plano vs.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DRE gerencial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5394960"/>
            <a:ext cx="11274552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4227" y="2353396"/>
            <a:ext cx="1165037" cy="304156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907" y="2005924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Arial"/>
              </a:rPr>
              <a:t>24,2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Plano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3319" y="2353396"/>
            <a:ext cx="1165037" cy="263937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8999" y="2005924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Arial"/>
              </a:rPr>
              <a:t>-2,1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6292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Volume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79264" y="2353396"/>
            <a:ext cx="714055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72411" y="2541922"/>
            <a:ext cx="1165037" cy="7541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8091" y="2194450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Arial"/>
              </a:rPr>
              <a:t>+0,6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Preço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58356" y="2617333"/>
            <a:ext cx="714055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51503" y="2240280"/>
            <a:ext cx="1165037" cy="30164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7183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Arial"/>
              </a:rPr>
              <a:t>+2,4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Custo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37448" y="2541922"/>
            <a:ext cx="714055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330595" y="2240280"/>
            <a:ext cx="1165037" cy="7541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56275" y="189280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Arial"/>
              </a:rPr>
              <a:t>-0,6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Despesas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6540" y="2240280"/>
            <a:ext cx="714055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209687" y="2315690"/>
            <a:ext cx="1165037" cy="307926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5367" y="1968218"/>
            <a:ext cx="1713677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Arial"/>
              </a:rPr>
              <a:t>24,5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2660" y="5468112"/>
            <a:ext cx="187909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Real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95632" y="2315690"/>
            <a:ext cx="714055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Quatro de seis iniciativas no verde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PMO, base 30/09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Iniciativa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Marco atual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Decisão necessária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Planta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Licença ambiental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Amarelo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R$ 12 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Portal B2B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Piloto com 10 clientes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Amarelo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Canal indireto Sul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 distribuidores ativos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Baixo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Automação L4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Comissionamento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Baixo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Nova linha 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Testes de estabilidade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0A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ERP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Go-live módulo fiscal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Baixo</a:t>
                      </a:r>
                    </a:p>
                  </a:txBody>
                  <a:tcPr marL="73152" marR="73152" marT="27432" marB="27432" anchor="ctr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Recomendamos aprovar o investimento de R$ 12 mi na planta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DELIBERAÇÃO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06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B8860B"/>
                </a:solidFill>
                <a:latin typeface="Arial"/>
              </a:rPr>
              <a:t>DELIBERAÇÃO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Aprovar a fase 1 (R$ 7 mi) com liberação da fase 2 condicionada à licença.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3575304" cy="33832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Não investir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3300984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Capacidade esgota em 2028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Perda estimada: R$ 8 mi/ano de receita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Sem risco de execução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737360"/>
            <a:ext cx="3575304" cy="3383280"/>
          </a:xfrm>
          <a:prstGeom prst="rect">
            <a:avLst/>
          </a:prstGeom>
          <a:solidFill>
            <a:srgbClr val="EFF1F3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Investir em 2 fases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Recomendada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560320"/>
            <a:ext cx="3300984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R$ 12 mi (fase 1 R$ 7 mi)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Payback 3,2 anos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Risco de licença mitigado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1737360"/>
            <a:ext cx="3575304" cy="33832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Investir tudo agora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560320"/>
            <a:ext cx="3300984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R$ 18 mi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Payback 2,9 anos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Exposição à licença ambiental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Três deliberações para registro em 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CONSELHO DE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Deliberação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Responsável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Registro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fase 1 da planta 2 (R$ 7 mi)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out/26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aprovado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Política de dividendos: mínimo 30% do lucro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nov/26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aprovado com ajuste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Plano de recuperação do portal B2B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próx. reunião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informe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Próxima reunião: 15/01/2027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Arial"/>
              </a:rPr>
              <a:t>Anexos: DRE, balanço, DFC, registro de riscos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