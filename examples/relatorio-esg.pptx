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1F5A3A"/>
              </a:solidFill>
            </a:ln>
          </c:spPr>
          <c:marker>
            <c:spPr>
              <a:solidFill>
                <a:srgbClr val="1F5A3A"/>
              </a:solidFill>
              <a:ln>
                <a:solidFill>
                  <a:srgbClr val="1F5A3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20.9</c:v>
                </c:pt>
                <c:pt idx="1">
                  <c:v>19.8</c:v>
                </c:pt>
                <c:pt idx="2">
                  <c:v>18.4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ln w="31750">
              <a:solidFill>
                <a:srgbClr val="8C8C8C"/>
              </a:solidFill>
              <a:prstDash val="dash"/>
            </a:ln>
          </c:spPr>
          <c:marker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20.9</c:v>
                </c:pt>
                <c:pt idx="1">
                  <c:v>19.4</c:v>
                </c:pt>
                <c:pt idx="2">
                  <c:v>17.8</c:v>
                </c:pt>
                <c:pt idx="3">
                  <c:v>16.0</c:v>
                </c:pt>
                <c:pt idx="4">
                  <c:v>14.0</c:v>
                </c:pt>
                <c:pt idx="5">
                  <c:v>12.0</c:v>
                </c:pt>
                <c:pt idx="6">
                  <c:v>10.5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5B800"/>
                </a:solidFill>
                <a:latin typeface="Arial"/>
              </a:rPr>
              <a:t>SUSTENTABILIDADE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Sustentabilidade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Desempenho ambiental, social e de governança vs. compromissos 2030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E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5A3A"/>
                </a:solidFill>
                <a:latin typeface="Arial"/>
              </a:rPr>
              <a:t>Emissões 12% abaixo de 2024; a meta de 2030 exige acelerar energia renovável e eficiência.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Arial"/>
              </a:rPr>
              <a:t>mar/2027 | Confidencial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5A3A"/>
                </a:solidFill>
                <a:latin typeface="Arial"/>
              </a:rPr>
              <a:t>Cinco de sete indicadores no rumo das metas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RELATÓRIO DE SUSTENTABILIDADE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mar/2027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B9A6E"/>
                </a:solidFill>
                <a:latin typeface="Arial"/>
              </a:rPr>
              <a:t>INDICADORES-CHAVE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Inventário de emissões verificado; indicadores internos 2026   |   Confidencial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5A3A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EMISSÕES (ESCOPOS 1+2)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18,4 mil tCO2e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-12% vs. 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ENERGIA RENOVÁVEL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meta 2030: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ÁGUA POR TONELADA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2,9 m³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-8%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RESÍDUOS RECICLADOS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78%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meta 85%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TAXA DE FREQUÊNCIA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1,8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meta 2,0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MULHERES NA LIDERANÇA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42%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meta 45%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5A3A"/>
                </a:solidFill>
                <a:latin typeface="Arial"/>
              </a:rPr>
              <a:t>Emissões 12% abaixo de 2024, 3 p.p. atrás da trajetória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RELATÓRIO DE SUSTENTABILIDADE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mar/2027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B9A6E"/>
                </a:solidFill>
                <a:latin typeface="Arial"/>
              </a:rPr>
              <a:t>EMISSÕES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Arial"/>
              </a:rPr>
              <a:t>mil tCO2e, escopos 1 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Inventário de emissões (ano-base 2024; valores futuros zerados por falta de dado)   |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5A3A"/>
                </a:solidFill>
                <a:latin typeface="Arial"/>
              </a:rPr>
              <a:t>EMPRESA EXEMPLO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Arial"/>
              </a:rPr>
              <a:t>LEITURA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Arial"/>
              </a:rPr>
              <a:t>Escopo 3 cobre 60% da cadeia e não entra neste gráfico; valores de 2027 em diante são meta, não realizado.</a:t>
            </a:r>
          </a:p>
        </p:txBody>
      </p:sp>
      <p:graphicFrame>
        <p:nvGraphicFramePr>
          <p:cNvPr id="14" name="Chart 13" descr="Emissões 12% abaixo de 2024, 3 p.p. atrás da trajetória"/>
          <p:cNvGraphicFramePr>
            <a:graphicFrameLocks noGrp="1"/>
          </p:cNvGraphicFramePr>
          <p:nvPr/>
        </p:nvGraphicFramePr>
        <p:xfrm>
          <a:off x="457200" y="2011680"/>
          <a:ext cx="11274552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5A3A"/>
                </a:solidFill>
                <a:latin typeface="Arial"/>
              </a:rPr>
              <a:t>Energia renovável responde por metade da redução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RELATÓRIO DE SUSTENTABILIDADE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mar/2027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B9A6E"/>
                </a:solidFill>
                <a:latin typeface="Arial"/>
              </a:rPr>
              <a:t>PONTE DE EMISSÕES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Arial"/>
              </a:rPr>
              <a:t>mil tCO2e, 2024 para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Inventário de emissões   |   Confidencial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5A3A"/>
                </a:solidFill>
                <a:latin typeface="Arial"/>
              </a:rPr>
              <a:t>EMPRESA EXEMPLO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5394960"/>
            <a:ext cx="11274552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3223" y="2240280"/>
            <a:ext cx="998603" cy="3154679"/>
          </a:xfrm>
          <a:prstGeom prst="rect">
            <a:avLst/>
          </a:prstGeom>
          <a:solidFill>
            <a:srgbClr val="1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903" y="1892808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20,9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3873" y="2240280"/>
            <a:ext cx="998603" cy="19622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9553" y="1892808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Arial"/>
              </a:rPr>
              <a:t>-1,3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785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Energia renovável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61826" y="2240280"/>
            <a:ext cx="612047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84524" y="2436504"/>
            <a:ext cx="998603" cy="120753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0204" y="2089032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Arial"/>
              </a:rPr>
              <a:t>-0,8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850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Eficiência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72477" y="2436504"/>
            <a:ext cx="612047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595174" y="2557257"/>
            <a:ext cx="998603" cy="4528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0854" y="2209785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Arial"/>
              </a:rPr>
              <a:t>-0,3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915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Frota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127" y="2557257"/>
            <a:ext cx="612047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205824" y="2542163"/>
            <a:ext cx="998603" cy="603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504" y="2194691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Arial"/>
              </a:rPr>
              <a:t>+0,4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9801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Aumento de produção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93777" y="2602539"/>
            <a:ext cx="612047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816474" y="2542163"/>
            <a:ext cx="998603" cy="7547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2154" y="2194691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Arial"/>
              </a:rPr>
              <a:t>-0,5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0451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Outros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04427" y="2542163"/>
            <a:ext cx="612047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27125" y="2617634"/>
            <a:ext cx="998603" cy="2777325"/>
          </a:xfrm>
          <a:prstGeom prst="rect">
            <a:avLst/>
          </a:prstGeom>
          <a:solidFill>
            <a:srgbClr val="1F5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2805" y="2270162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333333"/>
                </a:solidFill>
                <a:latin typeface="Arial"/>
              </a:rPr>
              <a:t>18,4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1101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2026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15078" y="2617634"/>
            <a:ext cx="612047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5A3A"/>
                </a:solidFill>
                <a:latin typeface="Arial"/>
              </a:rPr>
              <a:t>Meta de 2030 exige dobrar o ritmo de redução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RELATÓRIO DE SUSTENTABILIDADE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mar/2027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B9A6E"/>
                </a:solidFill>
                <a:latin typeface="Arial"/>
              </a:rPr>
              <a:t>COMPROMISSOS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Plano de sustentabilidade   |   Confidencial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5A3A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0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Compromisso</a:t>
                      </a:r>
                    </a:p>
                  </a:txBody>
                  <a:tcPr marL="73152" marR="73152" marT="27432" marB="27432" anchor="ctr">
                    <a:solidFill>
                      <a:srgbClr val="1F5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 marL="73152" marR="73152" marT="27432" marB="27432" anchor="ctr">
                    <a:solidFill>
                      <a:srgbClr val="1F5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Ano</a:t>
                      </a:r>
                    </a:p>
                  </a:txBody>
                  <a:tcPr marL="73152" marR="73152" marT="27432" marB="27432" anchor="ctr">
                    <a:solidFill>
                      <a:srgbClr val="1F5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Situação 2026</a:t>
                      </a:r>
                    </a:p>
                  </a:txBody>
                  <a:tcPr marL="73152" marR="73152" marT="27432" marB="27432" anchor="ctr">
                    <a:solidFill>
                      <a:srgbClr val="1F5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Confiança</a:t>
                      </a:r>
                    </a:p>
                  </a:txBody>
                  <a:tcPr marL="73152" marR="73152" marT="27432" marB="27432" anchor="ctr">
                    <a:solidFill>
                      <a:srgbClr val="1F5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Reduzir emissões (escopos 1+2)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-50% vs. 2024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2030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Energia renovável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2030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Resíduos reciclados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Zero acidentes graves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anual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Fornecedores críticos com due diligence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5A3A"/>
                </a:solidFill>
                <a:latin typeface="Arial"/>
              </a:rPr>
              <a:t>Cinco ações para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RELATÓRIO DE SUSTENTABILIDADE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mar/2027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B9A6E"/>
                </a:solidFill>
                <a:latin typeface="Arial"/>
              </a:rPr>
              <a:t>PLANO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Confidencial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5A3A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5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Contrato de energia renovável para 80% do consumo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Suprimentos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jun/27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Projeto de eficiência térmica (caldeiras)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Engenharia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dez/27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Inventário de escopo 3 completo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Sustentabilidade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set/27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Programa de reciclagem de embalagens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Operações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mar/27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Verificação externa dos indicadores sociais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Sustentabilidade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abr/27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A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Metodologia e verificação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Arial"/>
              </a:rPr>
              <a:t>Inventário conforme protocolo reconhecido, ano-base 2024, verificado por terceira parte | sustentabilidade@empresa-exemplo.com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5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