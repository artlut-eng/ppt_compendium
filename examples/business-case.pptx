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ln w="31750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-2.4</c:v>
                </c:pt>
                <c:pt idx="1">
                  <c:v>-0.95</c:v>
                </c:pt>
                <c:pt idx="2">
                  <c:v>0.5</c:v>
                </c:pt>
                <c:pt idx="3">
                  <c:v>1.95</c:v>
                </c:pt>
                <c:pt idx="4">
                  <c:v>3.4</c:v>
                </c:pt>
                <c:pt idx="5">
                  <c:v>4.85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Pessimista</c:v>
                </c:pt>
              </c:strCache>
            </c:strRef>
          </c:tx>
          <c:spPr>
            <a:ln w="31750">
              <a:solidFill>
                <a:srgbClr val="5C6F82"/>
              </a:solidFill>
            </a:ln>
          </c:spPr>
          <c:marker>
            <c:spPr>
              <a:solidFill>
                <a:srgbClr val="5C6F82"/>
              </a:solidFill>
              <a:ln>
                <a:solidFill>
                  <a:srgbClr val="5C6F82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-2.4</c:v>
                </c:pt>
                <c:pt idx="1">
                  <c:v>-1.4</c:v>
                </c:pt>
                <c:pt idx="2">
                  <c:v>-0.4</c:v>
                </c:pt>
                <c:pt idx="3">
                  <c:v>0.6</c:v>
                </c:pt>
                <c:pt idx="4">
                  <c:v>1.6</c:v>
                </c:pt>
                <c:pt idx="5">
                  <c:v>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Otimista</c:v>
                </c:pt>
              </c:strCache>
            </c:strRef>
          </c:tx>
          <c:spPr>
            <a:ln w="31750">
              <a:solidFill>
                <a:srgbClr val="B8860B"/>
              </a:solidFill>
            </a:ln>
          </c:spPr>
          <c:marker>
            <c:spPr>
              <a:solidFill>
                <a:srgbClr val="B8860B"/>
              </a:solidFill>
              <a:ln>
                <a:solidFill>
                  <a:srgbClr val="B8860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-2.4</c:v>
                </c:pt>
                <c:pt idx="1">
                  <c:v>-0.6</c:v>
                </c:pt>
                <c:pt idx="2">
                  <c:v>1.2</c:v>
                </c:pt>
                <c:pt idx="3">
                  <c:v>3.0</c:v>
                </c:pt>
                <c:pt idx="4">
                  <c:v>4.8</c:v>
                </c:pt>
                <c:pt idx="5">
                  <c:v>6.6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Automação da linha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Business case para aprovação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Investir R$ 2,4 mi na linha 4 gera payback de 20 meses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Linha 4 custa R$ 1,8 mi/ano em retrabalho e paradas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Nova prensa reduz esse custo em 80% e libera 12% de capacidade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VPL de R$ 3,1 mi em 5 anos no cenário 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R$ 2,4 mi até 30/09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Opção B tem melhor retorno com risco aceitável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Não fazer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parada total em 2 anos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A: Reforma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sem garantia de peças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B: Prensa nova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5 dias de parada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Break-even em 20 meses; pessimista em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Memória de cálculo em anexo; taxa de desconto 12% a.a.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Maior risco é a parada para instalação, mitigada com estoque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Prob.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Impacto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Mitigação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Parada de 5 dias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Estoque de 7 dias antes da instalação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Atraso de entrega do fornecedor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Multa contratual + janela alternativa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Pedimos aprovação até 30/09 para entrega em maio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Aprovar investimento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Emitir pedido de compra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Compras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15/10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Arial"/>
              </a:rPr>
              <a:t>Anexo: premissas e memória de cálculo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