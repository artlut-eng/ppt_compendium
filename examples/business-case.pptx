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Base</c:v>
                </c:pt>
              </c:strCache>
            </c:strRef>
          </c:tx>
          <c:spPr>
            <a:ln w="31750">
              <a:solidFill>
                <a:srgbClr val="0B2545"/>
              </a:solidFill>
            </a:ln>
          </c:spPr>
          <c:marker>
            <c:spPr>
              <a:solidFill>
                <a:srgbClr val="0B2545"/>
              </a:solidFill>
              <a:ln>
                <a:solidFill>
                  <a:srgbClr val="0B2545"/>
                </a:solidFill>
              </a:ln>
            </c:spPr>
          </c:marker>
          <c:cat>
            <c:strRef>
              <c:f>Sheet1!$A$2:$A$7</c:f>
              <c:strCache>
                <c:ptCount val="6"/>
                <c:pt idx="0">
                  <c:v>Ano 0</c:v>
                </c:pt>
                <c:pt idx="1">
                  <c:v>Ano 1</c:v>
                </c:pt>
                <c:pt idx="2">
                  <c:v>Ano 2</c:v>
                </c:pt>
                <c:pt idx="3">
                  <c:v>Ano 3</c:v>
                </c:pt>
                <c:pt idx="4">
                  <c:v>Ano 4</c:v>
                </c:pt>
                <c:pt idx="5">
                  <c:v>Ano 5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-2.4</c:v>
                </c:pt>
                <c:pt idx="1">
                  <c:v>-0.95</c:v>
                </c:pt>
                <c:pt idx="2">
                  <c:v>0.5</c:v>
                </c:pt>
                <c:pt idx="3">
                  <c:v>1.95</c:v>
                </c:pt>
                <c:pt idx="4">
                  <c:v>3.4</c:v>
                </c:pt>
                <c:pt idx="5">
                  <c:v>4.85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Pessimista</c:v>
                </c:pt>
              </c:strCache>
            </c:strRef>
          </c:tx>
          <c:spPr>
            <a:ln w="31750">
              <a:solidFill>
                <a:srgbClr val="5C6F82"/>
              </a:solidFill>
            </a:ln>
          </c:spPr>
          <c:marker>
            <c:spPr>
              <a:solidFill>
                <a:srgbClr val="5C6F82"/>
              </a:solidFill>
              <a:ln>
                <a:solidFill>
                  <a:srgbClr val="5C6F82"/>
                </a:solidFill>
              </a:ln>
            </c:spPr>
          </c:marker>
          <c:cat>
            <c:strRef>
              <c:f>Sheet1!$A$2:$A$7</c:f>
              <c:strCache>
                <c:ptCount val="6"/>
                <c:pt idx="0">
                  <c:v>Ano 0</c:v>
                </c:pt>
                <c:pt idx="1">
                  <c:v>Ano 1</c:v>
                </c:pt>
                <c:pt idx="2">
                  <c:v>Ano 2</c:v>
                </c:pt>
                <c:pt idx="3">
                  <c:v>Ano 3</c:v>
                </c:pt>
                <c:pt idx="4">
                  <c:v>Ano 4</c:v>
                </c:pt>
                <c:pt idx="5">
                  <c:v>Ano 5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-2.4</c:v>
                </c:pt>
                <c:pt idx="1">
                  <c:v>-1.4</c:v>
                </c:pt>
                <c:pt idx="2">
                  <c:v>-0.4</c:v>
                </c:pt>
                <c:pt idx="3">
                  <c:v>0.6</c:v>
                </c:pt>
                <c:pt idx="4">
                  <c:v>1.6</c:v>
                </c:pt>
                <c:pt idx="5">
                  <c:v>2.6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Otimista</c:v>
                </c:pt>
              </c:strCache>
            </c:strRef>
          </c:tx>
          <c:spPr>
            <a:ln w="31750">
              <a:solidFill>
                <a:srgbClr val="B8860B"/>
              </a:solidFill>
            </a:ln>
          </c:spPr>
          <c:marker>
            <c:spPr>
              <a:solidFill>
                <a:srgbClr val="B8860B"/>
              </a:solidFill>
              <a:ln>
                <a:solidFill>
                  <a:srgbClr val="B8860B"/>
                </a:solidFill>
              </a:ln>
            </c:spPr>
          </c:marker>
          <c:cat>
            <c:strRef>
              <c:f>Sheet1!$A$2:$A$7</c:f>
              <c:strCache>
                <c:ptCount val="6"/>
                <c:pt idx="0">
                  <c:v>Ano 0</c:v>
                </c:pt>
                <c:pt idx="1">
                  <c:v>Ano 1</c:v>
                </c:pt>
                <c:pt idx="2">
                  <c:v>Ano 2</c:v>
                </c:pt>
                <c:pt idx="3">
                  <c:v>Ano 3</c:v>
                </c:pt>
                <c:pt idx="4">
                  <c:v>Ano 4</c:v>
                </c:pt>
                <c:pt idx="5">
                  <c:v>Ano 5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-2.4</c:v>
                </c:pt>
                <c:pt idx="1">
                  <c:v>-0.6</c:v>
                </c:pt>
                <c:pt idx="2">
                  <c:v>1.2</c:v>
                </c:pt>
                <c:pt idx="3">
                  <c:v>3.0</c:v>
                </c:pt>
                <c:pt idx="4">
                  <c:v>4.8</c:v>
                </c:pt>
                <c:pt idx="5">
                  <c:v>6.6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7F7F7F"/>
            </a:solidFill>
          </a:ln>
        </c:spPr>
        <c:txPr>
          <a:bodyPr/>
          <a:lstStyle/>
          <a:p>
            <a:pPr>
              <a:defRPr sz="1100">
                <a:solidFill>
                  <a:srgbClr val="7F7F7F"/>
                </a:solidFill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>
              <a:solidFill>
                <a:srgbClr val="EFF1F3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>
                <a:solidFill>
                  <a:srgbClr val="7F7F7F"/>
                </a:solidFill>
              </a:defRPr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100"/>
          </a:pPr>
        </a:p>
      </c:txPr>
    </c:legend>
    <c:plotVisOnly val="1"/>
    <c:dispBlanksAs val="gap"/>
    <c:showDLblsOverMax val="0"/>
  </c:chart>
  <c:txPr>
    <a:bodyPr/>
    <a:lstStyle/>
    <a:p>
      <a:pPr>
        <a:defRPr sz="1100">
          <a:solidFill>
            <a:srgbClr val="2B2B2B"/>
          </a:solidFill>
          <a:latin typeface="Arial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15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920240"/>
            <a:ext cx="10698480" cy="173736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Arial"/>
              </a:rPr>
              <a:t>Automação da linha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749039"/>
            <a:ext cx="1069848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200" b="0" i="0">
                <a:solidFill>
                  <a:srgbClr val="D9E1EA"/>
                </a:solidFill>
                <a:latin typeface="Arial"/>
              </a:rPr>
              <a:t>Business case para aprovação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760"/>
            <a:ext cx="11274552" cy="822960"/>
          </a:xfrm>
        </p:spPr>
        <p:txBody>
          <a:bodyPr wrap="square" anchor="t" lIns="45720" rIns="45720"/>
          <a:lstStyle/>
          <a:p>
            <a:pPr algn="l"/>
            <a:r>
              <a:rPr sz="2800" b="1" i="0">
                <a:solidFill>
                  <a:srgbClr val="0B2545"/>
                </a:solidFill>
                <a:latin typeface="Arial"/>
              </a:rPr>
              <a:t>Sumário executivo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817352" y="6217920"/>
            <a:ext cx="9144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7F7F7F"/>
                </a:solidFill>
                <a:latin typeface="Arial"/>
              </a:rPr>
              <a:t>2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71600"/>
            <a:ext cx="11274552" cy="1005840"/>
          </a:xfrm>
          <a:prstGeom prst="rect">
            <a:avLst/>
          </a:prstGeom>
          <a:solidFill>
            <a:srgbClr val="EF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371600"/>
            <a:ext cx="73152" cy="100584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371600"/>
            <a:ext cx="10881360" cy="10058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200" b="1" i="0">
                <a:solidFill>
                  <a:srgbClr val="0B2545"/>
                </a:solidFill>
                <a:latin typeface="Arial"/>
              </a:rPr>
              <a:t>Investir R$ 2,4 mi na linha 4 gera payback de 20 meses</a:t>
            </a:r>
          </a:p>
        </p:txBody>
      </p:sp>
      <p:sp>
        <p:nvSpPr>
          <p:cNvPr id="7" name="Oval 6"/>
          <p:cNvSpPr/>
          <p:nvPr/>
        </p:nvSpPr>
        <p:spPr>
          <a:xfrm>
            <a:off x="548640" y="2697479"/>
            <a:ext cx="411480" cy="411480"/>
          </a:xfrm>
          <a:prstGeom prst="ellipse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051560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2B2B2B"/>
                </a:solidFill>
                <a:latin typeface="Arial"/>
              </a:rPr>
              <a:t>Linha 4 custa R$ 1,8 mi/ano em retrabalho e paradas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3520439"/>
            <a:ext cx="411480" cy="411480"/>
          </a:xfrm>
          <a:prstGeom prst="ellipse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3474720"/>
            <a:ext cx="1051560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2B2B2B"/>
                </a:solidFill>
                <a:latin typeface="Arial"/>
              </a:rPr>
              <a:t>Nova prensa reduz esse custo em 80% e libera 12% de capacidade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4343400"/>
            <a:ext cx="411480" cy="411480"/>
          </a:xfrm>
          <a:prstGeom prst="ellipse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4297680"/>
            <a:ext cx="1051560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2B2B2B"/>
                </a:solidFill>
                <a:latin typeface="Arial"/>
              </a:rPr>
              <a:t>VPL de R$ 3,1 mi em 5 anos no cenário base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5394960"/>
            <a:ext cx="11274552" cy="685800"/>
          </a:xfrm>
          <a:prstGeom prst="rect">
            <a:avLst/>
          </a:prstGeom>
          <a:solidFill>
            <a:srgbClr val="FFFFFF"/>
          </a:solidFill>
          <a:ln w="19050">
            <a:solidFill>
              <a:srgbClr val="B886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5394960"/>
            <a:ext cx="1097280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600" b="0" i="0">
                <a:solidFill>
                  <a:srgbClr val="2B2B2B"/>
                </a:solidFill>
                <a:latin typeface="Arial"/>
              </a:rPr>
              <a:t/>
            </a:r>
            <a:r>
              <a:rPr sz="1600" b="1" i="0">
                <a:solidFill>
                  <a:srgbClr val="B8860B"/>
                </a:solidFill>
                <a:latin typeface="Arial"/>
              </a:rPr>
              <a:t>Pedimos:  </a:t>
            </a:r>
            <a:r>
              <a:rPr sz="1600" b="1" i="0">
                <a:solidFill>
                  <a:srgbClr val="2B2B2B"/>
                </a:solidFill>
                <a:latin typeface="Arial"/>
              </a:rPr>
              <a:t>Aprovar R$ 2,4 mi até 30/09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760"/>
            <a:ext cx="11274552" cy="822960"/>
          </a:xfrm>
        </p:spPr>
        <p:txBody>
          <a:bodyPr wrap="square" anchor="t" lIns="45720" rIns="45720"/>
          <a:lstStyle/>
          <a:p>
            <a:pPr algn="l"/>
            <a:r>
              <a:rPr sz="2800" b="1" i="0">
                <a:solidFill>
                  <a:srgbClr val="0B2545"/>
                </a:solidFill>
                <a:latin typeface="Arial"/>
              </a:rPr>
              <a:t>Opção B tem melhor retorno com risco aceitável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817352" y="6217920"/>
            <a:ext cx="9144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7F7F7F"/>
                </a:solidFill>
                <a:latin typeface="Arial"/>
              </a:rPr>
              <a:t>3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463040"/>
            <a:ext cx="3575304" cy="4572000"/>
          </a:xfrm>
          <a:prstGeom prst="rect">
            <a:avLst/>
          </a:prstGeom>
          <a:solidFill>
            <a:srgbClr val="EF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3575304" cy="64008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463040"/>
            <a:ext cx="3575304" cy="6400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Arial"/>
              </a:rPr>
              <a:t>Não fazer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286000"/>
            <a:ext cx="3300984" cy="36576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marL="228600" indent="-228600">
              <a:spcAft>
                <a:spcPts val="800"/>
              </a:spcAft>
              <a:buClr>
                <a:srgbClr val="0B2545"/>
              </a:buClr>
              <a:buChar char="•"/>
            </a:pPr>
            <a:r>
              <a:rPr sz="1500" b="0" i="0">
                <a:solidFill>
                  <a:srgbClr val="2B2B2B"/>
                </a:solidFill>
                <a:latin typeface="Arial"/>
              </a:rPr>
              <a:t>Custo: R$ 0</a:t>
            </a:r>
          </a:p>
          <a:p>
            <a:pPr marL="228600" indent="-228600">
              <a:spcAft>
                <a:spcPts val="800"/>
              </a:spcAft>
              <a:buClr>
                <a:srgbClr val="0B2545"/>
              </a:buClr>
              <a:buChar char="•"/>
            </a:pPr>
            <a:r>
              <a:rPr sz="1500" b="0" i="0">
                <a:solidFill>
                  <a:srgbClr val="2B2B2B"/>
                </a:solidFill>
                <a:latin typeface="Arial"/>
              </a:rPr>
              <a:t>Perda: R$ 1,8 mi/ano</a:t>
            </a:r>
          </a:p>
          <a:p>
            <a:pPr marL="228600" indent="-228600">
              <a:spcAft>
                <a:spcPts val="800"/>
              </a:spcAft>
              <a:buClr>
                <a:srgbClr val="0B2545"/>
              </a:buClr>
              <a:buChar char="•"/>
            </a:pPr>
            <a:r>
              <a:rPr sz="1500" b="0" i="0">
                <a:solidFill>
                  <a:srgbClr val="2B2B2B"/>
                </a:solidFill>
                <a:latin typeface="Arial"/>
              </a:rPr>
              <a:t>Risco: parada total em 2 anos</a:t>
            </a:r>
          </a:p>
        </p:txBody>
      </p:sp>
      <p:sp>
        <p:nvSpPr>
          <p:cNvPr id="8" name="Rectangle 7"/>
          <p:cNvSpPr/>
          <p:nvPr/>
        </p:nvSpPr>
        <p:spPr>
          <a:xfrm>
            <a:off x="4306824" y="1463040"/>
            <a:ext cx="3575304" cy="4572000"/>
          </a:xfrm>
          <a:prstGeom prst="rect">
            <a:avLst/>
          </a:prstGeom>
          <a:solidFill>
            <a:srgbClr val="EF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06824" y="1463040"/>
            <a:ext cx="3575304" cy="64008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06824" y="1463040"/>
            <a:ext cx="3575304" cy="6400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Arial"/>
              </a:rPr>
              <a:t>A: Reforma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984" y="2286000"/>
            <a:ext cx="3300984" cy="36576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marL="228600" indent="-228600">
              <a:spcAft>
                <a:spcPts val="800"/>
              </a:spcAft>
              <a:buClr>
                <a:srgbClr val="0B2545"/>
              </a:buClr>
              <a:buChar char="•"/>
            </a:pPr>
            <a:r>
              <a:rPr sz="1500" b="0" i="0">
                <a:solidFill>
                  <a:srgbClr val="2B2B2B"/>
                </a:solidFill>
                <a:latin typeface="Arial"/>
              </a:rPr>
              <a:t>Custo: R$ 0,9 mi</a:t>
            </a:r>
          </a:p>
          <a:p>
            <a:pPr marL="228600" indent="-228600">
              <a:spcAft>
                <a:spcPts val="800"/>
              </a:spcAft>
              <a:buClr>
                <a:srgbClr val="0B2545"/>
              </a:buClr>
              <a:buChar char="•"/>
            </a:pPr>
            <a:r>
              <a:rPr sz="1500" b="0" i="0">
                <a:solidFill>
                  <a:srgbClr val="2B2B2B"/>
                </a:solidFill>
                <a:latin typeface="Arial"/>
              </a:rPr>
              <a:t>Economia: R$ 0,7 mi/ano</a:t>
            </a:r>
          </a:p>
          <a:p>
            <a:pPr marL="228600" indent="-228600">
              <a:spcAft>
                <a:spcPts val="800"/>
              </a:spcAft>
              <a:buClr>
                <a:srgbClr val="0B2545"/>
              </a:buClr>
              <a:buChar char="•"/>
            </a:pPr>
            <a:r>
              <a:rPr sz="1500" b="0" i="0">
                <a:solidFill>
                  <a:srgbClr val="2B2B2B"/>
                </a:solidFill>
                <a:latin typeface="Arial"/>
              </a:rPr>
              <a:t>Risco: sem garantia de peças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156448" y="1463040"/>
            <a:ext cx="3575304" cy="4572000"/>
          </a:xfrm>
          <a:prstGeom prst="rect">
            <a:avLst/>
          </a:prstGeom>
          <a:solidFill>
            <a:srgbClr val="EF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156448" y="1463040"/>
            <a:ext cx="3575304" cy="64008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56448" y="1463040"/>
            <a:ext cx="3575304" cy="6400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Arial"/>
              </a:rPr>
              <a:t>B: Prensa nova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93608" y="2286000"/>
            <a:ext cx="3300984" cy="36576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marL="228600" indent="-228600">
              <a:spcAft>
                <a:spcPts val="800"/>
              </a:spcAft>
              <a:buClr>
                <a:srgbClr val="0B2545"/>
              </a:buClr>
              <a:buChar char="•"/>
            </a:pPr>
            <a:r>
              <a:rPr sz="1500" b="0" i="0">
                <a:solidFill>
                  <a:srgbClr val="2B2B2B"/>
                </a:solidFill>
                <a:latin typeface="Arial"/>
              </a:rPr>
              <a:t>Custo: R$ 2,4 mi</a:t>
            </a:r>
          </a:p>
          <a:p>
            <a:pPr marL="228600" indent="-228600">
              <a:spcAft>
                <a:spcPts val="800"/>
              </a:spcAft>
              <a:buClr>
                <a:srgbClr val="0B2545"/>
              </a:buClr>
              <a:buChar char="•"/>
            </a:pPr>
            <a:r>
              <a:rPr sz="1500" b="0" i="0">
                <a:solidFill>
                  <a:srgbClr val="2B2B2B"/>
                </a:solidFill>
                <a:latin typeface="Arial"/>
              </a:rPr>
              <a:t>Economia: R$ 1,45 mi/ano</a:t>
            </a:r>
          </a:p>
          <a:p>
            <a:pPr marL="228600" indent="-228600">
              <a:spcAft>
                <a:spcPts val="800"/>
              </a:spcAft>
              <a:buClr>
                <a:srgbClr val="0B2545"/>
              </a:buClr>
              <a:buChar char="•"/>
            </a:pPr>
            <a:r>
              <a:rPr sz="1500" b="0" i="0">
                <a:solidFill>
                  <a:srgbClr val="2B2B2B"/>
                </a:solidFill>
                <a:latin typeface="Arial"/>
              </a:rPr>
              <a:t>Risco: 5 dias de parada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760"/>
            <a:ext cx="11274552" cy="822960"/>
          </a:xfrm>
        </p:spPr>
        <p:txBody>
          <a:bodyPr wrap="square" anchor="t" lIns="45720" rIns="45720"/>
          <a:lstStyle/>
          <a:p>
            <a:pPr algn="l"/>
            <a:r>
              <a:rPr sz="2800" b="1" i="0">
                <a:solidFill>
                  <a:srgbClr val="0B2545"/>
                </a:solidFill>
                <a:latin typeface="Arial"/>
              </a:rPr>
              <a:t>Break-even em 20 meses; pessimista em 30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217920"/>
            <a:ext cx="8531352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7F7F7F"/>
                </a:solidFill>
                <a:latin typeface="Arial"/>
              </a:rPr>
              <a:t>Fonte: Memória de cálculo em anexo; taxa de desconto 12% a.a.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17352" y="6217920"/>
            <a:ext cx="9144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7F7F7F"/>
                </a:solidFill>
                <a:latin typeface="Arial"/>
              </a:rPr>
              <a:t>4</a:t>
            </a:r>
          </a:p>
        </p:txBody>
      </p:sp>
      <p:graphicFrame>
        <p:nvGraphicFramePr>
          <p:cNvPr id="5" name="Chart 4" descr="Break-even em 20 meses; pessimista em 30"/>
          <p:cNvGraphicFramePr>
            <a:graphicFrameLocks noGrp="1"/>
          </p:cNvGraphicFramePr>
          <p:nvPr/>
        </p:nvGraphicFramePr>
        <p:xfrm>
          <a:off x="457200" y="1463040"/>
          <a:ext cx="11274552" cy="46634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760"/>
            <a:ext cx="11274552" cy="822960"/>
          </a:xfrm>
        </p:spPr>
        <p:txBody>
          <a:bodyPr wrap="square" anchor="t" lIns="45720" rIns="45720"/>
          <a:lstStyle/>
          <a:p>
            <a:pPr algn="l"/>
            <a:r>
              <a:rPr sz="2800" b="1" i="0">
                <a:solidFill>
                  <a:srgbClr val="0B2545"/>
                </a:solidFill>
                <a:latin typeface="Arial"/>
              </a:rPr>
              <a:t>Maior risco é a parada para instalação, mitigada com estoque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817352" y="6217920"/>
            <a:ext cx="9144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7F7F7F"/>
                </a:solidFill>
                <a:latin typeface="Arial"/>
              </a:rPr>
              <a:t>5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463040"/>
          <a:ext cx="11274552" cy="13716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818638"/>
                <a:gridCol w="2818638"/>
                <a:gridCol w="2818638"/>
                <a:gridCol w="2818638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Risco</a:t>
                      </a:r>
                    </a:p>
                  </a:txBody>
                  <a:tcPr marL="73152" marR="73152" marT="27432" marB="27432" anchor="ctr">
                    <a:solidFill>
                      <a:srgbClr val="0B25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Prob.</a:t>
                      </a:r>
                    </a:p>
                  </a:txBody>
                  <a:tcPr marL="73152" marR="73152" marT="27432" marB="27432" anchor="ctr">
                    <a:solidFill>
                      <a:srgbClr val="0B25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Impacto</a:t>
                      </a:r>
                    </a:p>
                  </a:txBody>
                  <a:tcPr marL="73152" marR="73152" marT="27432" marB="27432" anchor="ctr">
                    <a:solidFill>
                      <a:srgbClr val="0B25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Mitigação</a:t>
                      </a:r>
                    </a:p>
                  </a:txBody>
                  <a:tcPr marL="73152" marR="73152" marT="27432" marB="27432" anchor="ctr">
                    <a:solidFill>
                      <a:srgbClr val="0B2545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Arial"/>
                        </a:rPr>
                        <a:t>Parada de 5 dias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Arial"/>
                        </a:rPr>
                        <a:t>Alta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Arial"/>
                        </a:rPr>
                        <a:t>Médio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Arial"/>
                        </a:rPr>
                        <a:t>Estoque de 7 dias antes da instalação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Arial"/>
                        </a:rPr>
                        <a:t>Atraso de entrega do fornecedor</a:t>
                      </a:r>
                    </a:p>
                  </a:txBody>
                  <a:tcPr marL="73152" marR="73152" marT="27432" marB="27432" anchor="ctr">
                    <a:solidFill>
                      <a:srgbClr val="EF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Arial"/>
                        </a:rPr>
                        <a:t>Média</a:t>
                      </a:r>
                    </a:p>
                  </a:txBody>
                  <a:tcPr marL="73152" marR="73152" marT="27432" marB="27432" anchor="ctr">
                    <a:solidFill>
                      <a:srgbClr val="EF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Arial"/>
                        </a:rPr>
                        <a:t>Médio</a:t>
                      </a:r>
                    </a:p>
                  </a:txBody>
                  <a:tcPr marL="73152" marR="73152" marT="27432" marB="27432" anchor="ctr">
                    <a:solidFill>
                      <a:srgbClr val="EF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Arial"/>
                        </a:rPr>
                        <a:t>Multa contratual + janela alternativa</a:t>
                      </a:r>
                    </a:p>
                  </a:txBody>
                  <a:tcPr marL="73152" marR="73152" marT="27432" marB="27432" anchor="ctr">
                    <a:solidFill>
                      <a:srgbClr val="EFF1F3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760"/>
            <a:ext cx="11274552" cy="822960"/>
          </a:xfrm>
        </p:spPr>
        <p:txBody>
          <a:bodyPr wrap="square" anchor="t" lIns="45720" rIns="45720"/>
          <a:lstStyle/>
          <a:p>
            <a:pPr algn="l"/>
            <a:r>
              <a:rPr sz="2800" b="1" i="0">
                <a:solidFill>
                  <a:srgbClr val="0B2545"/>
                </a:solidFill>
                <a:latin typeface="Arial"/>
              </a:rPr>
              <a:t>Pedimos aprovação até 30/09 para entrega em maio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817352" y="6217920"/>
            <a:ext cx="9144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7F7F7F"/>
                </a:solidFill>
                <a:latin typeface="Arial"/>
              </a:rPr>
              <a:t>6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463040"/>
          <a:ext cx="11274552" cy="13716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5943600"/>
                <a:gridCol w="1828800"/>
                <a:gridCol w="1371600"/>
                <a:gridCol w="2130552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Ação</a:t>
                      </a:r>
                    </a:p>
                  </a:txBody>
                  <a:tcPr anchor="ctr" marL="73152" marR="73152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Dono</a:t>
                      </a:r>
                    </a:p>
                  </a:txBody>
                  <a:tcPr anchor="ctr" marL="73152" marR="73152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Prazo</a:t>
                      </a:r>
                    </a:p>
                  </a:txBody>
                  <a:tcPr anchor="ctr" marL="73152" marR="73152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anchor="ctr" marL="73152" marR="73152">
                    <a:solidFill>
                      <a:srgbClr val="0B254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Arial"/>
                        </a:rPr>
                        <a:t>Aprovar investimento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Arial"/>
                        </a:rPr>
                        <a:t>Diretoria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2B2B2B"/>
                          </a:solidFill>
                          <a:latin typeface="Arial"/>
                        </a:rPr>
                        <a:t>30/09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Em andamento</a:t>
                      </a:r>
                    </a:p>
                  </a:txBody>
                  <a:tcPr anchor="ctr" marL="73152" marR="73152">
                    <a:solidFill>
                      <a:srgbClr val="E0A80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Arial"/>
                        </a:rPr>
                        <a:t>Emitir pedido de compra</a:t>
                      </a:r>
                    </a:p>
                  </a:txBody>
                  <a:tcPr anchor="ctr" marL="73152" marR="73152">
                    <a:solidFill>
                      <a:srgbClr val="EFF1F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Arial"/>
                        </a:rPr>
                        <a:t>Compras</a:t>
                      </a:r>
                    </a:p>
                  </a:txBody>
                  <a:tcPr anchor="ctr" marL="73152" marR="73152">
                    <a:solidFill>
                      <a:srgbClr val="EFF1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2B2B2B"/>
                          </a:solidFill>
                          <a:latin typeface="Arial"/>
                        </a:rPr>
                        <a:t>15/10</a:t>
                      </a:r>
                    </a:p>
                  </a:txBody>
                  <a:tcPr anchor="ctr" marL="73152" marR="73152">
                    <a:solidFill>
                      <a:srgbClr val="EFF1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7F7F7F"/>
                          </a:solidFill>
                          <a:latin typeface="Arial"/>
                        </a:rPr>
                        <a:t>Não iniciada</a:t>
                      </a:r>
                    </a:p>
                  </a:txBody>
                  <a:tcPr anchor="ctr" marL="73152" marR="73152">
                    <a:solidFill>
                      <a:srgbClr val="EFF1F3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15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377440"/>
            <a:ext cx="10698480" cy="128016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/>
            <a:r>
              <a:rPr sz="3800" b="1" i="0">
                <a:solidFill>
                  <a:srgbClr val="FFFFFF"/>
                </a:solidFill>
                <a:latin typeface="Arial"/>
              </a:rPr>
              <a:t>Obrigado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749039"/>
            <a:ext cx="1069848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900" b="0" i="0">
                <a:solidFill>
                  <a:srgbClr val="D9E1EA"/>
                </a:solidFill>
                <a:latin typeface="Arial"/>
              </a:rPr>
              <a:t>Anexo: premissas e memória de cálculo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