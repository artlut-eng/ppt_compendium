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Sudeste</c:v>
                  </c:pt>
                  <c:pt idx="1">
                    <c:v>Sul</c:v>
                  </c:pt>
                  <c:pt idx="2">
                    <c:v>Nordeste</c:v>
                  </c:pt>
                  <c:pt idx="3">
                    <c:v>Centro-Oeste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1.35</c:v>
                </c:pt>
                <c:pt idx="2">
                  <c:v>0.8</c:v>
                </c:pt>
                <c:pt idx="3">
                  <c:v>0.58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max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2F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Planejado</c:v>
                </c:pt>
              </c:strCache>
            </c:strRef>
          </c:tx>
          <c:spPr>
            <a:solidFill>
              <a:srgbClr val="8C8C8C"/>
            </a:solidFill>
            <a:ln w="31750" cap="flat">
              <a:solidFill>
                <a:srgbClr val="8C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S28</c:v>
                  </c:pt>
                  <c:pt idx="1">
                    <c:v>S29</c:v>
                  </c:pt>
                  <c:pt idx="2">
                    <c:v>S30</c:v>
                  </c:pt>
                  <c:pt idx="3">
                    <c:v>S31</c:v>
                  </c:pt>
                  <c:pt idx="4">
                    <c:v>S32</c:v>
                  </c:pt>
                  <c:pt idx="5">
                    <c:v>S33</c:v>
                  </c:pt>
                  <c:pt idx="6">
                    <c:v>S34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  <c:pt idx="4">
                  <c:v>60</c:v>
                </c:pt>
                <c:pt idx="5">
                  <c:v>64</c:v>
                </c:pt>
                <c:pt idx="6">
                  <c:v>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4F81BD"/>
            </a:solidFill>
            <a:ln w="3175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S28</c:v>
                  </c:pt>
                  <c:pt idx="1">
                    <c:v>S29</c:v>
                  </c:pt>
                  <c:pt idx="2">
                    <c:v>S30</c:v>
                  </c:pt>
                  <c:pt idx="3">
                    <c:v>S31</c:v>
                  </c:pt>
                  <c:pt idx="4">
                    <c:v>S32</c:v>
                  </c:pt>
                  <c:pt idx="5">
                    <c:v>S33</c:v>
                  </c:pt>
                  <c:pt idx="6">
                    <c:v>S34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44</c:v>
                </c:pt>
                <c:pt idx="2">
                  <c:v>48</c:v>
                </c:pt>
                <c:pt idx="3">
                  <c:v>52</c:v>
                </c:pt>
                <c:pt idx="4">
                  <c:v>56</c:v>
                </c:pt>
                <c:pt idx="5">
                  <c:v>59</c:v>
                </c:pt>
                <c:pt idx="6">
                  <c:v>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2F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Produto A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1T</c:v>
                  </c:pt>
                  <c:pt idx="1">
                    <c:v>2T</c:v>
                  </c:pt>
                  <c:pt idx="2">
                    <c:v>3T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Produto B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1T</c:v>
                  </c:pt>
                  <c:pt idx="1">
                    <c:v>2T</c:v>
                  </c:pt>
                  <c:pt idx="2">
                    <c:v>3T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Serviços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1T</c:v>
                  </c:pt>
                  <c:pt idx="1">
                    <c:v>2T</c:v>
                  </c:pt>
                  <c:pt idx="2">
                    <c:v>3T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2F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bubble3D val="0"/>
            <c:spPr>
              <a:solidFill>
                <a:srgbClr val="4F81BD"/>
              </a:solidFill>
              <a:effectLst/>
            </c:spPr>
          </c:dPt>
          <c:dPt>
            <c:idx val="2"/>
            <c:bubble3D val="0"/>
            <c:spPr>
              <a:solidFill>
                <a:srgbClr val="F2A900"/>
              </a:solidFill>
              <a:effectLst/>
            </c:spPr>
          </c:dPt>
          <c:dPt>
            <c:idx val="3"/>
            <c:bubble3D val="0"/>
            <c:spPr>
              <a:solidFill>
                <a:srgbClr val="8C8C8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Troca de ferramenta</c:v>
                </c:pt>
                <c:pt idx="1">
                  <c:v>Falta de material</c:v>
                </c:pt>
                <c:pt idx="2">
                  <c:v>Falha hidráulica</c:v>
                </c:pt>
                <c:pt idx="3">
                  <c:v>Outros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120</c:v>
                </c:pt>
                <c:pt idx="1">
                  <c:v>95</c:v>
                </c:pt>
                <c:pt idx="2">
                  <c:v>50</c:v>
                </c:pt>
                <c:pt idx="3">
                  <c:v>45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teste: exercita todos os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modelos de slide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slide de cada tipo suportado pela spec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CENTRAL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41080" y="2423160"/>
            <a:ext cx="297180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modelos geram slides dentro do grid, com cabeçalho, kicker, logotipo e callouts opcionais.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F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 | Uso interno</a:t>
            </a:r>
            <a:endParaRPr lang="en-US" sz="1300" dirty="0"/>
          </a:p>
        </p:txBody>
      </p:sp>
      <p:pic>
        <p:nvPicPr>
          <p:cNvPr id="12" name="Image 0" descr="05-artefatos-visuais/logo-placeholder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45720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7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40280"/>
            <a:ext cx="6858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2926080"/>
            <a:ext cx="6858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467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611880"/>
            <a:ext cx="6858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04672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9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Sumário, KPIs e número grande</a:t>
            </a:r>
            <a:endParaRPr lang="en-US" sz="1800" dirty="0"/>
          </a:p>
        </p:txBody>
      </p:sp>
      <p:pic>
        <p:nvPicPr>
          <p:cNvPr id="5" name="Image 0" descr="05-artefatos-visuais/logo-placeholder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07040" y="4572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build_examples.py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645920"/>
            <a:ext cx="11274552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645920"/>
            <a:ext cx="73152" cy="10058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645920"/>
            <a:ext cx="108813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19 modelos geram slides dentro do grid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" y="2926080"/>
            <a:ext cx="10515600" cy="792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no placeholder nativo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764280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76428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" y="3718560"/>
            <a:ext cx="10515600" cy="792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com fonte, logotipo e página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4556760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55676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4511040"/>
            <a:ext cx="10515600" cy="792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só por papel da paleta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A9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Pedimos: 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visualmente e ajustar coordenadas se necessário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KPIs cabem em uma linha com fonte reduzida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MES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indicadores no vermelho concentram-se na Linha 2; o restante segue no alvo.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828800"/>
            <a:ext cx="1650492" cy="2194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1828800"/>
            <a:ext cx="1650492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057400"/>
            <a:ext cx="13761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2423160"/>
            <a:ext cx="137617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94360" y="3429000"/>
            <a:ext cx="13761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dias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382012" y="1828800"/>
            <a:ext cx="1650492" cy="2194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Shape 16"/>
          <p:cNvSpPr/>
          <p:nvPr/>
        </p:nvSpPr>
        <p:spPr>
          <a:xfrm>
            <a:off x="2382012" y="1828800"/>
            <a:ext cx="1650492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7"/>
          <p:cNvSpPr/>
          <p:nvPr/>
        </p:nvSpPr>
        <p:spPr>
          <a:xfrm>
            <a:off x="2519172" y="2057400"/>
            <a:ext cx="13761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519172" y="2423160"/>
            <a:ext cx="137617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4.120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2519172" y="3429000"/>
            <a:ext cx="13761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4.500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06824" y="1828800"/>
            <a:ext cx="1650492" cy="2194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Shape 21"/>
          <p:cNvSpPr/>
          <p:nvPr/>
        </p:nvSpPr>
        <p:spPr>
          <a:xfrm>
            <a:off x="4306824" y="1828800"/>
            <a:ext cx="1650492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Text 22"/>
          <p:cNvSpPr/>
          <p:nvPr/>
        </p:nvSpPr>
        <p:spPr>
          <a:xfrm>
            <a:off x="4443984" y="2057400"/>
            <a:ext cx="13761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443984" y="2423160"/>
            <a:ext cx="137617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1,8%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4443984" y="3429000"/>
            <a:ext cx="13761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2%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231636" y="1828800"/>
            <a:ext cx="1650492" cy="2194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Shape 26"/>
          <p:cNvSpPr/>
          <p:nvPr/>
        </p:nvSpPr>
        <p:spPr>
          <a:xfrm>
            <a:off x="6231636" y="1828800"/>
            <a:ext cx="1650492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Text 27"/>
          <p:cNvSpPr/>
          <p:nvPr/>
        </p:nvSpPr>
        <p:spPr>
          <a:xfrm>
            <a:off x="6368796" y="2057400"/>
            <a:ext cx="13761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68796" y="2423160"/>
            <a:ext cx="137617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6368796" y="3429000"/>
            <a:ext cx="13761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75%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156448" y="1828800"/>
            <a:ext cx="1650492" cy="2194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Shape 31"/>
          <p:cNvSpPr/>
          <p:nvPr/>
        </p:nvSpPr>
        <p:spPr>
          <a:xfrm>
            <a:off x="8156448" y="1828800"/>
            <a:ext cx="1650492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5" name="Text 32"/>
          <p:cNvSpPr/>
          <p:nvPr/>
        </p:nvSpPr>
        <p:spPr>
          <a:xfrm>
            <a:off x="8293608" y="2057400"/>
            <a:ext cx="13761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293608" y="2423160"/>
            <a:ext cx="137617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8293608" y="3429000"/>
            <a:ext cx="13761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95%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0081260" y="1828800"/>
            <a:ext cx="1650492" cy="2194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9" name="Shape 36"/>
          <p:cNvSpPr/>
          <p:nvPr/>
        </p:nvSpPr>
        <p:spPr>
          <a:xfrm>
            <a:off x="10081260" y="1828800"/>
            <a:ext cx="1650492" cy="73152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40" name="Text 37"/>
          <p:cNvSpPr/>
          <p:nvPr/>
        </p:nvSpPr>
        <p:spPr>
          <a:xfrm>
            <a:off x="10218420" y="2057400"/>
            <a:ext cx="13761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218420" y="2423160"/>
            <a:ext cx="137617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R$ 1,2 mi</a:t>
            </a:r>
            <a:endParaRPr lang="en-US" sz="2300" dirty="0"/>
          </a:p>
        </p:txBody>
      </p:sp>
      <p:sp>
        <p:nvSpPr>
          <p:cNvPr id="42" name="Text 39"/>
          <p:cNvSpPr/>
          <p:nvPr/>
        </p:nvSpPr>
        <p:spPr>
          <a:xfrm>
            <a:off x="10218420" y="3429000"/>
            <a:ext cx="13761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orçamento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57200" y="4297680"/>
            <a:ext cx="11274552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opcional abaixo dos cartões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linha de contexto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COM DESCRIÇÃO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KPIs com linha de cobertura sob o delta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de solicitações (n=71)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DE LEITURA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solicitações ainda não possuem valor contratado; o saving reflete apenas itens contratados.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828800"/>
            <a:ext cx="2612898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PRAZO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594360" y="3429000"/>
            <a:ext cx="233857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de 71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3794760"/>
            <a:ext cx="23385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classificadas como atrasadas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344418" y="1828800"/>
            <a:ext cx="2612898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Shape 17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8"/>
          <p:cNvSpPr/>
          <p:nvPr/>
        </p:nvSpPr>
        <p:spPr>
          <a:xfrm>
            <a:off x="3481578" y="2057400"/>
            <a:ext cx="233857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MÉDIO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81578" y="2423160"/>
            <a:ext cx="233857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dias</a:t>
            </a:r>
            <a:endParaRPr lang="en-US" sz="3900" dirty="0"/>
          </a:p>
        </p:txBody>
      </p:sp>
      <p:sp>
        <p:nvSpPr>
          <p:cNvPr id="23" name="Text 20"/>
          <p:cNvSpPr/>
          <p:nvPr/>
        </p:nvSpPr>
        <p:spPr>
          <a:xfrm>
            <a:off x="3481578" y="3429000"/>
            <a:ext cx="233857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61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481578" y="3794760"/>
            <a:ext cx="23385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itens atrasados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1636" y="1828800"/>
            <a:ext cx="2612898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3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7" name="Text 24"/>
          <p:cNvSpPr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ALTO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6368796" y="3429000"/>
            <a:ext cx="233857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solicitações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368796" y="3794760"/>
            <a:ext cx="23385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risco registrado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118854" y="1828800"/>
            <a:ext cx="2612898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Shape 29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0"/>
          <p:cNvSpPr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4,3%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R$ 68,6 mil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256014" y="3794760"/>
            <a:ext cx="23385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itens com valor contratado (n=50)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GRANDE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que é a mensagem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Faturas 2025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11680"/>
            <a:ext cx="11274552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R$ 2,1 mi</a:t>
            </a:r>
            <a:endParaRPr lang="en-US" sz="8000" dirty="0"/>
          </a:p>
        </p:txBody>
      </p:sp>
      <p:sp>
        <p:nvSpPr>
          <p:cNvPr id="10" name="Text 7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anual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4663440"/>
            <a:ext cx="9445752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8% do faturamento. Comparação obrigatória.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3600" dirty="0"/>
          </a:p>
        </p:txBody>
      </p:sp>
      <p:pic>
        <p:nvPicPr>
          <p:cNvPr id="4" name="Image 0" descr="05-artefatos-visuais/logo-placeholder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07040" y="4572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horizontais ordenadas com destaque em accent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mi, agosto/26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CRM   |   Uso interno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9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10" name="Chart 0" descr="Barras horizontais ordenadas com destaque em accent"/>
          <p:cNvGraphicFramePr/>
          <p:nvPr/>
        </p:nvGraphicFramePr>
        <p:xfrm>
          <a:off x="457200" y="2011680"/>
          <a:ext cx="1127455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com meta tracejada, comentários e callout de recomendação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Cronograma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Acionar o fornecedor alternativo e replanejar os testes integrados.</a:t>
            </a:r>
            <a:endParaRPr lang="en-US" sz="1400" dirty="0"/>
          </a:p>
        </p:txBody>
      </p:sp>
      <p:graphicFrame>
        <p:nvGraphicFramePr>
          <p:cNvPr id="13" name="Chart 0" descr="Linha com meta tracejada, comentários e callout de recomendação"/>
          <p:cNvGraphicFramePr/>
          <p:nvPr/>
        </p:nvGraphicFramePr>
        <p:xfrm>
          <a:off x="457200" y="1737360"/>
          <a:ext cx="7315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8046720" y="1828800"/>
            <a:ext cx="3685032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abre a partir da S31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homologação do fornecedor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prevista na S38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com colunas empilhadas (sem kicker)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ERP   |   Uso interno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8" name="Chart 0" descr="Composição com colunas empilhadas (sem kicker)"/>
          <p:cNvGraphicFramePr/>
          <p:nvPr/>
        </p:nvGraphicFramePr>
        <p:xfrm>
          <a:off x="457200" y="1463040"/>
          <a:ext cx="11274552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Rosca com até 4 fatias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Apontamento de paradas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9" name="Chart 0" descr="Rosca com até 4 fatias"/>
          <p:cNvGraphicFramePr/>
          <p:nvPr/>
        </p:nvGraphicFramePr>
        <p:xfrm>
          <a:off x="457200" y="1737360"/>
          <a:ext cx="11274552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colunas de status, linha de total e destaque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DRE gerencial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3959352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Orçado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DE EBITDA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custo compensou volume menor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mi, 2T26 vs. orçamento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DRE gerencial, jun/26   |   Uso interno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9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5394960"/>
            <a:ext cx="1127455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4227" y="2537191"/>
            <a:ext cx="1165037" cy="2857769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2" name="Text 9"/>
          <p:cNvSpPr/>
          <p:nvPr/>
        </p:nvSpPr>
        <p:spPr>
          <a:xfrm>
            <a:off x="539907" y="2189719"/>
            <a:ext cx="1713677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5468112"/>
            <a:ext cx="18790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orçado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693319" y="2537191"/>
            <a:ext cx="1165037" cy="334025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2"/>
          <p:cNvSpPr/>
          <p:nvPr/>
        </p:nvSpPr>
        <p:spPr>
          <a:xfrm>
            <a:off x="2418999" y="2189719"/>
            <a:ext cx="1713677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-0,9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336292" y="5468112"/>
            <a:ext cx="18790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979265" y="2537191"/>
            <a:ext cx="714055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4572411" y="2759874"/>
            <a:ext cx="1165037" cy="11134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4298091" y="2412402"/>
            <a:ext cx="1713677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15384" y="5468112"/>
            <a:ext cx="18790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858357" y="2871216"/>
            <a:ext cx="714055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6451503" y="2240280"/>
            <a:ext cx="1165037" cy="51959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0"/>
          <p:cNvSpPr/>
          <p:nvPr/>
        </p:nvSpPr>
        <p:spPr>
          <a:xfrm>
            <a:off x="6177183" y="1892808"/>
            <a:ext cx="1713677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94476" y="5468112"/>
            <a:ext cx="18790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37449" y="2759874"/>
            <a:ext cx="714055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8330595" y="2240280"/>
            <a:ext cx="1165037" cy="11134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4"/>
          <p:cNvSpPr/>
          <p:nvPr/>
        </p:nvSpPr>
        <p:spPr>
          <a:xfrm>
            <a:off x="8056275" y="1892808"/>
            <a:ext cx="1713677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73568" y="5468112"/>
            <a:ext cx="18790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616541" y="2240280"/>
            <a:ext cx="714055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10209687" y="2351622"/>
            <a:ext cx="1165037" cy="304333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1" name="Text 28"/>
          <p:cNvSpPr/>
          <p:nvPr/>
        </p:nvSpPr>
        <p:spPr>
          <a:xfrm>
            <a:off x="9935367" y="2004150"/>
            <a:ext cx="1713677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52660" y="5468112"/>
            <a:ext cx="18790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real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495633" y="2351622"/>
            <a:ext cx="714055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ferramenta e falta de material somam 70% das paradas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Apontamento de paradas, semana 36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 no turno C e kit de material de 2 h na linha atacam 70% do tempo parado.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389120"/>
            <a:ext cx="1017727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291" y="2011680"/>
            <a:ext cx="1221273" cy="2377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5" name="Text 12"/>
          <p:cNvSpPr/>
          <p:nvPr/>
        </p:nvSpPr>
        <p:spPr>
          <a:xfrm>
            <a:off x="681411" y="1719072"/>
            <a:ext cx="1587033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443984"/>
            <a:ext cx="203545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ferramenta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99745" y="2506980"/>
            <a:ext cx="1221273" cy="18821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8" name="Text 15"/>
          <p:cNvSpPr/>
          <p:nvPr/>
        </p:nvSpPr>
        <p:spPr>
          <a:xfrm>
            <a:off x="2716865" y="2214372"/>
            <a:ext cx="1587033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min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92654" y="4443984"/>
            <a:ext cx="203545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material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35200" y="3398520"/>
            <a:ext cx="1221273" cy="9906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Text 18"/>
          <p:cNvSpPr/>
          <p:nvPr/>
        </p:nvSpPr>
        <p:spPr>
          <a:xfrm>
            <a:off x="4752320" y="3105912"/>
            <a:ext cx="1587033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28109" y="4443984"/>
            <a:ext cx="203545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hidráulica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70654" y="3794760"/>
            <a:ext cx="1221273" cy="5943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6787774" y="3502152"/>
            <a:ext cx="1587033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563563" y="4443984"/>
            <a:ext cx="203545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006108" y="4091940"/>
            <a:ext cx="1221273" cy="2971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7" name="Text 24"/>
          <p:cNvSpPr/>
          <p:nvPr/>
        </p:nvSpPr>
        <p:spPr>
          <a:xfrm>
            <a:off x="8823228" y="3799332"/>
            <a:ext cx="1587033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599018" y="4443984"/>
            <a:ext cx="203545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 flipV="1">
            <a:off x="1474927" y="2740250"/>
            <a:ext cx="2035454" cy="728570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3510382" y="2356792"/>
            <a:ext cx="2035454" cy="383458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5545836" y="2126717"/>
            <a:ext cx="2035454" cy="230075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7581290" y="2011680"/>
            <a:ext cx="2035454" cy="115037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410919" y="3404813"/>
            <a:ext cx="128016" cy="12801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Text 31"/>
          <p:cNvSpPr/>
          <p:nvPr/>
        </p:nvSpPr>
        <p:spPr>
          <a:xfrm>
            <a:off x="1017727" y="3103061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46374" y="2676242"/>
            <a:ext cx="128016" cy="12801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Text 33"/>
          <p:cNvSpPr/>
          <p:nvPr/>
        </p:nvSpPr>
        <p:spPr>
          <a:xfrm>
            <a:off x="3053182" y="237449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81828" y="2292784"/>
            <a:ext cx="128016" cy="12801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Text 35"/>
          <p:cNvSpPr/>
          <p:nvPr/>
        </p:nvSpPr>
        <p:spPr>
          <a:xfrm>
            <a:off x="5088636" y="1991032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517282" y="2062709"/>
            <a:ext cx="128016" cy="12801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Text 37"/>
          <p:cNvSpPr/>
          <p:nvPr/>
        </p:nvSpPr>
        <p:spPr>
          <a:xfrm>
            <a:off x="7124090" y="1760957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552737" y="1947672"/>
            <a:ext cx="128016" cy="12801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Text 39"/>
          <p:cNvSpPr/>
          <p:nvPr/>
        </p:nvSpPr>
        <p:spPr>
          <a:xfrm>
            <a:off x="9159545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7200" y="2487168"/>
            <a:ext cx="1017727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10680192" y="2350008"/>
            <a:ext cx="1005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acum.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em março, com piloto em janeiro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do projeto, base 10/09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0" y="1783080"/>
            <a:ext cx="8531352" cy="3657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0" y="1783080"/>
            <a:ext cx="121876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419165" y="1783080"/>
            <a:ext cx="121876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37929" y="1783080"/>
            <a:ext cx="121876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6694" y="1783080"/>
            <a:ext cx="121876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75458" y="1783080"/>
            <a:ext cx="121876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294223" y="1783080"/>
            <a:ext cx="121876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12987" y="1783080"/>
            <a:ext cx="121876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0" y="2263140"/>
            <a:ext cx="1828147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e piloto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8547" y="2720340"/>
            <a:ext cx="3046911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5074267" y="2606040"/>
            <a:ext cx="3046911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em 1 rota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TMS-ERP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37929" y="3177540"/>
            <a:ext cx="3656294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5" name="Shape 22"/>
          <p:cNvSpPr/>
          <p:nvPr/>
        </p:nvSpPr>
        <p:spPr>
          <a:xfrm>
            <a:off x="457200" y="3520440"/>
            <a:ext cx="11274552" cy="457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075458" y="3634740"/>
            <a:ext cx="2437529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397764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903605" y="4091940"/>
            <a:ext cx="1218765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0" name="Shape 27"/>
          <p:cNvSpPr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994354" y="4535424"/>
            <a:ext cx="256032" cy="256032"/>
          </a:xfrm>
          <a:prstGeom prst="diamond">
            <a:avLst/>
          </a:prstGeom>
          <a:solidFill>
            <a:srgbClr val="1F3A5F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0" y="2148840"/>
            <a:ext cx="0" cy="2743200"/>
          </a:xfrm>
          <a:prstGeom prst="line">
            <a:avLst/>
          </a:prstGeom>
          <a:noFill/>
          <a:ln w="6350">
            <a:solidFill>
              <a:srgbClr val="F2F2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19165" y="2148840"/>
            <a:ext cx="0" cy="2743200"/>
          </a:xfrm>
          <a:prstGeom prst="line">
            <a:avLst/>
          </a:prstGeom>
          <a:noFill/>
          <a:ln w="6350">
            <a:solidFill>
              <a:srgbClr val="F2F2F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37929" y="2148840"/>
            <a:ext cx="0" cy="2743200"/>
          </a:xfrm>
          <a:prstGeom prst="line">
            <a:avLst/>
          </a:prstGeom>
          <a:noFill/>
          <a:ln w="6350">
            <a:solidFill>
              <a:srgbClr val="F2F2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856694" y="2148840"/>
            <a:ext cx="0" cy="2743200"/>
          </a:xfrm>
          <a:prstGeom prst="line">
            <a:avLst/>
          </a:prstGeom>
          <a:noFill/>
          <a:ln w="6350">
            <a:solidFill>
              <a:srgbClr val="F2F2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75458" y="2148840"/>
            <a:ext cx="0" cy="2743200"/>
          </a:xfrm>
          <a:prstGeom prst="line">
            <a:avLst/>
          </a:prstGeom>
          <a:noFill/>
          <a:ln w="6350">
            <a:solidFill>
              <a:srgbClr val="F2F2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94223" y="2148840"/>
            <a:ext cx="0" cy="2743200"/>
          </a:xfrm>
          <a:prstGeom prst="line">
            <a:avLst/>
          </a:prstGeom>
          <a:noFill/>
          <a:ln w="6350">
            <a:solidFill>
              <a:srgbClr val="F2F2F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512987" y="2148840"/>
            <a:ext cx="0" cy="2743200"/>
          </a:xfrm>
          <a:prstGeom prst="line">
            <a:avLst/>
          </a:prstGeom>
          <a:noFill/>
          <a:ln w="6350">
            <a:solidFill>
              <a:srgbClr val="F2F2F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731752" y="2148840"/>
            <a:ext cx="0" cy="2743200"/>
          </a:xfrm>
          <a:prstGeom prst="line">
            <a:avLst/>
          </a:prstGeom>
          <a:noFill/>
          <a:ln w="6350">
            <a:solidFill>
              <a:srgbClr val="F2F2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03559" y="1783080"/>
            <a:ext cx="0" cy="3108960"/>
          </a:xfrm>
          <a:prstGeom prst="line">
            <a:avLst/>
          </a:prstGeom>
          <a:noFill/>
          <a:ln w="19050">
            <a:solidFill>
              <a:srgbClr val="F2A900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5637799" y="4910328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 DADO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progresso com status por linha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MÍNIMO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Responsável, data prometida, próximo marco e motivo do desvio obrigatórios em toda mudança de status.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aprovação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91840" y="1874520"/>
            <a:ext cx="64008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1874520"/>
            <a:ext cx="2816352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5" name="Text 12"/>
          <p:cNvSpPr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sem registro (44%)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 pedido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3291840" y="2377440"/>
            <a:ext cx="3968496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6"/>
          <p:cNvSpPr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sem registro (62%)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real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Shape 19"/>
          <p:cNvSpPr/>
          <p:nvPr/>
        </p:nvSpPr>
        <p:spPr>
          <a:xfrm>
            <a:off x="3291840" y="2880360"/>
            <a:ext cx="5248656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0"/>
          <p:cNvSpPr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sem registro (82%)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contratado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3"/>
          <p:cNvSpPr/>
          <p:nvPr/>
        </p:nvSpPr>
        <p:spPr>
          <a:xfrm>
            <a:off x="3291840" y="3383280"/>
            <a:ext cx="192024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7" name="Text 24"/>
          <p:cNvSpPr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sem registro (30%)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progresso em duas colunas (distribuição por categoria)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de portfólio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86000" y="1874520"/>
            <a:ext cx="27432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2286000" y="1874520"/>
            <a:ext cx="1920240" cy="2286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1783080"/>
            <a:ext cx="822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B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286000" y="2377440"/>
            <a:ext cx="27432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2286000" y="2377440"/>
            <a:ext cx="1645920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5120640" y="2286000"/>
            <a:ext cx="822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C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86000" y="2880360"/>
            <a:ext cx="27432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Shape 16"/>
          <p:cNvSpPr/>
          <p:nvPr/>
        </p:nvSpPr>
        <p:spPr>
          <a:xfrm>
            <a:off x="2286000" y="2880360"/>
            <a:ext cx="1645920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2788920"/>
            <a:ext cx="822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286000" y="3383280"/>
            <a:ext cx="27432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Shape 20"/>
          <p:cNvSpPr/>
          <p:nvPr/>
        </p:nvSpPr>
        <p:spPr>
          <a:xfrm>
            <a:off x="2286000" y="3383280"/>
            <a:ext cx="1371600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3291840"/>
            <a:ext cx="822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36208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65008" y="1874520"/>
            <a:ext cx="27432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Shape 24"/>
          <p:cNvSpPr/>
          <p:nvPr/>
        </p:nvSpPr>
        <p:spPr>
          <a:xfrm>
            <a:off x="8065008" y="1874520"/>
            <a:ext cx="1371600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8" name="Text 25"/>
          <p:cNvSpPr/>
          <p:nvPr/>
        </p:nvSpPr>
        <p:spPr>
          <a:xfrm>
            <a:off x="10899648" y="1783080"/>
            <a:ext cx="822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36208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F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065008" y="2377440"/>
            <a:ext cx="27432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Shape 28"/>
          <p:cNvSpPr/>
          <p:nvPr/>
        </p:nvSpPr>
        <p:spPr>
          <a:xfrm>
            <a:off x="8065008" y="2377440"/>
            <a:ext cx="1371600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2" name="Text 29"/>
          <p:cNvSpPr/>
          <p:nvPr/>
        </p:nvSpPr>
        <p:spPr>
          <a:xfrm>
            <a:off x="10899648" y="2286000"/>
            <a:ext cx="822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236208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G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065008" y="2880360"/>
            <a:ext cx="27432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5" name="Shape 32"/>
          <p:cNvSpPr/>
          <p:nvPr/>
        </p:nvSpPr>
        <p:spPr>
          <a:xfrm>
            <a:off x="8065008" y="2880360"/>
            <a:ext cx="1371600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6" name="Text 33"/>
          <p:cNvSpPr/>
          <p:nvPr/>
        </p:nvSpPr>
        <p:spPr>
          <a:xfrm>
            <a:off x="10899648" y="2788920"/>
            <a:ext cx="822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236208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H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065008" y="3383280"/>
            <a:ext cx="274320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9" name="Shape 36"/>
          <p:cNvSpPr/>
          <p:nvPr/>
        </p:nvSpPr>
        <p:spPr>
          <a:xfrm>
            <a:off x="8065008" y="3383280"/>
            <a:ext cx="1097280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0" name="Text 37"/>
          <p:cNvSpPr/>
          <p:nvPr/>
        </p:nvSpPr>
        <p:spPr>
          <a:xfrm>
            <a:off x="10899648" y="3291840"/>
            <a:ext cx="822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3600" dirty="0"/>
          </a:p>
        </p:txBody>
      </p:sp>
      <p:pic>
        <p:nvPicPr>
          <p:cNvPr id="4" name="Image 0" descr="05-artefatos-visuais/logo-placeholder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07040" y="4572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 com negrito inicial e sub-itens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6 itens, 2 linhas cada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9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011680"/>
            <a:ext cx="11274552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go-live em 15/03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3% abaixo do orçamento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mudanças aprovadas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Riscos: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crítico, fornecedor X</a:t>
            </a:r>
            <a:endParaRPr lang="en-US" sz="1600" dirty="0"/>
          </a:p>
          <a:p>
            <a:pPr lvl="1" marL="4572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B com fornecedor Y</a:t>
            </a:r>
            <a:endParaRPr lang="en-US" sz="1600" dirty="0"/>
          </a:p>
          <a:p>
            <a:pPr lvl="1" marL="4572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até sexta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tela com destaques numerados e bullets ao lado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pic>
        <p:nvPicPr>
          <p:cNvPr id="9" name="Image 1" descr="Formulário de registro de parad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737360"/>
            <a:ext cx="7315200" cy="3977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920240" y="2612441"/>
            <a:ext cx="4023360" cy="278435"/>
          </a:xfrm>
          <a:prstGeom prst="rect">
            <a:avLst/>
          </a:prstGeom>
          <a:ln w="28575">
            <a:solidFill>
              <a:srgbClr val="F2A9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755648" y="2447849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755648" y="2447849"/>
            <a:ext cx="3291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920240" y="3089758"/>
            <a:ext cx="4023360" cy="278435"/>
          </a:xfrm>
          <a:prstGeom prst="rect">
            <a:avLst/>
          </a:prstGeom>
          <a:ln w="28575">
            <a:solidFill>
              <a:srgbClr val="F2A9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755648" y="2925166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55648" y="2925166"/>
            <a:ext cx="3291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920240" y="4641037"/>
            <a:ext cx="1097280" cy="318211"/>
          </a:xfrm>
          <a:prstGeom prst="rect">
            <a:avLst/>
          </a:prstGeom>
          <a:ln w="28575">
            <a:solidFill>
              <a:srgbClr val="F2A9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755648" y="4476445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755648" y="4476445"/>
            <a:ext cx="3291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Paradas &gt; Nova parada (ambiente de teste)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046720" y="1737360"/>
            <a:ext cx="3685032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Selecionar a máquina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Escolher a causa na lista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Confirmar e informar a duração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em largura total com legenda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imagem por slide; o título continua sendo a conclusão.</a:t>
            </a:r>
            <a:endParaRPr lang="en-US" sz="1400" dirty="0"/>
          </a:p>
        </p:txBody>
      </p:sp>
      <p:pic>
        <p:nvPicPr>
          <p:cNvPr id="13" name="Image 1" descr="Print ajustado à área de conteúdo, proporção preservad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737360"/>
            <a:ext cx="11274552" cy="3063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ajustado à área de conteúdo, proporção preservada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COLUNAS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colunas: certo vs. errado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737360"/>
            <a:ext cx="550011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5500116" cy="274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514600"/>
            <a:ext cx="5500116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específica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na hora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real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31636" y="1737360"/>
            <a:ext cx="550011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31636" y="2331720"/>
            <a:ext cx="5500116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1"/>
          <p:cNvSpPr/>
          <p:nvPr/>
        </p:nvSpPr>
        <p:spPr>
          <a:xfrm>
            <a:off x="6231636" y="2514600"/>
            <a:ext cx="5500116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'Outros'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no fim do turno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Arredondar para 30 min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três opções com uma recomendada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737360"/>
            <a:ext cx="3575304" cy="4297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fazer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94360" y="2560320"/>
            <a:ext cx="3300984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R$ 0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Perda: R$ 1,8 mi/ano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parada total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06824" y="1737360"/>
            <a:ext cx="3575304" cy="4297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Reforma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443984" y="2560320"/>
            <a:ext cx="3300984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R$ 0,9 mi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Economia: R$ 0,7 mi/ano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sem peças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56448" y="1737360"/>
            <a:ext cx="3575304" cy="4297680"/>
          </a:xfrm>
          <a:prstGeom prst="rect">
            <a:avLst/>
          </a:prstGeom>
          <a:solidFill>
            <a:srgbClr val="F2F2F2"/>
          </a:solidFill>
          <a:ln w="25400">
            <a:solidFill>
              <a:srgbClr val="F2A9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Prensa nova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0268712" y="1554480"/>
            <a:ext cx="13716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Text 18"/>
          <p:cNvSpPr/>
          <p:nvPr/>
        </p:nvSpPr>
        <p:spPr>
          <a:xfrm>
            <a:off x="10268712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93608" y="2560320"/>
            <a:ext cx="3300984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R$ 2,4 mi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Economia: R$ 1,45 mi/ano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5 dias parada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EXECUTIVA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numerados em três colunas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iniciativa avança sem responder claramente aos três filtros.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828800"/>
            <a:ext cx="3575304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" y="3246120"/>
            <a:ext cx="31181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contém 200 ensaios, dos quais 40 têm data até o corte.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06824" y="1828800"/>
            <a:ext cx="3575304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Shape 16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20" name="Text 17"/>
          <p:cNvSpPr/>
          <p:nvPr/>
        </p:nvSpPr>
        <p:spPr>
          <a:xfrm>
            <a:off x="4535424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35424" y="3246120"/>
            <a:ext cx="31181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resultados ficaram abaixo da meta, 47,5% do realizado.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56448" y="1828800"/>
            <a:ext cx="3575304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Shape 21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5" name="Text 22"/>
          <p:cNvSpPr/>
          <p:nvPr/>
        </p:nvSpPr>
        <p:spPr>
          <a:xfrm>
            <a:off x="8385048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385048" y="3246120"/>
            <a:ext cx="31181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ensaios aguardam revisão, dois já aprovados tecnicamente.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com tags de fase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ESPERADA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a rotina semanal e nomear os donos dos quatro controles.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3575304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2057400"/>
            <a:ext cx="2194560" cy="29260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Sanear os itens atrasados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" y="3246120"/>
            <a:ext cx="31181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próximo marco, responsável e motivo do desvio para cada item.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06824" y="1828800"/>
            <a:ext cx="3575304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Shape 16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20" name="Shape 17"/>
          <p:cNvSpPr/>
          <p:nvPr/>
        </p:nvSpPr>
        <p:spPr>
          <a:xfrm>
            <a:off x="4535424" y="2057400"/>
            <a:ext cx="2194560" cy="292608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21" name="Text 18"/>
          <p:cNvSpPr/>
          <p:nvPr/>
        </p:nvSpPr>
        <p:spPr>
          <a:xfrm>
            <a:off x="4535424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4 SEMANAS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a gestão à vista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535424" y="3246120"/>
            <a:ext cx="31181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SLA, risco alto e confirmação do fornecedor.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156448" y="1828800"/>
            <a:ext cx="3575304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Shape 22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6" name="Shape 23"/>
          <p:cNvSpPr/>
          <p:nvPr/>
        </p:nvSpPr>
        <p:spPr>
          <a:xfrm>
            <a:off x="8385048" y="2057400"/>
            <a:ext cx="2194560" cy="29260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7" name="Text 24"/>
          <p:cNvSpPr/>
          <p:nvPr/>
        </p:nvSpPr>
        <p:spPr>
          <a:xfrm>
            <a:off x="8385048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30 DIAS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causa e capacidade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385048" y="3246120"/>
            <a:ext cx="31181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coortes, modalidades e carga por equipe.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com marcador de hoje e legenda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3858768"/>
            <a:ext cx="10698480" cy="54864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3703320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Jun/26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51860" y="3703320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1178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Jul/26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81178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aprovado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97880" y="3703320"/>
            <a:ext cx="365760" cy="365760"/>
          </a:xfrm>
          <a:prstGeom prst="ellipse">
            <a:avLst/>
          </a:prstGeom>
          <a:solidFill>
            <a:srgbClr val="F9A82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Set/26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5780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Homologação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43900" y="3703320"/>
            <a:ext cx="365760" cy="36576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0382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0382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789920" y="3703320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14984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Nov/26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14984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303770" y="3246120"/>
            <a:ext cx="27432" cy="128016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6" name="Text 23"/>
          <p:cNvSpPr/>
          <p:nvPr/>
        </p:nvSpPr>
        <p:spPr>
          <a:xfrm>
            <a:off x="684657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5852160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580644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011680" y="5852160"/>
            <a:ext cx="182880" cy="18288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30" name="Text 27"/>
          <p:cNvSpPr/>
          <p:nvPr/>
        </p:nvSpPr>
        <p:spPr>
          <a:xfrm>
            <a:off x="2240280" y="580644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risco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566160" y="5852160"/>
            <a:ext cx="182880" cy="1828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2" name="Text 29"/>
          <p:cNvSpPr/>
          <p:nvPr/>
        </p:nvSpPr>
        <p:spPr>
          <a:xfrm>
            <a:off x="3794760" y="580644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120640" y="5852160"/>
            <a:ext cx="182880" cy="1828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4" name="Text 31"/>
          <p:cNvSpPr/>
          <p:nvPr/>
        </p:nvSpPr>
        <p:spPr>
          <a:xfrm>
            <a:off x="5349240" y="580644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em chevrons com métrica por etapa e etapa atual destacada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MELHORIA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data do fornecedor no pedido e escalar desvios antes do vencimento.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2727198" cy="1280160"/>
          </a:xfrm>
          <a:prstGeom prst="homePlate">
            <a:avLst/>
          </a:prstGeom>
          <a:solidFill>
            <a:srgbClr val="1F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194560"/>
            <a:ext cx="2315718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Solicitação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75838" y="2194560"/>
            <a:ext cx="2727198" cy="1280160"/>
          </a:xfrm>
          <a:prstGeom prst="chevron">
            <a:avLst/>
          </a:prstGeom>
          <a:solidFill>
            <a:srgbClr val="1F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3595878" y="2194560"/>
            <a:ext cx="2132838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Aprovação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67278" y="3657600"/>
            <a:ext cx="254431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 d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367278" y="4251960"/>
            <a:ext cx="2544318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aprovação (n=40)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94476" y="2194560"/>
            <a:ext cx="2727198" cy="1280160"/>
          </a:xfrm>
          <a:prstGeom prst="chevron">
            <a:avLst/>
          </a:prstGeom>
          <a:solidFill>
            <a:srgbClr val="1F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6414516" y="2194560"/>
            <a:ext cx="2132838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Pedido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85916" y="3657600"/>
            <a:ext cx="254431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 d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185916" y="4251960"/>
            <a:ext cx="2544318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pedido (n=27)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913114" y="2194560"/>
            <a:ext cx="2727198" cy="1280160"/>
          </a:xfrm>
          <a:prstGeom prst="chevron">
            <a:avLst/>
          </a:prstGeom>
          <a:solidFill>
            <a:srgbClr val="F2A900"/>
          </a:solidFill>
          <a:ln/>
        </p:spPr>
      </p:sp>
      <p:sp>
        <p:nvSpPr>
          <p:cNvPr id="24" name="Text 21"/>
          <p:cNvSpPr/>
          <p:nvPr/>
        </p:nvSpPr>
        <p:spPr>
          <a:xfrm>
            <a:off x="9233154" y="2194560"/>
            <a:ext cx="2132838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Entrega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004554" y="3657600"/>
            <a:ext cx="254431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39,9 d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9004554" y="4251960"/>
            <a:ext cx="2544318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entrega real (n=13)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2×2 com quadrante destacado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63040" y="1737360"/>
            <a:ext cx="406908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2148840"/>
            <a:ext cx="38862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L4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23560" y="1737360"/>
            <a:ext cx="4069080" cy="192024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AGORA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0" y="2148840"/>
            <a:ext cx="38862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 turno C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material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energia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463040" y="3749040"/>
            <a:ext cx="406908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1554480" y="3794760"/>
            <a:ext cx="3886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554480" y="4160520"/>
            <a:ext cx="38862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do refeitório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23560" y="3749040"/>
            <a:ext cx="406908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0" y="3794760"/>
            <a:ext cx="3886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15000" y="4160520"/>
            <a:ext cx="38862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checklist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63040" y="571500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 →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 rot="16200000">
            <a:off x="45720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 →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97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9445752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 meses reduzimos 18% do custo de energia e descobrimos duas máquinas que consumiam paradas.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0"/>
            <a:ext cx="944575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Gerente industrial, cliente do setor metalúrgico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3600" dirty="0"/>
          </a:p>
        </p:txBody>
      </p:sp>
      <p:pic>
        <p:nvPicPr>
          <p:cNvPr id="4" name="Image 0" descr="05-artefatos-visuais/logo-placeholder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07040" y="4572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com decisão pedida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Aprovar fornecedor 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Replanejar testes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iniciada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Treinar turno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Mapear processo atual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pedida: 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fornecedor Y como plano B (R$ 40 mil adicionais)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 decisões editável (headers alternativos)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SAÍDA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tema relevante precisa de decisão ou de um responsável por fechar a pendência.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 / direcionamento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</a:t>
            </a:r>
            <a:endParaRPr lang="en-US" sz="3600" dirty="0"/>
          </a:p>
        </p:txBody>
      </p:sp>
      <p:pic>
        <p:nvPicPr>
          <p:cNvPr id="4" name="Image 0" descr="05-artefatos-visuais/logo-placeholder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07040" y="4572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longa paginada automaticamente (25 linhas) (1/3)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de portfólio (exemplo)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Orçamento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R$ 1,1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R$ 1,2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R$ 1,3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R$ 1,4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R$ 1,5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R$ 1,6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R$ 1,7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R$ 1,8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R$ 1,9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R$ 2,0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longa paginada automaticamente (25 linhas) (2/3)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de portfólio (exemplo)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Orçamento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R$ 2,1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R$ 2,2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R$ 2,3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R$ 2,4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R$ 2,5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R$ 2,6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R$ 2,7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R$ 2,8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R$ 2,9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R$ 3,0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EXEMPLO  |  CATÁLOGO DE MODELOS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longa paginada automaticamente (25 linhas) (3/3)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de portfólio (exemplo)   |   Uso interno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pic>
        <p:nvPicPr>
          <p:cNvPr id="8" name="Image 0" descr="05-artefatos-visuais/logo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Orçamento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R$ 3,1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R$ 3,2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R$ 3,3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R$ 3,4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R$ 3,5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revisão: 15/09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698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9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pmo@empresa.com | Anexos: cronograma completo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/>
        </p:spPr>
      </p:sp>
      <p:pic>
        <p:nvPicPr>
          <p:cNvPr id="5" name="Image 0" descr="05-artefatos-visuais/logo-placeholder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45720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2026-09-10T12:17:11Z</dcterms:created>
  <dcterms:modified xsi:type="dcterms:W3CDTF">2026-09-10T12:17:11Z</dcterms:modified>
</cp:coreProperties>
</file>