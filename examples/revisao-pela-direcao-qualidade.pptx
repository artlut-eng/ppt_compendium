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Calibri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2A900"/>
                </a:solidFill>
                <a:latin typeface="Calibri"/>
              </a:rPr>
              <a:t>SISTEMA DE GESTÃO DA QUALIDADE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Revisão pela direção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Calibri"/>
              </a:rPr>
              <a:t>Período: nov/25 a out/26 | registro do sistema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O sistema é adequado e eficaz; reclamações recorrentes do produto B e o fornecedor X exigem ação da direção.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Calibri"/>
              </a:rPr>
              <a:t>nov/2026 | Uso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8 de 10 ações da revisão anterior concluídas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SISTEMA DE GESTÃO DA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nov/2026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REVISÃO ANTERIOR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Implantar controle estatístico na linha 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Qualidade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mar/26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Concluída</a:t>
                      </a:r>
                    </a:p>
                  </a:txBody>
                  <a:tcPr anchor="ctr" marL="73152" marR="73152"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Requalificar fornecedor de embalagens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Compras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jun/26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Concluída</a:t>
                      </a:r>
                    </a:p>
                  </a:txBody>
                  <a:tcPr anchor="ctr" marL="73152" marR="73152"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Treinar auditores internos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ago/26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Atrasada</a:t>
                      </a:r>
                    </a:p>
                  </a:txBody>
                  <a:tcPr anchor="ctr" marL="73152" marR="73152"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Revisar procedimento de reclamações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Qualidade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out/26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Quatro de cinco objetivos atingidos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SISTEMA DE GESTÃO DA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nov/2026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OBJETIVOS DA QUALIDADE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Indicadores do SGQ, nov/25 a out/26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REFUGO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1,6%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meta 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6974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66974" y="182880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4134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RECLAMAÇÕES / MIL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4134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0,8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4134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meta 1,0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6748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6748" y="182880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3908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OTIF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3908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3908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meta 95%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6523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6523" y="1828800"/>
            <a:ext cx="2035454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23683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CUSTO DA NÃO QUALIDADE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3683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Calibri"/>
              </a:rPr>
              <a:t>1,9% da receita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3683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meta 1,5%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6297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6297" y="182880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3457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AÇÕES CORRETIVAS NO PRAZO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3457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Calibri"/>
              </a:rPr>
              <a:t>88%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33457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meta 85%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Dois processos concentram 65% das não conformidades internas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SISTEMA DE GESTÃO DA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nov/2026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NÃO CONFORMIDADES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Registros de NC (n=95)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5303520"/>
            <a:ext cx="10177272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96442" y="2011680"/>
            <a:ext cx="1017727" cy="32918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3562" y="1719072"/>
            <a:ext cx="1383487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58384"/>
            <a:ext cx="16962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Envase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92654" y="3224463"/>
            <a:ext cx="1017727" cy="2079056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9774" y="2931855"/>
            <a:ext cx="1383487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3412" y="5358384"/>
            <a:ext cx="16962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Recebimento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8866" y="4263991"/>
            <a:ext cx="1017727" cy="103952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05986" y="3971383"/>
            <a:ext cx="1383487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9624" y="5358384"/>
            <a:ext cx="16962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Mistura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85078" y="4523873"/>
            <a:ext cx="1017727" cy="779646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02198" y="4231265"/>
            <a:ext cx="1383487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5836" y="5358384"/>
            <a:ext cx="16962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Expedição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1290" y="4697128"/>
            <a:ext cx="1017727" cy="6063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8410" y="4404520"/>
            <a:ext cx="1383487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5358384"/>
            <a:ext cx="16962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Laboratório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77502" y="4870383"/>
            <a:ext cx="1017727" cy="43313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4622" y="4577775"/>
            <a:ext cx="1383487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5358384"/>
            <a:ext cx="16962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Calibri"/>
              </a:rPr>
              <a:t>Outros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1305306" y="3155161"/>
            <a:ext cx="1696212" cy="831623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001518" y="2739349"/>
            <a:ext cx="1696212" cy="415812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697730" y="2427491"/>
            <a:ext cx="1696212" cy="311858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393942" y="2184934"/>
            <a:ext cx="1696212" cy="242557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090154" y="2011680"/>
            <a:ext cx="1696212" cy="173254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241298" y="3922776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106" y="3621024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35" name="Oval 34"/>
          <p:cNvSpPr/>
          <p:nvPr/>
        </p:nvSpPr>
        <p:spPr>
          <a:xfrm>
            <a:off x="2937510" y="3091153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4318" y="2789401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65%</a:t>
            </a:r>
          </a:p>
        </p:txBody>
      </p:sp>
      <p:sp>
        <p:nvSpPr>
          <p:cNvPr id="37" name="Oval 36"/>
          <p:cNvSpPr/>
          <p:nvPr/>
        </p:nvSpPr>
        <p:spPr>
          <a:xfrm>
            <a:off x="4633722" y="2675341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40530" y="2373589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78%</a:t>
            </a:r>
          </a:p>
        </p:txBody>
      </p:sp>
      <p:sp>
        <p:nvSpPr>
          <p:cNvPr id="39" name="Oval 38"/>
          <p:cNvSpPr/>
          <p:nvPr/>
        </p:nvSpPr>
        <p:spPr>
          <a:xfrm>
            <a:off x="6329934" y="2363483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36742" y="2061731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87%</a:t>
            </a:r>
          </a:p>
        </p:txBody>
      </p:sp>
      <p:sp>
        <p:nvSpPr>
          <p:cNvPr id="41" name="Oval 40"/>
          <p:cNvSpPr/>
          <p:nvPr/>
        </p:nvSpPr>
        <p:spPr>
          <a:xfrm>
            <a:off x="8026146" y="2120926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32954" y="1819174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95%</a:t>
            </a:r>
          </a:p>
        </p:txBody>
      </p:sp>
      <p:sp>
        <p:nvSpPr>
          <p:cNvPr id="43" name="Oval 42"/>
          <p:cNvSpPr/>
          <p:nvPr/>
        </p:nvSpPr>
        <p:spPr>
          <a:xfrm>
            <a:off x="9722358" y="1947672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9166" y="1645920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2670048"/>
            <a:ext cx="10177272" cy="0"/>
          </a:xfrm>
          <a:prstGeom prst="line">
            <a:avLst/>
          </a:prstGeom>
          <a:ln w="9525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680192" y="2532888"/>
            <a:ext cx="100584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80% acum.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Três reclamações recorrentes no produto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SISTEMA DE GESTÃO DA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nov/2026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RECLAMAÇÕES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Sistema de reclamações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Produto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Reclamações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Recorrentes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Tempo médio de resposta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Ação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Produto 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6 dias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CAPA aberta, revisão do envase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Produto 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4 dias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Produto 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5 dias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Investigação em curso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Fornecedor X abaixo do mínimo por 3 meses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SISTEMA DE GESTÃO DA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nov/2026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FORNECEDORES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Índice de qualificação de fornecedores (IQF), média 12 meses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Fornecedor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74519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874519"/>
            <a:ext cx="6016752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178308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Fornecedor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37744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377440"/>
            <a:ext cx="5824728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28600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Fornecedor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88036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2880360"/>
            <a:ext cx="5504688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78892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alibri"/>
              </a:rPr>
              <a:t>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Fornecedor 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38328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3383280"/>
            <a:ext cx="4352544" cy="228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329184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68 (mínimo 75)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Sistema adequado e eficaz, com três melhorias prioritárias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SISTEMA DE GESTÃO DA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nov/2026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CONCLUSÃO DA DIREÇÃO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575304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57530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Adequação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3118104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Escopo, política e processos cobrem os requisitos e o contexto atual.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828800"/>
            <a:ext cx="3575304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6824" y="1828800"/>
            <a:ext cx="3575304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4F81BD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Eficácia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3246120"/>
            <a:ext cx="3118104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Quatro de cinco objetivos atingidos; custo da não qualidade acima da meta.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6448" y="1828800"/>
            <a:ext cx="3575304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6448" y="1828800"/>
            <a:ext cx="3575304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F2A900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Alinhamento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246120"/>
            <a:ext cx="3118104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Objetivos 2027 revisados para incluir custo da não qualidade e fornecedores críticos.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Seis ações da revisão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SISTEMA DE GESTÃO DA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nov/2026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SAÍDAS DA REVISÃO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CAPA do produto B com validação do envase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Qualidade + Produção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jan/27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Plano de desenvolvimento ou substituição do fornecedor X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Compras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fev/27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Concluir treinamento de auditores internos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dez/26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Atrasada</a:t>
                      </a:r>
                    </a:p>
                  </a:txBody>
                  <a:tcPr anchor="ctr" marL="73152" marR="73152"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Contratar analista de metrologia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Direção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mar/27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Revisar procedimentos afetados pela nova legislação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Regulatório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abr/27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Meta de custo da não qualidade 1,5% em 2027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Direção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jan/27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73152" cy="685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108813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/>
            </a:r>
            <a:r>
              <a:rPr sz="1600" b="1" i="0">
                <a:solidFill>
                  <a:srgbClr val="F2A900"/>
                </a:solidFill>
                <a:latin typeface="Calibri"/>
              </a:rPr>
              <a:t>Decisão pedida: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Aprovar as ações e os recursos (1 vaga em metrologia, R$ 80 mil em validação)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