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17373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4620" b="1" i="0">
                <a:solidFill>
                  <a:srgbClr val="FFFFFF"/>
                </a:solidFill>
                <a:latin typeface="Calibri"/>
              </a:rPr>
              <a:t>Apontamento de paradas no 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6984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420" b="0" i="0">
                <a:solidFill>
                  <a:srgbClr val="D9E1EA"/>
                </a:solidFill>
                <a:latin typeface="Calibri"/>
              </a:rPr>
              <a:t>Treinamento para operadores - 45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3080" b="1" i="0">
                <a:solidFill>
                  <a:srgbClr val="1F3A5F"/>
                </a:solidFill>
                <a:latin typeface="Calibri"/>
              </a:rPr>
              <a:t>Ao final, você será capaz 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8C8C8C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4552" cy="4663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1000"/>
              </a:spcAft>
              <a:buClr>
                <a:srgbClr val="1F3A5F"/>
              </a:buClr>
              <a:buChar char="•"/>
            </a:pPr>
            <a:r>
              <a:rPr sz="1760" b="0" i="0">
                <a:solidFill>
                  <a:srgbClr val="333333"/>
                </a:solidFill>
                <a:latin typeface="Calibri"/>
              </a:rPr>
              <a:t>Registrar uma parada em até 2 minutos</a:t>
            </a:r>
          </a:p>
          <a:p>
            <a:pPr marL="228600" indent="-228600">
              <a:spcAft>
                <a:spcPts val="1000"/>
              </a:spcAft>
              <a:buClr>
                <a:srgbClr val="1F3A5F"/>
              </a:buClr>
              <a:buChar char="•"/>
            </a:pPr>
            <a:r>
              <a:rPr sz="1760" b="0" i="0">
                <a:solidFill>
                  <a:srgbClr val="333333"/>
                </a:solidFill>
                <a:latin typeface="Calibri"/>
              </a:rPr>
              <a:t>Escolher a causa correta entre as 12 categorias</a:t>
            </a:r>
          </a:p>
          <a:p>
            <a:pPr marL="228600" indent="-228600">
              <a:spcAft>
                <a:spcPts val="1000"/>
              </a:spcAft>
              <a:buClr>
                <a:srgbClr val="1F3A5F"/>
              </a:buClr>
              <a:buChar char="•"/>
            </a:pPr>
            <a:r>
              <a:rPr sz="1760" b="0" i="0">
                <a:solidFill>
                  <a:srgbClr val="333333"/>
                </a:solidFill>
                <a:latin typeface="Calibri"/>
              </a:rPr>
              <a:t>Corrigir um apontamento errado</a:t>
            </a:r>
          </a:p>
          <a:p>
            <a:pPr marL="228600" indent="-228600">
              <a:spcAft>
                <a:spcPts val="1000"/>
              </a:spcAft>
              <a:buClr>
                <a:srgbClr val="1F3A5F"/>
              </a:buClr>
              <a:buChar char="•"/>
            </a:pPr>
            <a:r>
              <a:rPr sz="1760" b="0" i="0">
                <a:solidFill>
                  <a:srgbClr val="333333"/>
                </a:solidFill>
                <a:latin typeface="Calibri"/>
              </a:rPr>
              <a:t>Saber quando chamar a manutenção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3080" b="1" i="0">
                <a:solidFill>
                  <a:srgbClr val="1F3A5F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8C8C8C"/>
                </a:solidFill>
                <a:latin typeface="Calibri"/>
              </a:rPr>
              <a:t>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54480"/>
            <a:ext cx="457200" cy="4572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4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68580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200" b="0" i="0">
                <a:solidFill>
                  <a:srgbClr val="333333"/>
                </a:solidFill>
                <a:latin typeface="Calibri"/>
              </a:rPr>
              <a:t>Por que apontar (5 min)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2240280"/>
            <a:ext cx="457200" cy="4572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4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40280"/>
            <a:ext cx="68580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200" b="0" i="0">
                <a:solidFill>
                  <a:srgbClr val="333333"/>
                </a:solidFill>
                <a:latin typeface="Calibri"/>
              </a:rPr>
              <a:t>Passo a passo (15 min)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926080"/>
            <a:ext cx="457200" cy="4572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4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26080"/>
            <a:ext cx="68580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200" b="0" i="0">
                <a:solidFill>
                  <a:srgbClr val="333333"/>
                </a:solidFill>
                <a:latin typeface="Calibri"/>
              </a:rPr>
              <a:t>Prática (15 min)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611880"/>
            <a:ext cx="457200" cy="4572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4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611880"/>
            <a:ext cx="68580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200" b="0" i="0">
                <a:solidFill>
                  <a:srgbClr val="333333"/>
                </a:solidFill>
                <a:latin typeface="Calibri"/>
              </a:rPr>
              <a:t>Dúvidas e verificação (10 min)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8288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6600" b="1" i="0">
                <a:solidFill>
                  <a:srgbClr val="F2A900"/>
                </a:solidFill>
                <a:latin typeface="Calibri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69848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960" b="1" i="0">
                <a:solidFill>
                  <a:srgbClr val="FFFFFF"/>
                </a:solidFill>
                <a:latin typeface="Calibri"/>
              </a:rPr>
              <a:t>Por que apontar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3080" b="1" i="0">
                <a:solidFill>
                  <a:srgbClr val="1F3A5F"/>
                </a:solidFill>
                <a:latin typeface="Calibri"/>
              </a:rPr>
              <a:t>Sem apontamento, 40% das paradas viram 'outros' e nada é corrigido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8C8C8C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4552" cy="4663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1000"/>
              </a:spcAft>
              <a:buClr>
                <a:srgbClr val="1F3A5F"/>
              </a:buClr>
              <a:buChar char="•"/>
            </a:pPr>
            <a:r>
              <a:rPr sz="1760" b="0" i="0">
                <a:solidFill>
                  <a:srgbClr val="333333"/>
                </a:solidFill>
                <a:latin typeface="Calibri"/>
              </a:rPr>
              <a:t>Pareto de causas depende do seu registro</a:t>
            </a:r>
          </a:p>
          <a:p>
            <a:pPr marL="228600" indent="-228600">
              <a:spcAft>
                <a:spcPts val="1000"/>
              </a:spcAft>
              <a:buClr>
                <a:srgbClr val="1F3A5F"/>
              </a:buClr>
              <a:buChar char="•"/>
            </a:pPr>
            <a:r>
              <a:rPr sz="1760" b="0" i="0">
                <a:solidFill>
                  <a:srgbClr val="333333"/>
                </a:solidFill>
                <a:latin typeface="Calibri"/>
              </a:rPr>
              <a:t>Manutenção prioriza pelo que está apontado</a:t>
            </a:r>
          </a:p>
          <a:p>
            <a:pPr marL="228600" indent="-228600">
              <a:spcAft>
                <a:spcPts val="1000"/>
              </a:spcAft>
              <a:buClr>
                <a:srgbClr val="1F3A5F"/>
              </a:buClr>
              <a:buChar char="•"/>
            </a:pPr>
            <a:r>
              <a:rPr sz="1760" b="0" i="0">
                <a:solidFill>
                  <a:srgbClr val="333333"/>
                </a:solidFill>
                <a:latin typeface="Calibri"/>
              </a:rPr>
              <a:t>Meta: menos de 5% em 'outros'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8288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6600" b="1" i="0">
                <a:solidFill>
                  <a:srgbClr val="F2A900"/>
                </a:solidFill>
                <a:latin typeface="Calibr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69848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960" b="1" i="0">
                <a:solidFill>
                  <a:srgbClr val="FFFFFF"/>
                </a:solidFill>
                <a:latin typeface="Calibri"/>
              </a:rPr>
              <a:t>Passo a passo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3080" b="1" i="0">
                <a:solidFill>
                  <a:srgbClr val="1F3A5F"/>
                </a:solidFill>
                <a:latin typeface="Calibri"/>
              </a:rPr>
              <a:t>Quatro passos para registrar uma parada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8C8C8C"/>
                </a:solidFill>
                <a:latin typeface="Calibri"/>
              </a:rPr>
              <a:t>7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920240"/>
            <a:ext cx="2727198" cy="1280160"/>
          </a:xfrm>
          <a:prstGeom prst="homePlat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274320"/>
          <a:lstStyle/>
          <a:p>
            <a:pPr algn="ctr"/>
            <a:r>
              <a:rPr sz="1540" b="1" i="0">
                <a:solidFill>
                  <a:srgbClr val="FFFFFF"/>
                </a:solidFill>
                <a:latin typeface="Calibri"/>
              </a:rPr>
              <a:t>1. Tela Paradas &gt; Nova</a:t>
            </a:r>
          </a:p>
        </p:txBody>
      </p:sp>
      <p:sp>
        <p:nvSpPr>
          <p:cNvPr id="5" name="Chevron 4"/>
          <p:cNvSpPr/>
          <p:nvPr/>
        </p:nvSpPr>
        <p:spPr>
          <a:xfrm>
            <a:off x="3275838" y="1920240"/>
            <a:ext cx="2727198" cy="1280160"/>
          </a:xfrm>
          <a:prstGeom prst="chevron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ctr"/>
            <a:r>
              <a:rPr sz="1540" b="1" i="0">
                <a:solidFill>
                  <a:srgbClr val="FFFFFF"/>
                </a:solidFill>
                <a:latin typeface="Calibri"/>
              </a:rPr>
              <a:t>2. Selecionar máquina</a:t>
            </a:r>
          </a:p>
        </p:txBody>
      </p:sp>
      <p:sp>
        <p:nvSpPr>
          <p:cNvPr id="6" name="Chevron 5"/>
          <p:cNvSpPr/>
          <p:nvPr/>
        </p:nvSpPr>
        <p:spPr>
          <a:xfrm>
            <a:off x="6094476" y="1920240"/>
            <a:ext cx="2727198" cy="1280160"/>
          </a:xfrm>
          <a:prstGeom prst="chevron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ctr"/>
            <a:r>
              <a:rPr sz="1540" b="1" i="0">
                <a:solidFill>
                  <a:srgbClr val="FFFFFF"/>
                </a:solidFill>
                <a:latin typeface="Calibri"/>
              </a:rPr>
              <a:t>3. Escolher causa (lista)</a:t>
            </a:r>
          </a:p>
        </p:txBody>
      </p:sp>
      <p:sp>
        <p:nvSpPr>
          <p:cNvPr id="7" name="Chevron 6"/>
          <p:cNvSpPr/>
          <p:nvPr/>
        </p:nvSpPr>
        <p:spPr>
          <a:xfrm>
            <a:off x="8913114" y="1920240"/>
            <a:ext cx="2727198" cy="1280160"/>
          </a:xfrm>
          <a:prstGeom prst="chevron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ctr"/>
            <a:r>
              <a:rPr sz="1540" b="1" i="0">
                <a:solidFill>
                  <a:srgbClr val="FFFFFF"/>
                </a:solidFill>
                <a:latin typeface="Calibri"/>
              </a:rPr>
              <a:t>4. Confirmar e informar duração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3080" b="1" i="0">
                <a:solidFill>
                  <a:srgbClr val="1F3A5F"/>
                </a:solidFill>
                <a:latin typeface="Calibri"/>
              </a:rPr>
              <a:t>Certo vs. errado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8C8C8C"/>
                </a:solidFill>
                <a:latin typeface="Calibri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500116" cy="5486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980" b="1" i="0">
                <a:solidFill>
                  <a:srgbClr val="1F3A5F"/>
                </a:solidFill>
                <a:latin typeface="Calibri"/>
              </a:rPr>
              <a:t>Certo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57400"/>
            <a:ext cx="5500116" cy="274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5500116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1F3A5F"/>
              </a:buClr>
              <a:buChar char="•"/>
            </a:pPr>
            <a:r>
              <a:rPr sz="1650" b="0" i="0">
                <a:solidFill>
                  <a:srgbClr val="333333"/>
                </a:solidFill>
                <a:latin typeface="Calibri"/>
              </a:rPr>
              <a:t>Causa específica: 'falta de material - almoxarifado'</a:t>
            </a:r>
          </a:p>
          <a:p>
            <a:pPr marL="228600" indent="-228600">
              <a:spcAft>
                <a:spcPts val="800"/>
              </a:spcAft>
              <a:buClr>
                <a:srgbClr val="1F3A5F"/>
              </a:buClr>
              <a:buChar char="•"/>
            </a:pPr>
            <a:r>
              <a:rPr sz="1650" b="0" i="0">
                <a:solidFill>
                  <a:srgbClr val="333333"/>
                </a:solidFill>
                <a:latin typeface="Calibri"/>
              </a:rPr>
              <a:t>Registrar na hora</a:t>
            </a:r>
          </a:p>
          <a:p>
            <a:pPr marL="228600" indent="-228600">
              <a:spcAft>
                <a:spcPts val="800"/>
              </a:spcAft>
              <a:buClr>
                <a:srgbClr val="1F3A5F"/>
              </a:buClr>
              <a:buChar char="•"/>
            </a:pPr>
            <a:r>
              <a:rPr sz="1650" b="0" i="0">
                <a:solidFill>
                  <a:srgbClr val="333333"/>
                </a:solidFill>
                <a:latin typeface="Calibri"/>
              </a:rPr>
              <a:t>Duração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1636" y="1463040"/>
            <a:ext cx="5500116" cy="5486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980" b="1" i="0">
                <a:solidFill>
                  <a:srgbClr val="1F3A5F"/>
                </a:solidFill>
                <a:latin typeface="Calibri"/>
              </a:rPr>
              <a:t>Errado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1636" y="2057400"/>
            <a:ext cx="5500116" cy="274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1636" y="2240280"/>
            <a:ext cx="5500116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1F3A5F"/>
              </a:buClr>
              <a:buChar char="•"/>
            </a:pPr>
            <a:r>
              <a:rPr sz="1650" b="0" i="0">
                <a:solidFill>
                  <a:srgbClr val="333333"/>
                </a:solidFill>
                <a:latin typeface="Calibri"/>
              </a:rPr>
              <a:t>'Outros'</a:t>
            </a:r>
          </a:p>
          <a:p>
            <a:pPr marL="228600" indent="-228600">
              <a:spcAft>
                <a:spcPts val="800"/>
              </a:spcAft>
              <a:buClr>
                <a:srgbClr val="1F3A5F"/>
              </a:buClr>
              <a:buChar char="•"/>
            </a:pPr>
            <a:r>
              <a:rPr sz="1650" b="0" i="0">
                <a:solidFill>
                  <a:srgbClr val="333333"/>
                </a:solidFill>
                <a:latin typeface="Calibri"/>
              </a:rPr>
              <a:t>Registrar no fim do turno</a:t>
            </a:r>
          </a:p>
          <a:p>
            <a:pPr marL="228600" indent="-228600">
              <a:spcAft>
                <a:spcPts val="800"/>
              </a:spcAft>
              <a:buClr>
                <a:srgbClr val="1F3A5F"/>
              </a:buClr>
              <a:buChar char="•"/>
            </a:pPr>
            <a:r>
              <a:rPr sz="1650" b="0" i="0">
                <a:solidFill>
                  <a:srgbClr val="333333"/>
                </a:solidFill>
                <a:latin typeface="Calibri"/>
              </a:rPr>
              <a:t>Arredondar para 30 min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3080" b="1" i="0">
                <a:solidFill>
                  <a:srgbClr val="1F3A5F"/>
                </a:solidFill>
                <a:latin typeface="Calibri"/>
              </a:rPr>
              <a:t>Prática: registre as 3 paradas do cenário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8C8C8C"/>
                </a:solidFill>
                <a:latin typeface="Calibri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4552" cy="4663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1000"/>
              </a:spcAft>
              <a:buClr>
                <a:srgbClr val="1F3A5F"/>
              </a:buClr>
              <a:buChar char="•"/>
            </a:pPr>
            <a:r>
              <a:rPr sz="1760" b="0" i="0">
                <a:solidFill>
                  <a:srgbClr val="333333"/>
                </a:solidFill>
                <a:latin typeface="Calibri"/>
              </a:rPr>
              <a:t>Cenário no ambiente de teste (usuário treino01)</a:t>
            </a:r>
          </a:p>
          <a:p>
            <a:pPr marL="228600" indent="-228600">
              <a:spcAft>
                <a:spcPts val="1000"/>
              </a:spcAft>
              <a:buClr>
                <a:srgbClr val="1F3A5F"/>
              </a:buClr>
              <a:buChar char="•"/>
            </a:pPr>
            <a:r>
              <a:rPr sz="1760" b="0" i="0">
                <a:solidFill>
                  <a:srgbClr val="333333"/>
                </a:solidFill>
                <a:latin typeface="Calibri"/>
              </a:rPr>
              <a:t>15 minutos</a:t>
            </a:r>
          </a:p>
          <a:p>
            <a:pPr marL="228600" indent="-228600">
              <a:spcAft>
                <a:spcPts val="1000"/>
              </a:spcAft>
              <a:buClr>
                <a:srgbClr val="1F3A5F"/>
              </a:buClr>
              <a:buChar char="•"/>
            </a:pPr>
            <a:r>
              <a:rPr sz="1760" b="0" i="0">
                <a:solidFill>
                  <a:srgbClr val="333333"/>
                </a:solidFill>
                <a:latin typeface="Calibri"/>
              </a:rPr>
              <a:t>Instrutor valida ao final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3080" b="1" i="0">
                <a:solidFill>
                  <a:srgbClr val="1F3A5F"/>
                </a:solidFill>
                <a:latin typeface="Calibri"/>
              </a:rPr>
              <a:t>Resumo: o que precisa ficar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8C8C8C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4552" cy="4663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1000"/>
              </a:spcAft>
              <a:buClr>
                <a:srgbClr val="1F3A5F"/>
              </a:buClr>
              <a:buChar char="•"/>
            </a:pPr>
            <a:r>
              <a:rPr sz="1760" b="0" i="0">
                <a:solidFill>
                  <a:srgbClr val="333333"/>
                </a:solidFill>
                <a:latin typeface="Calibri"/>
              </a:rPr>
              <a:t>Apontar na hora, com causa específica</a:t>
            </a:r>
          </a:p>
          <a:p>
            <a:pPr marL="228600" indent="-228600">
              <a:spcAft>
                <a:spcPts val="1000"/>
              </a:spcAft>
              <a:buClr>
                <a:srgbClr val="1F3A5F"/>
              </a:buClr>
              <a:buChar char="•"/>
            </a:pPr>
            <a:r>
              <a:rPr sz="1760" b="0" i="0">
                <a:solidFill>
                  <a:srgbClr val="333333"/>
                </a:solidFill>
                <a:latin typeface="Calibri"/>
              </a:rPr>
              <a:t>'Outros' só se nenhuma das 12 servir</a:t>
            </a:r>
          </a:p>
          <a:p>
            <a:pPr marL="228600" indent="-228600">
              <a:spcAft>
                <a:spcPts val="1000"/>
              </a:spcAft>
              <a:buClr>
                <a:srgbClr val="1F3A5F"/>
              </a:buClr>
              <a:buChar char="•"/>
            </a:pPr>
            <a:r>
              <a:rPr sz="1760" b="0" i="0">
                <a:solidFill>
                  <a:srgbClr val="333333"/>
                </a:solidFill>
                <a:latin typeface="Calibri"/>
              </a:rPr>
              <a:t>Erro de apontamento: corrigir em Paradas &gt; Editar</a:t>
            </a:r>
          </a:p>
          <a:p>
            <a:pPr marL="228600" indent="-228600">
              <a:spcAft>
                <a:spcPts val="1000"/>
              </a:spcAft>
              <a:buClr>
                <a:srgbClr val="1F3A5F"/>
              </a:buClr>
              <a:buChar char="•"/>
            </a:pPr>
            <a:r>
              <a:rPr sz="1760" b="0" i="0">
                <a:solidFill>
                  <a:srgbClr val="333333"/>
                </a:solidFill>
                <a:latin typeface="Calibri"/>
              </a:rPr>
              <a:t>Dúvida: supervisor do turno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4180" b="1" i="0">
                <a:solidFill>
                  <a:srgbClr val="FFFFFF"/>
                </a:solidFill>
                <a:latin typeface="Calibri"/>
              </a:rPr>
              <a:t>Obrigado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749039"/>
            <a:ext cx="106984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90" b="0" i="0">
                <a:solidFill>
                  <a:srgbClr val="D9E1EA"/>
                </a:solidFill>
                <a:latin typeface="Calibri"/>
              </a:rPr>
              <a:t>Avaliação: link no crachá do supervisor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