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mi)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3T25</c:v>
                </c:pt>
                <c:pt idx="1">
                  <c:v>4T25</c:v>
                </c:pt>
                <c:pt idx="2">
                  <c:v>1T26</c:v>
                </c:pt>
                <c:pt idx="3">
                  <c:v>2T26</c:v>
                </c:pt>
                <c:pt idx="4">
                  <c:v>3T26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36.5</c:v>
                </c:pt>
                <c:pt idx="1">
                  <c:v>37.2</c:v>
                </c:pt>
                <c:pt idx="2">
                  <c:v>38.0</c:v>
                </c:pt>
                <c:pt idx="3">
                  <c:v>39.8</c:v>
                </c:pt>
                <c:pt idx="4">
                  <c:v>41.3</c:v>
                </c:pt>
              </c:numCache>
            </c:numRef>
          </c:val>
        </c:ser>
        <c:dLbls>
          <c:txPr>
            <a:bodyPr/>
            <a:lstStyle/>
            <a:p>
              <a:pPr>
                <a:defRPr sz="1264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264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64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64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830" b="1" i="0">
                <a:solidFill>
                  <a:srgbClr val="FFFFFF"/>
                </a:solidFill>
                <a:latin typeface="Calibri"/>
              </a:rPr>
              <a:t>All-hands 3T26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529" b="0" i="0">
                <a:solidFill>
                  <a:srgbClr val="D9E1EA"/>
                </a:solidFill>
                <a:latin typeface="Calibri"/>
              </a:rPr>
              <a:t>Resultados, direção e novidades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219" b="1" i="0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5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Resultados do trimestre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Conquistas dos times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Onde estamos no plano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O que muda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Boas-vindas e reconhecimentos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9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333333"/>
                </a:solidFill>
                <a:latin typeface="Calibri"/>
              </a:rPr>
              <a:t>Perguntas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219" b="1" i="0">
                <a:solidFill>
                  <a:srgbClr val="1F3A5F"/>
                </a:solidFill>
                <a:latin typeface="Calibri"/>
              </a:rPr>
              <a:t>Melhor trimestre em receita; NPS subiu para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5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80" b="0" i="0">
                <a:solidFill>
                  <a:srgbClr val="8C8C8C"/>
                </a:solidFill>
                <a:latin typeface="Calibri"/>
              </a:rPr>
              <a:t>RECEITA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600" b="1" i="0">
                <a:solidFill>
                  <a:srgbClr val="333333"/>
                </a:solidFill>
                <a:latin typeface="Calibri"/>
              </a:rPr>
              <a:t>R$ 41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95" b="1" i="0">
                <a:solidFill>
                  <a:srgbClr val="2E7D32"/>
                </a:solidFill>
                <a:latin typeface="Calibri"/>
              </a:rPr>
              <a:t>+12% vs. 3T25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4418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4418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1577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80" b="0" i="0">
                <a:solidFill>
                  <a:srgbClr val="8C8C8C"/>
                </a:solidFill>
                <a:latin typeface="Calibri"/>
              </a:rPr>
              <a:t>CLIENTES 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577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600" b="1" i="0">
                <a:solidFill>
                  <a:srgbClr val="333333"/>
                </a:solidFill>
                <a:latin typeface="Calibri"/>
              </a:rPr>
              <a:t>1.240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577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95" b="1" i="0">
                <a:solidFill>
                  <a:srgbClr val="2E7D32"/>
                </a:solidFill>
                <a:latin typeface="Calibri"/>
              </a:rPr>
              <a:t>+85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80" b="0" i="0">
                <a:solidFill>
                  <a:srgbClr val="8C8C8C"/>
                </a:solidFill>
                <a:latin typeface="Calibri"/>
              </a:rPr>
              <a:t>ENTREGAS NO PRAZO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600" b="1" i="0">
                <a:solidFill>
                  <a:srgbClr val="333333"/>
                </a:solidFill>
                <a:latin typeface="Calibri"/>
              </a:rP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95" b="1" i="0">
                <a:solidFill>
                  <a:srgbClr val="2E7D32"/>
                </a:solidFill>
                <a:latin typeface="Calibri"/>
              </a:rPr>
              <a:t>+3 p.p.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8854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8854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6014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80" b="0" i="0">
                <a:solidFill>
                  <a:srgbClr val="8C8C8C"/>
                </a:solidFill>
                <a:latin typeface="Calibri"/>
              </a:rPr>
              <a:t>NPS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6014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600" b="1" i="0">
                <a:solidFill>
                  <a:srgbClr val="333333"/>
                </a:solidFill>
                <a:latin typeface="Calibri"/>
              </a:rPr>
              <a:t>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014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95" b="1" i="0">
                <a:solidFill>
                  <a:srgbClr val="2E7D32"/>
                </a:solidFill>
                <a:latin typeface="Calibri"/>
              </a:rPr>
              <a:t>+6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219" b="1" i="0">
                <a:solidFill>
                  <a:srgbClr val="1F3A5F"/>
                </a:solidFill>
                <a:latin typeface="Calibri"/>
              </a:rPr>
              <a:t>Receita cresce pelo 5º trimestre seguido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5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219" b="1" i="0">
                <a:solidFill>
                  <a:srgbClr val="1F3A5F"/>
                </a:solidFill>
                <a:latin typeface="Calibri"/>
              </a:rPr>
              <a:t>Time de logística cortou o lead time em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5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Projeto Atlas: de 12 para 9 dias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Time de suporte: SLA de 98% no trimestre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Fábrica: 142 dias sem acidente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219" b="1" i="0">
                <a:solidFill>
                  <a:srgbClr val="1F3A5F"/>
                </a:solidFill>
                <a:latin typeface="Calibri"/>
              </a:rPr>
              <a:t>O que muda no seu dia a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5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Nova estrutura comercial por região a partir de 01/10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Portal de pedidos B2B em piloto com 10 clientes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839" b="0" i="0">
                <a:solidFill>
                  <a:srgbClr val="333333"/>
                </a:solidFill>
                <a:latin typeface="Calibri"/>
              </a:rPr>
              <a:t>Horário flexível estendido para todas as áreas administrativas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370" b="1" i="0">
                <a:solidFill>
                  <a:srgbClr val="FFFFFF"/>
                </a:solidFill>
                <a:latin typeface="Calibri"/>
              </a:rP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185" b="0" i="0">
                <a:solidFill>
                  <a:srgbClr val="D9E1EA"/>
                </a:solidFill>
                <a:latin typeface="Calibri"/>
              </a:rPr>
              <a:t>Canal #all-hands para dúvidas depois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