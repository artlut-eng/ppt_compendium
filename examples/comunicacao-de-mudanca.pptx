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1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210" b="1" i="0">
                <a:solidFill>
                  <a:srgbClr val="F2A900"/>
                </a:solidFill>
                <a:latin typeface="Calibri"/>
              </a:rPr>
              <a:t>COMUNICAÇÃO ÀS EQUIPES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620" b="1" i="0">
                <a:solidFill>
                  <a:srgbClr val="FFFFFF"/>
                </a:solidFill>
                <a:latin typeface="Calibri"/>
              </a:rPr>
              <a:t>Nova estrutura comercial a partir de outubro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20" b="0" i="0">
                <a:solidFill>
                  <a:srgbClr val="D9E1EA"/>
                </a:solidFill>
                <a:latin typeface="Calibri"/>
              </a:rPr>
              <a:t>O que muda, o que não muda e o que esperamos de você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30" b="0" i="0">
                <a:solidFill>
                  <a:srgbClr val="BFC9D4"/>
                </a:solidFill>
                <a:latin typeface="Calibri"/>
              </a:rPr>
              <a:t>set/2026 |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Crescemos 40% em dois anos e a estrutura atual não acompanha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90" b="1" i="0">
                <a:solidFill>
                  <a:srgbClr val="8C8C8C"/>
                </a:solidFill>
                <a:latin typeface="Calibri"/>
              </a:rPr>
              <a:t>EMPRESA EXEMPLO  |  COMUNICAÇÃO ÀS EQUIPES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F81BD"/>
                </a:solidFill>
                <a:latin typeface="Calibri"/>
              </a:rPr>
              <a:t>POR QUÊ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8800" b="1" i="0">
                <a:solidFill>
                  <a:srgbClr val="1F3A5F"/>
                </a:solidFill>
                <a:latin typeface="Calibri"/>
              </a:rPr>
              <a:t>+40%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0" i="0">
                <a:solidFill>
                  <a:srgbClr val="8C8C8C"/>
                </a:solidFill>
                <a:latin typeface="Calibri"/>
              </a:rPr>
              <a:t>clientes ativos desde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4457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760" b="0" i="0">
                <a:solidFill>
                  <a:srgbClr val="333333"/>
                </a:solidFill>
                <a:latin typeface="Calibri"/>
              </a:rPr>
              <a:t>Uma única gerência comercial atende hoje 1.240 clientes em 12 estados. Decisões demoram e o cliente sente.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Muda a organização por região; não mudam metas, produtos nem equipes de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90" b="1" i="0">
                <a:solidFill>
                  <a:srgbClr val="8C8C8C"/>
                </a:solidFill>
                <a:latin typeface="Calibri"/>
              </a:rPr>
              <a:t>EMPRESA EXEMPLO  |  COMUNICAÇÃO ÀS EQUIPES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F81BD"/>
                </a:solidFill>
                <a:latin typeface="Calibri"/>
              </a:rPr>
              <a:t>MUDANÇA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F9A825"/>
                </a:solidFill>
                <a:latin typeface="Calibri"/>
              </a:rPr>
              <a:t>O que muda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500116" cy="2743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F9A825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Três regiões (Sul, Sudeste, Norte/Nordeste), cada uma com gerente próprio</a:t>
            </a:r>
          </a:p>
          <a:p>
            <a:pPr marL="228600" indent="-228600">
              <a:spcAft>
                <a:spcPts val="800"/>
              </a:spcAft>
              <a:buClr>
                <a:srgbClr val="F9A825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Atendimento e pré-vendas alocados por região</a:t>
            </a:r>
          </a:p>
          <a:p>
            <a:pPr marL="228600" indent="-228600">
              <a:spcAft>
                <a:spcPts val="800"/>
              </a:spcAft>
              <a:buClr>
                <a:srgbClr val="F9A825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Reuniões comerciais passam a ser regionais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2E7D32"/>
                </a:solidFill>
                <a:latin typeface="Calibri"/>
              </a:rPr>
              <a:t>O que não muda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331720"/>
            <a:ext cx="5500116" cy="27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Metas e política de comissão de 2026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Produtos, preços e contratos vigentes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Equipes de campo e suas carteiras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Sistemas (CRM e ERP)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Transição em três fases até dezembro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90" b="1" i="0">
                <a:solidFill>
                  <a:srgbClr val="8C8C8C"/>
                </a:solidFill>
                <a:latin typeface="Calibri"/>
              </a:rPr>
              <a:t>EMPRESA EXEMPLO  |  COMUNICAÇÃO ÀS EQUIPES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F81BD"/>
                </a:solidFill>
                <a:latin typeface="Calibri"/>
              </a:rPr>
              <a:t>QUANDO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58768"/>
            <a:ext cx="106984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8C8C8C"/>
                </a:solidFill>
                <a:latin typeface="Calibri"/>
              </a:rPr>
              <a:t>01/10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333333"/>
                </a:solidFill>
                <a:latin typeface="Calibri"/>
              </a:rPr>
              <a:t>Anúncio e gerentes regionais</a:t>
            </a:r>
          </a:p>
        </p:txBody>
      </p:sp>
      <p:sp>
        <p:nvSpPr>
          <p:cNvPr id="13" name="Oval 12"/>
          <p:cNvSpPr/>
          <p:nvPr/>
        </p:nvSpPr>
        <p:spPr>
          <a:xfrm>
            <a:off x="4267199" y="3703320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119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8C8C8C"/>
                </a:solidFill>
                <a:latin typeface="Calibri"/>
              </a:rPr>
              <a:t>15/10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119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333333"/>
                </a:solidFill>
                <a:latin typeface="Calibri"/>
              </a:rPr>
              <a:t>Alocação das equipes por região</a:t>
            </a:r>
          </a:p>
        </p:txBody>
      </p:sp>
      <p:sp>
        <p:nvSpPr>
          <p:cNvPr id="16" name="Oval 15"/>
          <p:cNvSpPr/>
          <p:nvPr/>
        </p:nvSpPr>
        <p:spPr>
          <a:xfrm>
            <a:off x="7528560" y="370332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848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8C8C8C"/>
                </a:solidFill>
                <a:latin typeface="Calibri"/>
              </a:rPr>
              <a:t>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848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333333"/>
                </a:solidFill>
                <a:latin typeface="Calibri"/>
              </a:rPr>
              <a:t>Rituais regionais e treinamento</a:t>
            </a:r>
          </a:p>
        </p:txBody>
      </p:sp>
      <p:sp>
        <p:nvSpPr>
          <p:cNvPr id="19" name="Oval 18"/>
          <p:cNvSpPr/>
          <p:nvPr/>
        </p:nvSpPr>
        <p:spPr>
          <a:xfrm>
            <a:off x="10789920" y="370332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8C8C8C"/>
                </a:solidFill>
                <a:latin typeface="Calibri"/>
              </a:rPr>
              <a:t>dez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30" b="0" i="0">
                <a:solidFill>
                  <a:srgbClr val="333333"/>
                </a:solidFill>
                <a:latin typeface="Calibri"/>
              </a:rPr>
              <a:t>Estrutura completa; avaliação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9399" y="3246120"/>
            <a:ext cx="27432" cy="128016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62199" y="2926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10" b="1" i="0">
                <a:solidFill>
                  <a:srgbClr val="F2A900"/>
                </a:solidFill>
                <a:latin typeface="Calibri"/>
              </a:rPr>
              <a:t>Hoje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10" b="0" i="0">
                <a:solidFill>
                  <a:srgbClr val="8C8C8C"/>
                </a:solidFill>
                <a:latin typeface="Calibri"/>
              </a:rPr>
              <a:t>Concluído</a:t>
            </a:r>
          </a:p>
        </p:txBody>
      </p:sp>
      <p:sp>
        <p:nvSpPr>
          <p:cNvPr id="26" name="Oval 25"/>
          <p:cNvSpPr/>
          <p:nvPr/>
        </p:nvSpPr>
        <p:spPr>
          <a:xfrm>
            <a:off x="2011680" y="5852160"/>
            <a:ext cx="182880" cy="18288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10" b="0" i="0">
                <a:solidFill>
                  <a:srgbClr val="8C8C8C"/>
                </a:solidFill>
                <a:latin typeface="Calibri"/>
              </a:rPr>
              <a:t>Em risco</a:t>
            </a:r>
          </a:p>
        </p:txBody>
      </p:sp>
      <p:sp>
        <p:nvSpPr>
          <p:cNvPr id="28" name="Oval 27"/>
          <p:cNvSpPr/>
          <p:nvPr/>
        </p:nvSpPr>
        <p:spPr>
          <a:xfrm>
            <a:off x="3566160" y="5852160"/>
            <a:ext cx="182880" cy="182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10" b="0" i="0">
                <a:solidFill>
                  <a:srgbClr val="8C8C8C"/>
                </a:solidFill>
                <a:latin typeface="Calibri"/>
              </a:rPr>
              <a:t>Planejado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Três pedidos para as equipes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90" b="1" i="0">
                <a:solidFill>
                  <a:srgbClr val="8C8C8C"/>
                </a:solidFill>
                <a:latin typeface="Calibri"/>
              </a:rPr>
              <a:t>EMPRESA EXEMPLO  |  COMUNICAÇÃO ÀS EQUIPES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F81BD"/>
                </a:solidFill>
                <a:latin typeface="Calibri"/>
              </a:rPr>
              <a:t>O QUE ESPERAMOS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2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333333"/>
                </a:solidFill>
                <a:latin typeface="Calibri"/>
              </a:rPr>
              <a:t>Continuidade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40" b="0" i="0">
                <a:solidFill>
                  <a:srgbClr val="333333"/>
                </a:solidFill>
                <a:latin typeface="Calibri"/>
              </a:rPr>
              <a:t>Nenhum cliente fica sem atendimento na transição: a carteira atual continua com você até a alocação formal.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2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333333"/>
                </a:solidFill>
                <a:latin typeface="Calibri"/>
              </a:rPr>
              <a:t>Participação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40" b="0" i="0">
                <a:solidFill>
                  <a:srgbClr val="333333"/>
                </a:solidFill>
                <a:latin typeface="Calibri"/>
              </a:rPr>
              <a:t>Traga dúvidas e sugestões nas reuniões regionais de outubro.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2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333333"/>
                </a:solidFill>
                <a:latin typeface="Calibri"/>
              </a:rPr>
              <a:t>Registro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40" b="0" i="0">
                <a:solidFill>
                  <a:srgbClr val="333333"/>
                </a:solidFill>
                <a:latin typeface="Calibri"/>
              </a:rPr>
              <a:t>Mantenha o CRM atualizado; ele será a base da alocação por região.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As cinco perguntas mais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90" b="1" i="0">
                <a:solidFill>
                  <a:srgbClr val="8C8C8C"/>
                </a:solidFill>
                <a:latin typeface="Calibri"/>
              </a:rPr>
              <a:t>EMPRESA EXEMPLO  |  COMUNICAÇÃO ÀS EQUIPES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F81BD"/>
                </a:solidFill>
                <a:latin typeface="Calibri"/>
              </a:rPr>
              <a:t>PERGUNTAS FREQUENTES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9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APOIO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40" b="1" i="0">
                <a:solidFill>
                  <a:srgbClr val="FFFFFF"/>
                </a:solidFill>
                <a:latin typeface="Calibri"/>
              </a:rPr>
              <a:t>Dúvidas: canal #estrutura-comercial ou seu gestor; FAQ atualizada toda sexta-feira.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274552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1" i="0">
                <a:solidFill>
                  <a:srgbClr val="333333"/>
                </a:solidFill>
                <a:latin typeface="Calibri"/>
              </a:rPr>
              <a:t>Vai ter demissão?</a:t>
            </a:r>
            <a:r>
              <a:rPr sz="1760" b="0" i="0">
                <a:solidFill>
                  <a:srgbClr val="333333"/>
                </a:solidFill>
                <a:latin typeface="Calibri"/>
              </a:rPr>
              <a:t> Não. A mudança cria três posições de gerente e não reduz equipes.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1" i="0">
                <a:solidFill>
                  <a:srgbClr val="333333"/>
                </a:solidFill>
                <a:latin typeface="Calibri"/>
              </a:rPr>
              <a:t>Meu salário ou comissão muda?</a:t>
            </a:r>
            <a:r>
              <a:rPr sz="1760" b="0" i="0">
                <a:solidFill>
                  <a:srgbClr val="333333"/>
                </a:solidFill>
                <a:latin typeface="Calibri"/>
              </a:rPr>
              <a:t> Não em 2026. A política de 2027 será discutida em novembro com as equipes.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1" i="0">
                <a:solidFill>
                  <a:srgbClr val="333333"/>
                </a:solidFill>
                <a:latin typeface="Calibri"/>
              </a:rPr>
              <a:t>Vou trocar de chefe?</a:t>
            </a:r>
            <a:r>
              <a:rPr sz="1760" b="0" i="0">
                <a:solidFill>
                  <a:srgbClr val="333333"/>
                </a:solidFill>
                <a:latin typeface="Calibri"/>
              </a:rPr>
              <a:t> Quem atende clientes fora da sua região atual pode passar a reportar ao gerente regional; cada caso será conversado individualmente até 15/10.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1" i="0">
                <a:solidFill>
                  <a:srgbClr val="333333"/>
                </a:solidFill>
                <a:latin typeface="Calibri"/>
              </a:rPr>
              <a:t>Preciso mudar de cidade?</a:t>
            </a:r>
            <a:r>
              <a:rPr sz="1760" b="0" i="0">
                <a:solidFill>
                  <a:srgbClr val="333333"/>
                </a:solidFill>
                <a:latin typeface="Calibri"/>
              </a:rPr>
              <a:t> Não. Regiões são definidas por carteira, não por local de trabalho.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1" i="0">
                <a:solidFill>
                  <a:srgbClr val="333333"/>
                </a:solidFill>
                <a:latin typeface="Calibri"/>
              </a:rPr>
              <a:t>Quem são os gerentes regionais?</a:t>
            </a:r>
            <a:r>
              <a:rPr sz="1760" b="0" i="0">
                <a:solidFill>
                  <a:srgbClr val="333333"/>
                </a:solidFill>
                <a:latin typeface="Calibri"/>
              </a:rPr>
              <a:t> Serão anunciados em 01/10 após conversa individual com as equipes envolvidas.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180" b="1" i="0">
                <a:solidFill>
                  <a:srgbClr val="FFFFFF"/>
                </a:solidFill>
                <a:latin typeface="Calibri"/>
              </a:rPr>
              <a:t>Próxima comunicação: 15/10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90" b="0" i="0">
                <a:solidFill>
                  <a:srgbClr val="D9E1EA"/>
                </a:solidFill>
                <a:latin typeface="Calibri"/>
              </a:rPr>
              <a:t>rh@empresa-exemplo.com | canal #estrutura-comercial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