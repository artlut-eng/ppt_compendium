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Receita</c:v>
                </c:pt>
              </c:strCache>
            </c:strRef>
          </c:tx>
          <c:spPr>
            <a:solidFill>
              <a:srgbClr val="1F3A5F"/>
            </a:solidFill>
            <a:ln>
              <a:noFill/>
            </a:ln>
          </c:spPr>
          <c:dPt>
            <c:idx val="0"/>
            <c:spPr>
              <a:solidFill>
                <a:srgbClr val="F2A900"/>
              </a:solidFill>
            </c:spPr>
          </c:dPt>
          <c:cat>
            <c:strRef>
              <c:f>Sheet1!$A$2:$A$5</c:f>
              <c:strCache>
                <c:ptCount val="4"/>
                <c:pt idx="0">
                  <c:v>Sudeste</c:v>
                </c:pt>
                <c:pt idx="1">
                  <c:v>Sul</c:v>
                </c:pt>
                <c:pt idx="2">
                  <c:v>Nordeste</c:v>
                </c:pt>
                <c:pt idx="3">
                  <c:v>Centro-Oeste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2.0</c:v>
                </c:pt>
                <c:pt idx="1">
                  <c:v>1.35</c:v>
                </c:pt>
                <c:pt idx="2">
                  <c:v>0.8</c:v>
                </c:pt>
                <c:pt idx="3">
                  <c:v>0.58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sz="1100">
                  <a:solidFill>
                    <a:srgbClr val="333333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8C8C8C"/>
            </a:solidFill>
          </a:ln>
        </c:spPr>
        <c:txPr>
          <a:bodyPr/>
          <a:lstStyle/>
          <a:p>
            <a:pPr>
              <a:defRPr sz="1100">
                <a:solidFill>
                  <a:srgbClr val="8C8C8C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>
          <c:spPr>
            <a:ln>
              <a:solidFill>
                <a:srgbClr val="F2F2F2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>
                <a:solidFill>
                  <a:srgbClr val="8C8C8C"/>
                </a:solidFill>
              </a:defRPr>
            </a:pPr>
          </a:p>
        </c:txPr>
        <c:crossAx val="-2068027336"/>
        <c:crosses val="max"/>
      </c:valAx>
    </c:plotArea>
    <c:dispBlanksAs val="gap"/>
  </c:chart>
  <c:txPr>
    <a:bodyPr/>
    <a:lstStyle/>
    <a:p>
      <a:pPr>
        <a:defRPr sz="1100">
          <a:solidFill>
            <a:srgbClr val="333333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Planejado</c:v>
                </c:pt>
              </c:strCache>
            </c:strRef>
          </c:tx>
          <c:spPr>
            <a:ln w="31750">
              <a:solidFill>
                <a:srgbClr val="8C8C8C"/>
              </a:solidFill>
              <a:prstDash val="dash"/>
            </a:ln>
          </c:spPr>
          <c:marker>
            <c:spPr>
              <a:solidFill>
                <a:srgbClr val="8C8C8C"/>
              </a:solidFill>
              <a:ln>
                <a:solidFill>
                  <a:srgbClr val="8C8C8C"/>
                </a:solidFill>
              </a:ln>
            </c:spPr>
          </c:marker>
          <c:cat>
            <c:strRef>
              <c:f>Sheet1!$A$2:$A$8</c:f>
              <c:strCache>
                <c:ptCount val="7"/>
                <c:pt idx="0">
                  <c:v>S28</c:v>
                </c:pt>
                <c:pt idx="1">
                  <c:v>S29</c:v>
                </c:pt>
                <c:pt idx="2">
                  <c:v>S30</c:v>
                </c:pt>
                <c:pt idx="3">
                  <c:v>S31</c:v>
                </c:pt>
                <c:pt idx="4">
                  <c:v>S32</c:v>
                </c:pt>
                <c:pt idx="5">
                  <c:v>S33</c:v>
                </c:pt>
                <c:pt idx="6">
                  <c:v>S34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40</c:v>
                </c:pt>
                <c:pt idx="1">
                  <c:v>45</c:v>
                </c:pt>
                <c:pt idx="2">
                  <c:v>50</c:v>
                </c:pt>
                <c:pt idx="3">
                  <c:v>55</c:v>
                </c:pt>
                <c:pt idx="4">
                  <c:v>60</c:v>
                </c:pt>
                <c:pt idx="5">
                  <c:v>64</c:v>
                </c:pt>
                <c:pt idx="6">
                  <c:v>68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Real</c:v>
                </c:pt>
              </c:strCache>
            </c:strRef>
          </c:tx>
          <c:spPr>
            <a:ln w="31750">
              <a:solidFill>
                <a:srgbClr val="4F81BD"/>
              </a:solidFill>
            </a:ln>
          </c:spPr>
          <c:marker>
            <c:spPr>
              <a:solidFill>
                <a:srgbClr val="4F81BD"/>
              </a:solidFill>
              <a:ln>
                <a:solidFill>
                  <a:srgbClr val="4F81BD"/>
                </a:solidFill>
              </a:ln>
            </c:spPr>
          </c:marker>
          <c:cat>
            <c:strRef>
              <c:f>Sheet1!$A$2:$A$8</c:f>
              <c:strCache>
                <c:ptCount val="7"/>
                <c:pt idx="0">
                  <c:v>S28</c:v>
                </c:pt>
                <c:pt idx="1">
                  <c:v>S29</c:v>
                </c:pt>
                <c:pt idx="2">
                  <c:v>S30</c:v>
                </c:pt>
                <c:pt idx="3">
                  <c:v>S31</c:v>
                </c:pt>
                <c:pt idx="4">
                  <c:v>S32</c:v>
                </c:pt>
                <c:pt idx="5">
                  <c:v>S33</c:v>
                </c:pt>
                <c:pt idx="6">
                  <c:v>S34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40</c:v>
                </c:pt>
                <c:pt idx="1">
                  <c:v>44</c:v>
                </c:pt>
                <c:pt idx="2">
                  <c:v>48</c:v>
                </c:pt>
                <c:pt idx="3">
                  <c:v>52</c:v>
                </c:pt>
                <c:pt idx="4">
                  <c:v>56</c:v>
                </c:pt>
                <c:pt idx="5">
                  <c:v>59</c:v>
                </c:pt>
                <c:pt idx="6">
                  <c:v>62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8C8C8C"/>
            </a:solidFill>
          </a:ln>
        </c:spPr>
        <c:txPr>
          <a:bodyPr/>
          <a:lstStyle/>
          <a:p>
            <a:pPr>
              <a:defRPr sz="1100">
                <a:solidFill>
                  <a:srgbClr val="8C8C8C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>
              <a:solidFill>
                <a:srgbClr val="F2F2F2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>
                <a:solidFill>
                  <a:srgbClr val="8C8C8C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100"/>
          </a:pPr>
        </a:p>
      </c:txPr>
    </c:legend>
    <c:plotVisOnly val="1"/>
    <c:dispBlanksAs val="gap"/>
    <c:showDLblsOverMax val="0"/>
  </c:chart>
  <c:txPr>
    <a:bodyPr/>
    <a:lstStyle/>
    <a:p>
      <a:pPr>
        <a:defRPr sz="1100">
          <a:solidFill>
            <a:srgbClr val="333333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Produto A</c:v>
                </c:pt>
              </c:strCache>
            </c:strRef>
          </c:tx>
          <c:spPr>
            <a:solidFill>
              <a:srgbClr val="1F3A5F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1T</c:v>
                </c:pt>
                <c:pt idx="1">
                  <c:v>2T</c:v>
                </c:pt>
                <c:pt idx="2">
                  <c:v>3T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</c:v>
                </c:pt>
                <c:pt idx="1">
                  <c:v>12</c:v>
                </c:pt>
                <c:pt idx="2">
                  <c:v>14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Produto B</c:v>
                </c:pt>
              </c:strCache>
            </c:strRef>
          </c:tx>
          <c:spPr>
            <a:solidFill>
              <a:srgbClr val="4F81BD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1T</c:v>
                </c:pt>
                <c:pt idx="1">
                  <c:v>2T</c:v>
                </c:pt>
                <c:pt idx="2">
                  <c:v>3T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6</c:v>
                </c:pt>
                <c:pt idx="1">
                  <c:v>7</c:v>
                </c:pt>
                <c:pt idx="2">
                  <c:v>9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Serviços</c:v>
                </c:pt>
              </c:strCache>
            </c:strRef>
          </c:tx>
          <c:spPr>
            <a:solidFill>
              <a:srgbClr val="F2A900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1T</c:v>
                </c:pt>
                <c:pt idx="1">
                  <c:v>2T</c:v>
                </c:pt>
                <c:pt idx="2">
                  <c:v>3T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3</c:v>
                </c:pt>
                <c:pt idx="1">
                  <c:v>4</c:v>
                </c:pt>
                <c:pt idx="2">
                  <c:v>5</c:v>
                </c:pt>
              </c:numCache>
            </c:numRef>
          </c:val>
        </c:ser>
        <c:gapWidth val="6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8C8C8C"/>
            </a:solidFill>
          </a:ln>
        </c:spPr>
        <c:txPr>
          <a:bodyPr/>
          <a:lstStyle/>
          <a:p>
            <a:pPr>
              <a:defRPr sz="1100">
                <a:solidFill>
                  <a:srgbClr val="8C8C8C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F2F2F2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>
                <a:solidFill>
                  <a:srgbClr val="8C8C8C"/>
                </a:solidFill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100"/>
          </a:pPr>
        </a:p>
      </c:txPr>
    </c:legend>
    <c:dispBlanksAs val="gap"/>
  </c:chart>
  <c:txPr>
    <a:bodyPr/>
    <a:lstStyle/>
    <a:p>
      <a:pPr>
        <a:defRPr sz="1100">
          <a:solidFill>
            <a:srgbClr val="333333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/>
        <c:ser>
          <c:idx val="0"/>
          <c:order val="0"/>
          <c:tx>
            <c:strRef>
              <c:f>Sheet1!$B$1</c:f>
              <c:strCache>
                <c:ptCount val="1"/>
                <c:pt idx="0">
                  <c:v>min</c:v>
                </c:pt>
              </c:strCache>
            </c:strRef>
          </c:tx>
          <c:dPt>
            <c:idx val="0"/>
            <c:spPr>
              <a:solidFill>
                <a:srgbClr val="1F3A5F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F2A900"/>
              </a:solidFill>
            </c:spPr>
          </c:dPt>
          <c:dPt>
            <c:idx val="3"/>
            <c:spPr>
              <a:solidFill>
                <a:srgbClr val="8C8C8C"/>
              </a:solidFill>
            </c:spPr>
          </c:dPt>
          <c:cat>
            <c:strRef>
              <c:f>Sheet1!$A$2:$A$5</c:f>
              <c:strCache>
                <c:ptCount val="4"/>
                <c:pt idx="0">
                  <c:v>Troca de ferramenta</c:v>
                </c:pt>
                <c:pt idx="1">
                  <c:v>Falta de material</c:v>
                </c:pt>
                <c:pt idx="2">
                  <c:v>Falha hidráulica</c:v>
                </c:pt>
                <c:pt idx="3">
                  <c:v>Outros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120</c:v>
                </c:pt>
                <c:pt idx="1">
                  <c:v>95</c:v>
                </c:pt>
                <c:pt idx="2">
                  <c:v>50</c:v>
                </c:pt>
                <c:pt idx="3">
                  <c:v>45</c:v>
                </c:pt>
              </c:numCache>
            </c:numRef>
          </c:val>
        </c:ser>
        <c:dLbls>
          <c:txPr>
            <a:bodyPr/>
            <a:lstStyle/>
            <a:p>
              <a:pPr>
                <a:defRPr sz="1100">
                  <a:solidFill>
                    <a:srgbClr val="333333"/>
                  </a:solidFill>
                </a:defRPr>
              </a:pPr>
            </a:p>
          </c:txPr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  <c:holeSize val="50"/>
      </c:doughnutChart>
    </c:plotArea>
    <c:legend>
      <c:legendPos val="b"/>
      <c:layout/>
      <c:overlay val="0"/>
      <c:txPr>
        <a:bodyPr/>
        <a:lstStyle/>
        <a:p>
          <a:pPr>
            <a:defRPr sz="1100"/>
          </a:pPr>
        </a:p>
      </c:txPr>
    </c:legend>
    <c:plotVisOnly val="1"/>
    <c:dispBlanksAs val="gap"/>
    <c:showDLblsOverMax val="0"/>
  </c:chart>
  <c:txPr>
    <a:bodyPr/>
    <a:lstStyle/>
    <a:p>
      <a:pPr>
        <a:defRPr sz="1100">
          <a:solidFill>
            <a:srgbClr val="333333"/>
          </a:solidFill>
          <a:latin typeface="Calibri"/>
        </a:defRPr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Deck de teste: exercita todos os modelos.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pPr>
              <a:defRPr b="1">
                <a:solidFill>
                  <a:srgbClr val="5B1F6E"/>
                </a:solidFill>
                <a:latin typeface="Georgia"/>
              </a:defRPr>
            </a:pPr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 b="1">
                <a:solidFill>
                  <a:srgbClr val="5B1F6E"/>
                </a:solidFill>
                <a:latin typeface="Georgia"/>
              </a:defRPr>
            </a:pPr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5B1F6E"/>
                </a:solidFill>
                <a:latin typeface="Georgia"/>
              </a:defRPr>
            </a:pPr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>
              <a:defRPr b="1">
                <a:solidFill>
                  <a:srgbClr val="5B1F6E"/>
                </a:solidFill>
                <a:latin typeface="Georgia"/>
              </a:defRPr>
            </a:pPr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5B1F6E"/>
                </a:solidFill>
                <a:latin typeface="Georgia"/>
              </a:defRPr>
            </a:pPr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 b="1">
                <a:solidFill>
                  <a:srgbClr val="5B1F6E"/>
                </a:solidFill>
                <a:latin typeface="Georgia"/>
              </a:defRPr>
            </a:pPr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5B1F6E"/>
                </a:solidFill>
                <a:latin typeface="Georgia"/>
              </a:defRPr>
            </a:pPr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 b="1">
                <a:solidFill>
                  <a:srgbClr val="5B1F6E"/>
                </a:solidFill>
                <a:latin typeface="Georgia"/>
              </a:defRPr>
            </a:pPr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 b="1">
                <a:solidFill>
                  <a:srgbClr val="5B1F6E"/>
                </a:solidFill>
                <a:latin typeface="Georgia"/>
              </a:defRPr>
            </a:pPr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5B1F6E"/>
                </a:solidFill>
                <a:latin typeface="Georgia"/>
              </a:defRPr>
            </a:pPr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pPr>
              <a:defRPr b="1">
                <a:solidFill>
                  <a:srgbClr val="5B1F6E"/>
                </a:solidFill>
                <a:latin typeface="Georgia"/>
              </a:defRPr>
            </a:pPr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 b="1">
                <a:solidFill>
                  <a:srgbClr val="5B1F6E"/>
                </a:solidFill>
                <a:latin typeface="Georgia"/>
              </a:defRPr>
            </a:pPr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5B1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418320" y="18288"/>
            <a:ext cx="2560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FFFFF"/>
                </a:solidFill>
              </a:rPr>
              <a:t>TEMPLATE CORPORATIVO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808080"/>
                </a:solidFill>
              </a:rPr>
              <a:t>Empresa Exemplo | Documento interno</a:t>
            </a:r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Catálogo de modelos de slide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Um slide de cada tipo suportado pela spec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669280"/>
            <a:ext cx="1069848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0" i="0">
                <a:solidFill>
                  <a:srgbClr val="8C8C8C"/>
                </a:solidFill>
                <a:latin typeface="Calibri"/>
              </a:rPr>
              <a:t>set/2026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Abertura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Sumário, KPIs e número grande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21792"/>
            <a:ext cx="11274552" cy="822960"/>
          </a:xfrm>
        </p:spPr>
        <p:txBody>
          <a:bodyPr wrap="square" anchor="t"/>
          <a:lstStyle/>
          <a:p>
            <a:pPr algn="l"/>
            <a:r>
              <a:rPr sz="2800"/>
              <a:t>Seis KPIs cabem em uma linha com fonte reduzida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"/>
            <a:ext cx="11274552" cy="256032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/>
            <a:r>
              <a:rPr sz="1000" b="1" i="0">
                <a:solidFill>
                  <a:srgbClr val="4F81BD"/>
                </a:solidFill>
                <a:latin typeface="Calibri"/>
              </a:rPr>
              <a:t>VISÃO GERAL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0"/>
            <a:ext cx="8531352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8C8C8C"/>
                </a:solidFill>
                <a:latin typeface="Calibri"/>
              </a:rPr>
              <a:t>Fonte: MES   |   Uso interno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17352" y="6217920"/>
            <a:ext cx="91440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000" b="0" i="0">
                <a:solidFill>
                  <a:srgbClr val="8C8C8C"/>
                </a:solidFill>
                <a:latin typeface="Calibri"/>
              </a:rPr>
              <a:t>3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5349240"/>
            <a:ext cx="11274552" cy="7315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5349240"/>
            <a:ext cx="73152" cy="7315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5349240"/>
            <a:ext cx="2103120" cy="7315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000" b="1" i="0">
                <a:solidFill>
                  <a:srgbClr val="1F3A5F"/>
                </a:solidFill>
                <a:latin typeface="Calibri"/>
              </a:rPr>
              <a:t>CONCLUSÃO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88920" y="5349240"/>
            <a:ext cx="8759952" cy="7315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400" b="1" i="0">
                <a:solidFill>
                  <a:srgbClr val="333333"/>
                </a:solidFill>
                <a:latin typeface="Calibri"/>
              </a:rPr>
              <a:t>Três indicadores no vermelho concentram-se na Linha 2; o restante segue no alvo.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828800"/>
            <a:ext cx="1650492" cy="219456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828800"/>
            <a:ext cx="1650492" cy="73152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2057400"/>
            <a:ext cx="1376172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0" i="0">
                <a:solidFill>
                  <a:srgbClr val="8C8C8C"/>
                </a:solidFill>
                <a:latin typeface="Calibri"/>
              </a:rPr>
              <a:t>SEGURANÇA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423160"/>
            <a:ext cx="1376172" cy="10058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3000" b="1" i="0">
                <a:solidFill>
                  <a:srgbClr val="333333"/>
                </a:solidFill>
                <a:latin typeface="Calibri"/>
              </a:rPr>
              <a:t>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429000"/>
            <a:ext cx="1376172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1" i="0">
                <a:solidFill>
                  <a:srgbClr val="2E7D32"/>
                </a:solidFill>
                <a:latin typeface="Calibri"/>
              </a:rPr>
              <a:t>142 dias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382012" y="1828800"/>
            <a:ext cx="1650492" cy="219456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382012" y="1828800"/>
            <a:ext cx="1650492" cy="73152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519172" y="2057400"/>
            <a:ext cx="1376172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0" i="0">
                <a:solidFill>
                  <a:srgbClr val="8C8C8C"/>
                </a:solidFill>
                <a:latin typeface="Calibri"/>
              </a:rPr>
              <a:t>PRODUÇÃO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19172" y="2423160"/>
            <a:ext cx="1376172" cy="10058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3000" b="1" i="0">
                <a:solidFill>
                  <a:srgbClr val="333333"/>
                </a:solidFill>
                <a:latin typeface="Calibri"/>
              </a:rPr>
              <a:t>4.120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19172" y="3429000"/>
            <a:ext cx="1376172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1" i="0">
                <a:solidFill>
                  <a:srgbClr val="C62828"/>
                </a:solidFill>
                <a:latin typeface="Calibri"/>
              </a:rPr>
              <a:t>meta 4.500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06824" y="1828800"/>
            <a:ext cx="1650492" cy="219456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306824" y="1828800"/>
            <a:ext cx="1650492" cy="73152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43984" y="2057400"/>
            <a:ext cx="1376172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0" i="0">
                <a:solidFill>
                  <a:srgbClr val="8C8C8C"/>
                </a:solidFill>
                <a:latin typeface="Calibri"/>
              </a:rPr>
              <a:t>QUALIDADE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984" y="2423160"/>
            <a:ext cx="1376172" cy="10058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3000" b="1" i="0">
                <a:solidFill>
                  <a:srgbClr val="333333"/>
                </a:solidFill>
                <a:latin typeface="Calibri"/>
              </a:rPr>
              <a:t>1,8%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43984" y="3429000"/>
            <a:ext cx="1376172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1" i="0">
                <a:solidFill>
                  <a:srgbClr val="2E7D32"/>
                </a:solidFill>
                <a:latin typeface="Calibri"/>
              </a:rPr>
              <a:t>meta 2%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31636" y="1828800"/>
            <a:ext cx="1650492" cy="219456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31636" y="1828800"/>
            <a:ext cx="1650492" cy="73152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68796" y="2057400"/>
            <a:ext cx="1376172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0" i="0">
                <a:solidFill>
                  <a:srgbClr val="8C8C8C"/>
                </a:solidFill>
                <a:latin typeface="Calibri"/>
              </a:rPr>
              <a:t>OEE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68796" y="2423160"/>
            <a:ext cx="1376172" cy="10058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3000" b="1" i="0">
                <a:solidFill>
                  <a:srgbClr val="333333"/>
                </a:solidFill>
                <a:latin typeface="Calibri"/>
              </a:rPr>
              <a:t>68%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68796" y="3429000"/>
            <a:ext cx="1376172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1" i="0">
                <a:solidFill>
                  <a:srgbClr val="C62828"/>
                </a:solidFill>
                <a:latin typeface="Calibri"/>
              </a:rPr>
              <a:t>meta 75%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156448" y="1828800"/>
            <a:ext cx="1650492" cy="219456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156448" y="1828800"/>
            <a:ext cx="1650492" cy="73152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93608" y="2057400"/>
            <a:ext cx="1376172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0" i="0">
                <a:solidFill>
                  <a:srgbClr val="8C8C8C"/>
                </a:solidFill>
                <a:latin typeface="Calibri"/>
              </a:rPr>
              <a:t>OTIF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93608" y="2423160"/>
            <a:ext cx="1376172" cy="10058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3000" b="1" i="0">
                <a:solidFill>
                  <a:srgbClr val="333333"/>
                </a:solidFill>
                <a:latin typeface="Calibri"/>
              </a:rPr>
              <a:t>96%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93608" y="3429000"/>
            <a:ext cx="1376172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1" i="0">
                <a:solidFill>
                  <a:srgbClr val="2E7D32"/>
                </a:solidFill>
                <a:latin typeface="Calibri"/>
              </a:rPr>
              <a:t>meta 95%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081260" y="1828800"/>
            <a:ext cx="1650492" cy="219456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0081260" y="1828800"/>
            <a:ext cx="1650492" cy="73152"/>
          </a:xfrm>
          <a:prstGeom prst="rect">
            <a:avLst/>
          </a:prstGeom>
          <a:solidFill>
            <a:srgbClr val="8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218420" y="2057400"/>
            <a:ext cx="1376172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0" i="0">
                <a:solidFill>
                  <a:srgbClr val="8C8C8C"/>
                </a:solidFill>
                <a:latin typeface="Calibri"/>
              </a:rPr>
              <a:t>CUSTO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218420" y="2423160"/>
            <a:ext cx="1376172" cy="10058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2300" b="1" i="0">
                <a:solidFill>
                  <a:srgbClr val="333333"/>
                </a:solidFill>
                <a:latin typeface="Calibri"/>
              </a:rPr>
              <a:t>R$ 1,2 mi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218420" y="3429000"/>
            <a:ext cx="1376172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1" i="0">
                <a:solidFill>
                  <a:srgbClr val="8C8C8C"/>
                </a:solidFill>
                <a:latin typeface="Calibri"/>
              </a:rPr>
              <a:t>no orçamento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4297680"/>
            <a:ext cx="11274552" cy="914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marL="228600" indent="-228600">
              <a:spcAft>
                <a:spcPts val="800"/>
              </a:spcAft>
              <a:buClr>
                <a:srgbClr val="1F3A5F"/>
              </a:buClr>
              <a:buChar char="•"/>
            </a:pPr>
            <a:r>
              <a:rPr sz="1500" b="0" i="0">
                <a:solidFill>
                  <a:srgbClr val="333333"/>
                </a:solidFill>
                <a:latin typeface="Calibri"/>
              </a:rPr>
              <a:t>Contexto opcional abaixo dos cartões</a:t>
            </a:r>
          </a:p>
          <a:p>
            <a:pPr marL="228600" indent="-228600">
              <a:spcAft>
                <a:spcPts val="800"/>
              </a:spcAft>
              <a:buClr>
                <a:srgbClr val="1F3A5F"/>
              </a:buClr>
              <a:buChar char="•"/>
            </a:pPr>
            <a:r>
              <a:rPr sz="1500" b="0" i="0">
                <a:solidFill>
                  <a:srgbClr val="333333"/>
                </a:solidFill>
                <a:latin typeface="Calibri"/>
              </a:rPr>
              <a:t>Segunda linha de contexto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21792"/>
            <a:ext cx="11274552" cy="822960"/>
          </a:xfrm>
        </p:spPr>
        <p:txBody>
          <a:bodyPr wrap="square" anchor="t"/>
          <a:lstStyle/>
          <a:p>
            <a:pPr algn="l"/>
            <a:r>
              <a:rPr sz="2800"/>
              <a:t>Quatro KPIs com linha de cobertura sob o delta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"/>
            <a:ext cx="11274552" cy="256032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/>
            <a:r>
              <a:rPr sz="1000" b="1" i="0">
                <a:solidFill>
                  <a:srgbClr val="4F81BD"/>
                </a:solidFill>
                <a:latin typeface="Calibri"/>
              </a:rPr>
              <a:t>KPIS COM DESCRIÇÃO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0"/>
            <a:ext cx="8531352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8C8C8C"/>
                </a:solidFill>
                <a:latin typeface="Calibri"/>
              </a:rPr>
              <a:t>Fonte: Base de solicitações (n=71)   |   Uso interno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17352" y="6217920"/>
            <a:ext cx="91440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000" b="0" i="0">
                <a:solidFill>
                  <a:srgbClr val="8C8C8C"/>
                </a:solidFill>
                <a:latin typeface="Calibri"/>
              </a:rPr>
              <a:t>4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5349240"/>
            <a:ext cx="11274552" cy="731520"/>
          </a:xfrm>
          <a:prstGeom prst="rect">
            <a:avLst/>
          </a:prstGeom>
          <a:solidFill>
            <a:srgbClr val="FFF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5349240"/>
            <a:ext cx="73152" cy="731520"/>
          </a:xfrm>
          <a:prstGeom prst="rect">
            <a:avLst/>
          </a:prstGeom>
          <a:solidFill>
            <a:srgbClr val="F9A8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5349240"/>
            <a:ext cx="2103120" cy="7315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000" b="1" i="0">
                <a:solidFill>
                  <a:srgbClr val="F9A825"/>
                </a:solidFill>
                <a:latin typeface="Calibri"/>
              </a:rPr>
              <a:t>CUIDADO DE LEITURA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88920" y="5349240"/>
            <a:ext cx="8759952" cy="7315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400" b="1" i="0">
                <a:solidFill>
                  <a:srgbClr val="333333"/>
                </a:solidFill>
                <a:latin typeface="Calibri"/>
              </a:rPr>
              <a:t>21 solicitações ainda não possuem valor contratado; o saving reflete apenas itens contratados.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828800"/>
            <a:ext cx="2612898" cy="265176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828800"/>
            <a:ext cx="2612898" cy="73152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2057400"/>
            <a:ext cx="2338578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0" i="0">
                <a:solidFill>
                  <a:srgbClr val="8C8C8C"/>
                </a:solidFill>
                <a:latin typeface="Calibri"/>
              </a:rPr>
              <a:t>FORA DO PRAZO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423160"/>
            <a:ext cx="2338578" cy="10058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4000" b="1" i="0">
                <a:solidFill>
                  <a:srgbClr val="333333"/>
                </a:solidFill>
                <a:latin typeface="Calibri"/>
              </a:rPr>
              <a:t>76%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429000"/>
            <a:ext cx="2338578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1" i="0">
                <a:solidFill>
                  <a:srgbClr val="C62828"/>
                </a:solidFill>
                <a:latin typeface="Calibri"/>
              </a:rPr>
              <a:t>54 de 71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3794760"/>
            <a:ext cx="2338578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8C8C8C"/>
                </a:solidFill>
                <a:latin typeface="Calibri"/>
              </a:rPr>
              <a:t>classificadas como atrasadas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44418" y="1828800"/>
            <a:ext cx="2612898" cy="265176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44418" y="1828800"/>
            <a:ext cx="2612898" cy="73152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81577" y="2057400"/>
            <a:ext cx="2338578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0" i="0">
                <a:solidFill>
                  <a:srgbClr val="8C8C8C"/>
                </a:solidFill>
                <a:latin typeface="Calibri"/>
              </a:rPr>
              <a:t>ATRASO MÉDIO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81577" y="2423160"/>
            <a:ext cx="2338578" cy="10058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3900" b="1" i="0">
                <a:solidFill>
                  <a:srgbClr val="333333"/>
                </a:solidFill>
                <a:latin typeface="Calibri"/>
              </a:rPr>
              <a:t>62 dias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81577" y="3429000"/>
            <a:ext cx="2338578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1" i="0">
                <a:solidFill>
                  <a:srgbClr val="C62828"/>
                </a:solidFill>
                <a:latin typeface="Calibri"/>
              </a:rPr>
              <a:t>mediana 61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81577" y="3794760"/>
            <a:ext cx="2338578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8C8C8C"/>
                </a:solidFill>
                <a:latin typeface="Calibri"/>
              </a:rPr>
              <a:t>entre os itens atrasados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1828800"/>
            <a:ext cx="2612898" cy="265176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1828800"/>
            <a:ext cx="2612898" cy="73152"/>
          </a:xfrm>
          <a:prstGeom prst="rect">
            <a:avLst/>
          </a:prstGeom>
          <a:solidFill>
            <a:srgbClr val="F9A8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68796" y="2057400"/>
            <a:ext cx="2338578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0" i="0">
                <a:solidFill>
                  <a:srgbClr val="8C8C8C"/>
                </a:solidFill>
                <a:latin typeface="Calibri"/>
              </a:rPr>
              <a:t>RISCO ALTO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68796" y="2423160"/>
            <a:ext cx="2338578" cy="10058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4000" b="1" i="0">
                <a:solidFill>
                  <a:srgbClr val="333333"/>
                </a:solidFill>
                <a:latin typeface="Calibri"/>
              </a:rPr>
              <a:t>70%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68796" y="3429000"/>
            <a:ext cx="2338578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1" i="0">
                <a:solidFill>
                  <a:srgbClr val="F9A825"/>
                </a:solidFill>
                <a:latin typeface="Calibri"/>
              </a:rPr>
              <a:t>50 solicitações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68796" y="3794760"/>
            <a:ext cx="2338578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8C8C8C"/>
                </a:solidFill>
                <a:latin typeface="Calibri"/>
              </a:rPr>
              <a:t>nível de risco registrado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118854" y="1828800"/>
            <a:ext cx="2612898" cy="265176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118854" y="1828800"/>
            <a:ext cx="2612898" cy="73152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256014" y="2057400"/>
            <a:ext cx="2338578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0" i="0">
                <a:solidFill>
                  <a:srgbClr val="8C8C8C"/>
                </a:solidFill>
                <a:latin typeface="Calibri"/>
              </a:rPr>
              <a:t>SAVING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56014" y="2423160"/>
            <a:ext cx="2338578" cy="10058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4000" b="1" i="0">
                <a:solidFill>
                  <a:srgbClr val="333333"/>
                </a:solidFill>
                <a:latin typeface="Calibri"/>
              </a:rPr>
              <a:t>4,3%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56014" y="3429000"/>
            <a:ext cx="2338578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1" i="0">
                <a:solidFill>
                  <a:srgbClr val="2E7D32"/>
                </a:solidFill>
                <a:latin typeface="Calibri"/>
              </a:rPr>
              <a:t>R$ 68,6 mil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56014" y="3794760"/>
            <a:ext cx="2338578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8C8C8C"/>
                </a:solidFill>
                <a:latin typeface="Calibri"/>
              </a:rPr>
              <a:t>só itens com valor contratado (n=50)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Dados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21792"/>
            <a:ext cx="11274552" cy="822960"/>
          </a:xfrm>
        </p:spPr>
        <p:txBody>
          <a:bodyPr wrap="square" anchor="t"/>
          <a:lstStyle/>
          <a:p>
            <a:pPr algn="l"/>
            <a:r>
              <a:rPr sz="2800"/>
              <a:t>Barras horizontais ordenadas com destaque em accent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"/>
            <a:ext cx="11274552" cy="256032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/>
            <a:r>
              <a:rPr sz="1000" b="1" i="0">
                <a:solidFill>
                  <a:srgbClr val="4F81BD"/>
                </a:solidFill>
                <a:latin typeface="Calibri"/>
              </a:rPr>
              <a:t>RANKING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17320"/>
            <a:ext cx="11274552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600" b="0" i="0">
                <a:solidFill>
                  <a:srgbClr val="8C8C8C"/>
                </a:solidFill>
                <a:latin typeface="Calibri"/>
              </a:rPr>
              <a:t>R$ mi, agosto/26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0"/>
            <a:ext cx="8531352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8C8C8C"/>
                </a:solidFill>
                <a:latin typeface="Calibri"/>
              </a:rPr>
              <a:t>Fonte: CRM   |   Uso interno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17352" y="6217920"/>
            <a:ext cx="91440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000" b="0" i="0">
                <a:solidFill>
                  <a:srgbClr val="8C8C8C"/>
                </a:solidFill>
                <a:latin typeface="Calibri"/>
              </a:rPr>
              <a:t>6</a:t>
            </a:r>
          </a:p>
        </p:txBody>
      </p:sp>
      <p:graphicFrame>
        <p:nvGraphicFramePr>
          <p:cNvPr id="7" name="Chart 6" descr="Barras horizontais ordenadas com destaque em accent"/>
          <p:cNvGraphicFramePr>
            <a:graphicFrameLocks noGrp="1"/>
          </p:cNvGraphicFramePr>
          <p:nvPr/>
        </p:nvGraphicFramePr>
        <p:xfrm>
          <a:off x="457200" y="2011680"/>
          <a:ext cx="11274552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21792"/>
            <a:ext cx="11274552" cy="822960"/>
          </a:xfrm>
        </p:spPr>
        <p:txBody>
          <a:bodyPr wrap="square" anchor="t"/>
          <a:lstStyle/>
          <a:p>
            <a:pPr algn="l"/>
            <a:r>
              <a:rPr sz="2800"/>
              <a:t>Linha com meta tracejada, comentários e callout de recomendação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"/>
            <a:ext cx="11274552" cy="256032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/>
            <a:r>
              <a:rPr sz="1000" b="1" i="0">
                <a:solidFill>
                  <a:srgbClr val="4F81BD"/>
                </a:solidFill>
                <a:latin typeface="Calibri"/>
              </a:rPr>
              <a:t>EVOLUÇÃO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0"/>
            <a:ext cx="8531352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8C8C8C"/>
                </a:solidFill>
                <a:latin typeface="Calibri"/>
              </a:rPr>
              <a:t>Fonte: Cronograma   |   Uso interno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17352" y="6217920"/>
            <a:ext cx="91440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000" b="0" i="0">
                <a:solidFill>
                  <a:srgbClr val="8C8C8C"/>
                </a:solidFill>
                <a:latin typeface="Calibri"/>
              </a:rPr>
              <a:t>7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5349240"/>
            <a:ext cx="11274552" cy="731520"/>
          </a:xfrm>
          <a:prstGeom prst="rect">
            <a:avLst/>
          </a:prstGeom>
          <a:solidFill>
            <a:srgbClr val="EAF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5349240"/>
            <a:ext cx="73152" cy="73152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5349240"/>
            <a:ext cx="2103120" cy="7315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000" b="1" i="0">
                <a:solidFill>
                  <a:srgbClr val="2E7D32"/>
                </a:solidFill>
                <a:latin typeface="Calibri"/>
              </a:rPr>
              <a:t>RECOMENDAÇÃO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88920" y="5349240"/>
            <a:ext cx="8759952" cy="7315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400" b="1" i="0">
                <a:solidFill>
                  <a:srgbClr val="333333"/>
                </a:solidFill>
                <a:latin typeface="Calibri"/>
              </a:rPr>
              <a:t>Acionar o fornecedor alternativo e replanejar os testes integrados.</a:t>
            </a:r>
          </a:p>
        </p:txBody>
      </p:sp>
      <p:graphicFrame>
        <p:nvGraphicFramePr>
          <p:cNvPr id="10" name="Chart 9" descr="Linha com meta tracejada, comentários e callout de recomendação"/>
          <p:cNvGraphicFramePr>
            <a:graphicFrameLocks noGrp="1"/>
          </p:cNvGraphicFramePr>
          <p:nvPr/>
        </p:nvGraphicFramePr>
        <p:xfrm>
          <a:off x="457200" y="1737360"/>
          <a:ext cx="7315200" cy="34747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8046720" y="1828800"/>
            <a:ext cx="3685032" cy="32918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marL="228600" indent="-228600">
              <a:spcAft>
                <a:spcPts val="800"/>
              </a:spcAft>
              <a:buClr>
                <a:srgbClr val="1F3A5F"/>
              </a:buClr>
              <a:buChar char="•"/>
            </a:pPr>
            <a:r>
              <a:rPr sz="1400" b="0" i="0">
                <a:solidFill>
                  <a:srgbClr val="333333"/>
                </a:solidFill>
                <a:latin typeface="Calibri"/>
              </a:rPr>
              <a:t>Gap abre a partir da S31</a:t>
            </a:r>
          </a:p>
          <a:p>
            <a:pPr marL="228600" indent="-228600">
              <a:spcAft>
                <a:spcPts val="800"/>
              </a:spcAft>
              <a:buClr>
                <a:srgbClr val="1F3A5F"/>
              </a:buClr>
              <a:buChar char="•"/>
            </a:pPr>
            <a:r>
              <a:rPr sz="1400" b="0" i="0">
                <a:solidFill>
                  <a:srgbClr val="333333"/>
                </a:solidFill>
                <a:latin typeface="Calibri"/>
              </a:rPr>
              <a:t>Causa: homologação do fornecedor</a:t>
            </a:r>
          </a:p>
          <a:p>
            <a:pPr marL="228600" indent="-228600">
              <a:spcAft>
                <a:spcPts val="800"/>
              </a:spcAft>
              <a:buClr>
                <a:srgbClr val="1F3A5F"/>
              </a:buClr>
              <a:buChar char="•"/>
            </a:pPr>
            <a:r>
              <a:rPr sz="1400" b="0" i="0">
                <a:solidFill>
                  <a:srgbClr val="333333"/>
                </a:solidFill>
                <a:latin typeface="Calibri"/>
              </a:rPr>
              <a:t>Recuperação prevista na S38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11274552" cy="822960"/>
          </a:xfrm>
        </p:spPr>
        <p:txBody>
          <a:bodyPr wrap="square" anchor="t"/>
          <a:lstStyle/>
          <a:p>
            <a:pPr algn="l"/>
            <a:r>
              <a:rPr sz="2800"/>
              <a:t>Composição com colunas empilhadas (sem kicker)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217920"/>
            <a:ext cx="8531352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8C8C8C"/>
                </a:solidFill>
                <a:latin typeface="Calibri"/>
              </a:rPr>
              <a:t>Fonte: ERP   |   Uso interno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17352" y="6217920"/>
            <a:ext cx="91440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000" b="0" i="0">
                <a:solidFill>
                  <a:srgbClr val="8C8C8C"/>
                </a:solidFill>
                <a:latin typeface="Calibri"/>
              </a:rPr>
              <a:t>8</a:t>
            </a:r>
          </a:p>
        </p:txBody>
      </p:sp>
      <p:graphicFrame>
        <p:nvGraphicFramePr>
          <p:cNvPr id="5" name="Chart 4" descr="Composição com colunas empilhadas (sem kicker)"/>
          <p:cNvGraphicFramePr>
            <a:graphicFrameLocks noGrp="1"/>
          </p:cNvGraphicFramePr>
          <p:nvPr/>
        </p:nvGraphicFramePr>
        <p:xfrm>
          <a:off x="457200" y="1463040"/>
          <a:ext cx="11274552" cy="46634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21792"/>
            <a:ext cx="11274552" cy="822960"/>
          </a:xfrm>
        </p:spPr>
        <p:txBody>
          <a:bodyPr wrap="square" anchor="t"/>
          <a:lstStyle/>
          <a:p>
            <a:pPr algn="l"/>
            <a:r>
              <a:rPr sz="2800"/>
              <a:t>Rosca com até 4 fatias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"/>
            <a:ext cx="11274552" cy="256032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/>
            <a:r>
              <a:rPr sz="1000" b="1" i="0">
                <a:solidFill>
                  <a:srgbClr val="4F81BD"/>
                </a:solidFill>
                <a:latin typeface="Calibri"/>
              </a:rPr>
              <a:t>COMPOSIÇÃO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0"/>
            <a:ext cx="8531352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8C8C8C"/>
                </a:solidFill>
                <a:latin typeface="Calibri"/>
              </a:rPr>
              <a:t>Fonte: Apontamento de paradas   |   Uso interno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17352" y="6217920"/>
            <a:ext cx="91440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000" b="0" i="0">
                <a:solidFill>
                  <a:srgbClr val="8C8C8C"/>
                </a:solidFill>
                <a:latin typeface="Calibri"/>
              </a:rPr>
              <a:t>9</a:t>
            </a:r>
          </a:p>
        </p:txBody>
      </p:sp>
      <p:graphicFrame>
        <p:nvGraphicFramePr>
          <p:cNvPr id="6" name="Chart 5" descr="Rosca com até 4 fatias"/>
          <p:cNvGraphicFramePr>
            <a:graphicFrameLocks noGrp="1"/>
          </p:cNvGraphicFramePr>
          <p:nvPr/>
        </p:nvGraphicFramePr>
        <p:xfrm>
          <a:off x="457200" y="1737360"/>
          <a:ext cx="11274552" cy="4389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