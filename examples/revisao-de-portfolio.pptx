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Marcos</c:v>
                </c:pt>
              </c:strCache>
            </c:strRef>
          </c:tx>
          <c:spPr>
            <a:solidFill>
              <a:srgbClr val="0B2545"/>
            </a:solidFill>
            <a:ln>
              <a:noFill/>
            </a:ln>
          </c:spPr>
          <c:dPt>
            <c:idx val="0"/>
            <c:spPr>
              <a:solidFill>
                <a:srgbClr val="B8860B"/>
              </a:solidFill>
            </c:spPr>
          </c:dPt>
          <c:cat>
            <c:strRef>
              <c:f>Sheet1!$A$2:$A$10</c:f>
              <c:strCache>
                <c:ptCount val="9"/>
                <c:pt idx="0">
                  <c:v>out</c:v>
                </c:pt>
                <c:pt idx="1">
                  <c:v>nov</c:v>
                </c:pt>
                <c:pt idx="2">
                  <c:v>dez</c:v>
                </c:pt>
                <c:pt idx="3">
                  <c:v>jan</c:v>
                </c:pt>
                <c:pt idx="4">
                  <c:v>fev</c:v>
                </c:pt>
                <c:pt idx="5">
                  <c:v>mar</c:v>
                </c:pt>
                <c:pt idx="6">
                  <c:v>abr</c:v>
                </c:pt>
                <c:pt idx="7">
                  <c:v>mai</c:v>
                </c:pt>
                <c:pt idx="8">
                  <c:v>jun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4</c:v>
                </c:pt>
                <c:pt idx="7">
                  <c:v>4</c:v>
                </c:pt>
                <c:pt idx="8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FF1F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7F7F7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B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D9E1EA"/>
                </a:solidFill>
                <a:latin typeface="Arial"/>
              </a:rPr>
              <a:t>EMPRESA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B8860B"/>
                </a:solidFill>
                <a:latin typeface="Arial"/>
              </a:rPr>
              <a:t>COMITÊ DE PORTFÓLIO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Situação geral do portfólio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Arial"/>
              </a:rPr>
              <a:t>Visão executiva para tomada de ciência | setembro/2026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920240"/>
            <a:ext cx="3319272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920240"/>
            <a:ext cx="73152" cy="246888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2057400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7F7F7F"/>
                </a:solidFill>
                <a:latin typeface="Arial"/>
              </a:rPr>
              <a:t>TESE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9718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Arial"/>
              </a:rPr>
              <a:t>55 projetos, R$ 58 mi de orçamento, 52% de conclusão média e 19 projetos em risco alto.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Arial"/>
              </a:rPr>
              <a:t>Uso interno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45720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Arial"/>
              </a:rPr>
              <a:t>EMPRESA EXEMPLO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A carteira é ampla e equilibrada entre níveis de maturidade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7F7F7F"/>
                </a:solidFill>
                <a:latin typeface="Arial"/>
              </a:rPr>
              <a:t>EMPRESA EXEMPLO  |  COMITÊ DE PORTFÓLIO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5C6F82"/>
                </a:solidFill>
                <a:latin typeface="Arial"/>
              </a:rPr>
              <a:t>COMPOSIÇÃO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Base de portfólio, set/2026   |  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0B2545"/>
                </a:solidFill>
                <a:latin typeface="Arial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2035454" cy="21945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03545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PROJETOS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2316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2B2B2B"/>
                </a:solidFill>
                <a:latin typeface="Arial"/>
              </a:rPr>
              <a:t>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29000"/>
            <a:ext cx="176113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7F7F7F"/>
                </a:solidFill>
                <a:latin typeface="Arial"/>
              </a:rPr>
              <a:t>10 categorias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6974" y="1828800"/>
            <a:ext cx="2035454" cy="21945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66974" y="1828800"/>
            <a:ext cx="2035454" cy="73152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4134" y="205740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PRIORIDADE ALTA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4134" y="242316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2B2B2B"/>
                </a:solidFill>
                <a:latin typeface="Arial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4134" y="3429000"/>
            <a:ext cx="176113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E0A800"/>
                </a:solidFill>
                <a:latin typeface="Arial"/>
              </a:rPr>
              <a:t>49% da carteira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6748" y="1828800"/>
            <a:ext cx="2035454" cy="21945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76748" y="1828800"/>
            <a:ext cx="203545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3908" y="205740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FASE INICIAL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3908" y="242316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2B2B2B"/>
                </a:solidFill>
                <a:latin typeface="Arial"/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3908" y="3429000"/>
            <a:ext cx="176113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7F7F7F"/>
                </a:solidFill>
                <a:latin typeface="Arial"/>
              </a:rPr>
              <a:t>33%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86523" y="1828800"/>
            <a:ext cx="2035454" cy="21945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86523" y="1828800"/>
            <a:ext cx="203545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23683" y="205740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FASE INTERMEDIÁRIA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3683" y="242316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2B2B2B"/>
                </a:solidFill>
                <a:latin typeface="Arial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3683" y="3429000"/>
            <a:ext cx="176113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7F7F7F"/>
                </a:solidFill>
                <a:latin typeface="Arial"/>
              </a:rPr>
              <a:t>36%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96297" y="1828800"/>
            <a:ext cx="2035454" cy="21945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96297" y="1828800"/>
            <a:ext cx="203545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33457" y="205740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FASE AVANÇADA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3457" y="242316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2B2B2B"/>
                </a:solidFill>
                <a:latin typeface="Arial"/>
              </a:rPr>
              <a:t>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3457" y="3429000"/>
            <a:ext cx="176113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7F7F7F"/>
                </a:solidFill>
                <a:latin typeface="Arial"/>
              </a:rPr>
              <a:t>31%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Nenhuma categoria concentra mais de 15% da carteira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7F7F7F"/>
                </a:solidFill>
                <a:latin typeface="Arial"/>
              </a:rPr>
              <a:t>EMPRESA EXEMPLO  |  COMITÊ DE PORTFÓLIO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5C6F82"/>
                </a:solidFill>
                <a:latin typeface="Arial"/>
              </a:rPr>
              <a:t>COMPOSIÇÃO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0B2545"/>
                </a:solidFill>
                <a:latin typeface="Arial"/>
              </a:rPr>
              <a:t>EMPRESA EXEMPLO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Arial"/>
              </a:rPr>
              <a:t>Categoria A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874519"/>
            <a:ext cx="2743200" cy="2286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1874519"/>
            <a:ext cx="192024" cy="2286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178308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Arial"/>
              </a:rPr>
              <a:t>Categoria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2377440"/>
            <a:ext cx="2743200" cy="2286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0" y="2377440"/>
            <a:ext cx="164592" cy="2286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228600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Arial"/>
              </a:rPr>
              <a:t>Categoria 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2880360"/>
            <a:ext cx="2743200" cy="2286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0" y="2880360"/>
            <a:ext cx="164592" cy="2286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78892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178308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Arial"/>
              </a:rPr>
              <a:t>Categoria 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65008" y="1874519"/>
            <a:ext cx="2743200" cy="2286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5008" y="1874519"/>
            <a:ext cx="137160" cy="2286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99648" y="178308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228600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Arial"/>
              </a:rPr>
              <a:t>Categoria 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5008" y="2377440"/>
            <a:ext cx="2743200" cy="2286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8" y="2377440"/>
            <a:ext cx="137160" cy="2286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99648" y="228600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278892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Arial"/>
              </a:rPr>
              <a:t>Categoria 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5008" y="2880360"/>
            <a:ext cx="2743200" cy="22860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5008" y="2880360"/>
            <a:ext cx="109728" cy="2286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99648" y="278892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O portfólio consumiu 52% do orçamento para 52% de avanço médio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7F7F7F"/>
                </a:solidFill>
                <a:latin typeface="Arial"/>
              </a:rPr>
              <a:t>EMPRESA EXEMPLO  |  COMITÊ DE PORTFÓLIO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5C6F82"/>
                </a:solidFill>
                <a:latin typeface="Arial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0B2545"/>
                </a:solidFill>
                <a:latin typeface="Arial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E0A800"/>
                </a:solidFill>
                <a:latin typeface="Arial"/>
              </a:rPr>
              <a:t>PONTO DE ATENÇÃO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Arial"/>
              </a:rPr>
              <a:t>O equilíbrio consolidado não elimina desvios individuais: sete projetos concentram o estouro.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61289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ORÇAMENTO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B2B2B"/>
                </a:solidFill>
                <a:latin typeface="Arial"/>
              </a:rPr>
              <a:t>R$ 58,0 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4418" y="182880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4418" y="1828800"/>
            <a:ext cx="261289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81577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GASTO ACUMULADO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1577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B2B2B"/>
                </a:solidFill>
                <a:latin typeface="Arial"/>
              </a:rPr>
              <a:t>R$ 30,1 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1577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7F7F7F"/>
                </a:solidFill>
                <a:latin typeface="Arial"/>
              </a:rPr>
              <a:t>51,8%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182880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1828800"/>
            <a:ext cx="261289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8796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SALDO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B2B2B"/>
                </a:solidFill>
                <a:latin typeface="Arial"/>
              </a:rPr>
              <a:t>R$ 28,0 mi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18854" y="1828800"/>
            <a:ext cx="2612898" cy="237744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18854" y="1828800"/>
            <a:ext cx="2612898" cy="73152"/>
          </a:xfrm>
          <a:prstGeom prst="rect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56014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7F7F7F"/>
                </a:solidFill>
                <a:latin typeface="Arial"/>
              </a:rPr>
              <a:t>ACIMA DO ORÇAMENTO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6014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700" b="1" i="0">
                <a:solidFill>
                  <a:srgbClr val="2B2B2B"/>
                </a:solidFill>
                <a:latin typeface="Arial"/>
              </a:rPr>
              <a:t>7 projetos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6014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Arial"/>
              </a:rPr>
              <a:t>R$ 460 mil de estouro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Risco alto e estouro de orçamento se concentram em poucas exceções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7F7F7F"/>
                </a:solidFill>
                <a:latin typeface="Arial"/>
              </a:rPr>
              <a:t>EMPRESA EXEMPLO  |  COMITÊ DE PORTFÓLIO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5C6F82"/>
                </a:solidFill>
                <a:latin typeface="Arial"/>
              </a:rPr>
              <a:t>ATENÇÃO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Base de portfólio; critério: risco alto + desvio financeiro ou em espera   |  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0B2545"/>
                </a:solidFill>
                <a:latin typeface="Arial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0B2545"/>
                </a:solidFill>
                <a:latin typeface="Arial"/>
              </a:rPr>
              <a:t>LEITURA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Arial"/>
              </a:rPr>
              <a:t>Não representa recomendação de priorização; exceções para acompanhamento mais próximo.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1737360"/>
          <a:ext cx="11274552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9092"/>
                <a:gridCol w="1879092"/>
                <a:gridCol w="1879092"/>
                <a:gridCol w="1879092"/>
                <a:gridCol w="1879092"/>
                <a:gridCol w="187909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Projeto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Conclusão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Consumo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Saldo</a:t>
                      </a:r>
                    </a:p>
                  </a:txBody>
                  <a:tcPr marL="73152" marR="73152" marT="27432" marB="27432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P-014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B7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(R$ 115 mil)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P-035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Validação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B7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106%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(R$ 24 mil)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P-052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Em andamento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B7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(R$ 65 mil)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P-040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Em espera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B7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72%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R$ 330 mil</a:t>
                      </a:r>
                    </a:p>
                  </a:txBody>
                  <a:tcPr marL="73152" marR="73152" marT="27432" marB="27432" anchor="ctr">
                    <a:solidFill>
                      <a:srgbClr val="EFF1F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P-017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Em espera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B7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</a:rPr>
                        <a:t>R$ 402 mil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0B2545"/>
                </a:solidFill>
                <a:latin typeface="Arial"/>
              </a:rPr>
              <a:t>15 marcos estão concentrados no último trimestre do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7F7F7F"/>
                </a:solidFill>
                <a:latin typeface="Arial"/>
              </a:rPr>
              <a:t>EMPRESA EXEMPLO  |  COMITÊ DE PORTFÓLIO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5C6F82"/>
                </a:solidFill>
                <a:latin typeface="Arial"/>
              </a:rPr>
              <a:t>HORIZONTE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7F7F7F"/>
                </a:solidFill>
                <a:latin typeface="Arial"/>
              </a:rPr>
              <a:t>Fonte: Próximo marco por projeto   |  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0B2545"/>
                </a:solidFill>
                <a:latin typeface="Arial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0B2545"/>
                </a:solidFill>
                <a:latin typeface="Arial"/>
              </a:rPr>
              <a:t>PARA CIÊNCIA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Arial"/>
              </a:rPr>
              <a:t>Carteira diversificada, execução física e financeira equilibradas no consolidado, com exceções de risco e orçamento sob acompanhamento.</a:t>
            </a:r>
          </a:p>
        </p:txBody>
      </p:sp>
      <p:graphicFrame>
        <p:nvGraphicFramePr>
          <p:cNvPr id="12" name="Chart 11" descr="15 marcos estão concentrados no último trimestre do ano"/>
          <p:cNvGraphicFramePr>
            <a:graphicFrameLocks noGrp="1"/>
          </p:cNvGraphicFramePr>
          <p:nvPr/>
        </p:nvGraphicFramePr>
        <p:xfrm>
          <a:off x="457200" y="1737360"/>
          <a:ext cx="1127455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Próximo comitê: outubro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Arial"/>
              </a:rPr>
              <a:t>Anexo: lista completa dos 55 projetos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45720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Arial"/>
              </a:rPr>
              <a:t>EMPRESA EXEMPLO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