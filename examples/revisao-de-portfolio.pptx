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Marcos</c:v>
                </c:pt>
              </c:strCache>
            </c:strRef>
          </c:tx>
          <c:spPr>
            <a:solidFill>
              <a:srgbClr val="0B2545"/>
            </a:solidFill>
            <a:ln>
              <a:noFill/>
            </a:ln>
          </c:spPr>
          <c:dPt>
            <c:idx val="0"/>
            <c:spPr>
              <a:solidFill>
                <a:srgbClr val="B8860B"/>
              </a:solidFill>
            </c:spPr>
          </c:dPt>
          <c:cat>
            <c:strRef>
              <c:f>Sheet1!$A$2:$A$10</c:f>
              <c:strCache>
                <c:ptCount val="9"/>
                <c:pt idx="0">
                  <c:v>out</c:v>
                </c:pt>
                <c:pt idx="1">
                  <c:v>nov</c:v>
                </c:pt>
                <c:pt idx="2">
                  <c:v>dez</c:v>
                </c:pt>
                <c:pt idx="3">
                  <c:v>jan</c:v>
                </c:pt>
                <c:pt idx="4">
                  <c:v>fev</c:v>
                </c:pt>
                <c:pt idx="5">
                  <c:v>mar</c:v>
                </c:pt>
                <c:pt idx="6">
                  <c:v>abr</c:v>
                </c:pt>
                <c:pt idx="7">
                  <c:v>mai</c:v>
                </c:pt>
                <c:pt idx="8">
                  <c:v>jun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  <c:pt idx="8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2B2B2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F1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B8860B"/>
                </a:solidFill>
                <a:latin typeface="Arial"/>
              </a:rPr>
              <a:t>COMITÊ DE PORTFÓLIO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Situação geral do portfólio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Visão executiva para tomada de ciência | setembro/2026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Arial"/>
              </a:rPr>
              <a:t>55 projetos, R$ 58 mi de orçamento, 52% de conclusão média e 19 projetos em risco alto.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A carteira é ampla e equilibrada entre níveis de maturidade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COMITÊ DE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COMPOSIÇÃO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Base de portfólio, set/2026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PROJETOS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10 categorias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PRIORIDADE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0A800"/>
                </a:solidFill>
                <a:latin typeface="Arial"/>
              </a:rPr>
              <a:t>49% da carteira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FASE INICIAL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33%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FASE INTERMEDIÁRIA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36%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FASE AVANÇADA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31%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Nenhuma categoria concentra mais de 15% da carteira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COMITÊ DE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COMPOSIÇÃO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874519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1874519"/>
            <a:ext cx="192024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377440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377440"/>
            <a:ext cx="164592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28600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8892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880360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0" y="2880360"/>
            <a:ext cx="164592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78892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178308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874519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874519"/>
            <a:ext cx="137160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99648" y="178308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228600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2377440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2377440"/>
            <a:ext cx="137160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99648" y="228600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6208" y="278892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B2B2B"/>
                </a:solidFill>
                <a:latin typeface="Arial"/>
              </a:rPr>
              <a:t>Categoria 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2880360"/>
            <a:ext cx="2743200" cy="2286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2880360"/>
            <a:ext cx="109728" cy="2286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99648" y="278892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O portfólio consumiu 52% do orçamento para 52% de avanço médio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COMITÊ DE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E0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E0A800"/>
                </a:solidFill>
                <a:latin typeface="Arial"/>
              </a:rPr>
              <a:t>PONTO DE ATENÇÃO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Arial"/>
              </a:rPr>
              <a:t>O equilíbrio consolidado não elimina desvios individuais: sete projetos concentram o estouro.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ORÇAMENTO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2B2B2B"/>
                </a:solidFill>
                <a:latin typeface="Arial"/>
              </a:rPr>
              <a:t>R$ 58,0 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GASTO ACUMULADO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2B2B2B"/>
                </a:solidFill>
                <a:latin typeface="Arial"/>
              </a:rPr>
              <a:t>R$ 30,1 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51,8%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SALDO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2B2B2B"/>
                </a:solidFill>
                <a:latin typeface="Arial"/>
              </a:rPr>
              <a:t>R$ 28,0 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ACIMA DO ORÇAMENTO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700" b="1" i="0">
                <a:solidFill>
                  <a:srgbClr val="2B2B2B"/>
                </a:solidFill>
                <a:latin typeface="Arial"/>
              </a:rPr>
              <a:t>7 projetos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B71C1C"/>
                </a:solidFill>
                <a:latin typeface="Arial"/>
              </a:rPr>
              <a:t>R$ 460 mil de estouro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Risco alto e estouro de orçamento se concentram em poucas exceções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COMITÊ DE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ATENÇÃO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Base de portfólio; critério: risco alto + desvio financeiro ou em espera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B2545"/>
                </a:solidFill>
                <a:latin typeface="Arial"/>
              </a:rPr>
              <a:t>LEITURA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Arial"/>
              </a:rPr>
              <a:t>Não representa recomendação de priorização; exceções para acompanhamento mais próximo.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Projeto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Conclusão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Consumo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Saldo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P-014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(R$ 115 mil)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P-035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Validação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106%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(R$ 24 mil)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P-052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108%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(R$ 65 mil)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P-040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Em espera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R$ 330 mil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P-017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Em espera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73152" marR="73152" marT="27432" marB="27432" anchor="ctr">
                    <a:solidFill>
                      <a:srgbClr val="B71C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R$ 402 mil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15 marcos estão concentrados no último trimestre do 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COMITÊ DE PORTFÓLIO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HORIZONTE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Próximo marco por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0B2545"/>
                </a:solidFill>
                <a:latin typeface="Arial"/>
              </a:rPr>
              <a:t>PARA CIÊNCIA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Arial"/>
              </a:rPr>
              <a:t>Carteira diversificada, execução física e financeira equilibradas no consolidado, com exceções de risco e orçamento sob acompanhamento.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1737360"/>
          <a:ext cx="11274552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Próximo comitê: outubro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Arial"/>
              </a:rPr>
              <a:t>Anexo: lista completa dos 55 projetos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