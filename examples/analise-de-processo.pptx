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de atraso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mar</c:v>
                </c:pt>
                <c:pt idx="1">
                  <c:v>abr</c:v>
                </c:pt>
                <c:pt idx="2">
                  <c:v>mai</c:v>
                </c:pt>
                <c:pt idx="3">
                  <c:v>jun</c:v>
                </c:pt>
                <c:pt idx="4">
                  <c:v>jul</c:v>
                </c:pt>
                <c:pt idx="5">
                  <c:v>ago</c:v>
                </c:pt>
                <c:pt idx="6">
                  <c:v>set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92</c:v>
                </c:pt>
                <c:pt idx="3">
                  <c:v>100</c:v>
                </c:pt>
                <c:pt idx="4">
                  <c:v>75</c:v>
                </c:pt>
                <c:pt idx="5">
                  <c:v>18</c:v>
                </c:pt>
                <c:pt idx="6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EFICIÊNCIA DE AQUISIÇÕES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Atraso é o principal custo operacional do processo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Leitura dos últimos 6 meses | uso operacional interno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 fluxo gera economia de compra, mas perde eficiência no cumprimento do prazo, sobretudo após a emissão do pedido.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set/2026 | Uso interno</a:t>
            </a:r>
          </a:p>
        </p:txBody>
      </p:sp>
      <p:pic>
        <p:nvPicPr>
          <p:cNvPr id="12" name="Picture 11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76% das solicitações estão atrasadas, apesar de 4,3% de saving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solicitações, mar a set/2026 (n=71)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CONCLUSÃO OPERACIONAL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Preservar a disciplina de negociação e deslocar a gestão diária para prazo, risco e confirmação de entrega.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FORA DO PRAZO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54 de 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classificadas como atrasadas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44418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ATRASO MÉDIO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62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mediana 61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 ALTO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50 solicitações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18854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SAVING PONDERADO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4,3%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R$ 68,6 mil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6014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só itens com valor contratado (n=50)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melhora recente ainda não prova uma virada sustentável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EVOLUÇÃO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Taxa de atraso por mês de solicitação (%)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 (n=71)   |   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CUIDADO DE LEITURA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Solicitações mais novas ainda podem estar dentro do prazo; a queda não deve ser lida isoladamente como ganho estrutural.</a:t>
            </a:r>
          </a:p>
        </p:txBody>
      </p:sp>
      <p:graphicFrame>
        <p:nvGraphicFramePr>
          <p:cNvPr id="14" name="Chart 13" descr="A melhora recente ainda não prova uma virada sustentável"/>
          <p:cNvGraphicFramePr>
            <a:graphicFrameLocks noGrp="1"/>
          </p:cNvGraphicFramePr>
          <p:nvPr/>
        </p:nvGraphicFramePr>
        <p:xfrm>
          <a:off x="457200" y="2011680"/>
          <a:ext cx="73152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046720" y="2103120"/>
            <a:ext cx="3685032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98%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atraso nas coortes maduras (mar a jun)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Volume por mês: 8, 12, 12, 11, 12, 11,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 maior tempo controlável está após a emissão do pedido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FLUXO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DE MELHORIA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Confirmar data do fornecedor no pedido, registrar marcos intermediários e escalar desvios antes do vencimento.</a:t>
            </a:r>
          </a:p>
        </p:txBody>
      </p:sp>
      <p:sp>
        <p:nvSpPr>
          <p:cNvPr id="13" name="Pentagon 12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Solicitação</a:t>
            </a:r>
          </a:p>
        </p:txBody>
      </p:sp>
      <p:sp>
        <p:nvSpPr>
          <p:cNvPr id="14" name="Chevron 13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7278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7,2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7278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aprovação (n=40)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Pedido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4,3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pedido (n=27)</a:t>
            </a:r>
          </a:p>
        </p:txBody>
      </p:sp>
      <p:sp>
        <p:nvSpPr>
          <p:cNvPr id="20" name="Chevron 19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4554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libri"/>
              </a:rPr>
              <a:t>39,9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4554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entrega real (n=13)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gestão perde previsibilidade onde faltam marcos do processo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 DO 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CONTROLE MÍNIMO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Responsável, data prometida, próximo marco e motivo do desvio obrigatórios em toda mudança de status.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de aprovação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16352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31 sem registro (44%)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do pedido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377440"/>
            <a:ext cx="3968496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44 sem registro (62%)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Entrega real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2880360"/>
            <a:ext cx="5248655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58 sem registro (82%)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Valor contratado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383280"/>
            <a:ext cx="1920240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sem registro (30%)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rotina deve transformar o indicador em decisão semanal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ESPERADA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a rotina semanal e nomear os donos dos quatro controles.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AGORA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Sanear os itens atrasados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Definir próximo marco, responsável e motivo do desvio para cada item.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PRÓXIMAS 4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Implantar a gestão à vista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SLA, risco alto, confirmação do fornecedor e completude de dados.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APÓS 30 DIAS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Revisar causa e capacidade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Comparar coortes, modalidades e carga por comprador.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