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Taxa de atraso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mar</c:v>
                </c:pt>
                <c:pt idx="1">
                  <c:v>abr</c:v>
                </c:pt>
                <c:pt idx="2">
                  <c:v>mai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  <c:pt idx="6">
                  <c:v>set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92</c:v>
                </c:pt>
                <c:pt idx="3">
                  <c:v>100</c:v>
                </c:pt>
                <c:pt idx="4">
                  <c:v>75</c:v>
                </c:pt>
                <c:pt idx="5">
                  <c:v>18</c:v>
                </c:pt>
                <c:pt idx="6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EFICIÊNCIA DE AQUISIÇÕES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Atraso é o principal custo operacional do processo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Leitura dos últimos 6 meses | uso operacional interno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O fluxo gera economia de compra, mas perde eficiência no cumprimento do prazo, sobretudo após a emissão do pedido.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set/2026 | Uso interno</a:t>
            </a:r>
          </a:p>
        </p:txBody>
      </p:sp>
      <p:pic>
        <p:nvPicPr>
          <p:cNvPr id="12" name="Picture 11" descr="logo-placehold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76% das solicitações estão atrasadas, apesar de 4,3% de saving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AQUISIÇÕES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Base de solicitações, mar a set/2026 (n=71)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CONCLUSÃO OPERACIONAL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Preservar a disciplina de negociação e deslocar a gestão diária para prazo, risco e confirmação de entrega.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FORA DO PRAZO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54 de 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classificadas como atrasadas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4418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ATRASO 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900" b="1" i="0">
                <a:solidFill>
                  <a:srgbClr val="333333"/>
                </a:solidFill>
                <a:latin typeface="Calibri"/>
              </a:rPr>
              <a:t>62 dias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mediana 61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RISCO ALTO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50 solicitações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18854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SAVING PONDERADO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4,3%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R$ 68,6 mil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6014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só itens com valor contratado (n=50)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 melhora recente ainda não prova uma virada sustentável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AQUISIÇÕES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EVOLUÇÃO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Taxa de atraso por mês de solicitação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Base de solicitações (n=71)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pic>
        <p:nvPicPr>
          <p:cNvPr id="9" name="Picture 8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CUIDADO DE LEITURA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Solicitações mais novas ainda podem estar dentro do prazo; a queda não deve ser lida isoladamente como ganho estrutural.</a:t>
            </a:r>
          </a:p>
        </p:txBody>
      </p:sp>
      <p:graphicFrame>
        <p:nvGraphicFramePr>
          <p:cNvPr id="14" name="Chart 13" descr="A melhora recente ainda não prova uma virada sustentável"/>
          <p:cNvGraphicFramePr>
            <a:graphicFrameLocks noGrp="1"/>
          </p:cNvGraphicFramePr>
          <p:nvPr/>
        </p:nvGraphicFramePr>
        <p:xfrm>
          <a:off x="457200" y="2011680"/>
          <a:ext cx="73152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046720" y="2103120"/>
            <a:ext cx="3685032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1" i="0">
                <a:solidFill>
                  <a:srgbClr val="333333"/>
                </a:solidFill>
                <a:latin typeface="Calibri"/>
              </a:rPr>
              <a:t>98%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de atraso nas coortes maduras (mar a jun)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Volume por mês: 8, 12, 12, 11, 12, 11,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O maior tempo controlável está após a emissão do pedido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AQUISIÇÕES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FLUXO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FOCO DE MELHORIA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Confirmar data do fornecedor no pedido, registrar marcos intermediários e escalar desvios antes do vencimento.</a:t>
            </a:r>
          </a:p>
        </p:txBody>
      </p:sp>
      <p:sp>
        <p:nvSpPr>
          <p:cNvPr id="13" name="Pentagon 12"/>
          <p:cNvSpPr/>
          <p:nvPr/>
        </p:nvSpPr>
        <p:spPr>
          <a:xfrm>
            <a:off x="457200" y="2194560"/>
            <a:ext cx="2727198" cy="1280160"/>
          </a:xfrm>
          <a:prstGeom prst="homePlat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 Solicitação</a:t>
            </a:r>
          </a:p>
        </p:txBody>
      </p:sp>
      <p:sp>
        <p:nvSpPr>
          <p:cNvPr id="14" name="Chevron 13"/>
          <p:cNvSpPr/>
          <p:nvPr/>
        </p:nvSpPr>
        <p:spPr>
          <a:xfrm>
            <a:off x="3275838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2. Aprovação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278" y="3657600"/>
            <a:ext cx="254431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7,2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7278" y="425196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até aprovação (n=40)</a:t>
            </a:r>
          </a:p>
        </p:txBody>
      </p:sp>
      <p:sp>
        <p:nvSpPr>
          <p:cNvPr id="17" name="Chevron 16"/>
          <p:cNvSpPr/>
          <p:nvPr/>
        </p:nvSpPr>
        <p:spPr>
          <a:xfrm>
            <a:off x="6094476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3. Pedido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3657600"/>
            <a:ext cx="254431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4,3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425196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até pedido (n=27)</a:t>
            </a:r>
          </a:p>
        </p:txBody>
      </p:sp>
      <p:sp>
        <p:nvSpPr>
          <p:cNvPr id="20" name="Chevron 19"/>
          <p:cNvSpPr/>
          <p:nvPr/>
        </p:nvSpPr>
        <p:spPr>
          <a:xfrm>
            <a:off x="8913114" y="2194560"/>
            <a:ext cx="2727198" cy="1280160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4. 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4554" y="3657600"/>
            <a:ext cx="254431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2A900"/>
                </a:solidFill>
                <a:latin typeface="Calibri"/>
              </a:rPr>
              <a:t>39,9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4554" y="425196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até entrega real (n=13)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 gestão perde previsibilidade onde faltam marcos do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AQUISIÇÕES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QUALIDADE DO 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A900"/>
                </a:solidFill>
                <a:latin typeface="Calibri"/>
              </a:rPr>
              <a:t>CONTROLE MÍNIMO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Responsável, data prometida, próximo marco e motivo do desvio obrigatórios em toda mudança de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Data de aprovação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16352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31 sem registro (44%)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Data do pedido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377440"/>
            <a:ext cx="3968496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44 sem registro (62%)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Entrega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2880360"/>
            <a:ext cx="5248655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58 sem registro (82%)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Valor contratado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383280"/>
            <a:ext cx="1920240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21 sem registro (30%)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 rotina deve transformar o indicador em decisão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AQUISIÇÕES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A900"/>
                </a:solidFill>
                <a:latin typeface="Calibri"/>
              </a:rPr>
              <a:t>DECISÃO ESPERADA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Aprovar a rotina semanal e nomear os donos dos quatro controles.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057400"/>
            <a:ext cx="2194560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57400"/>
            <a:ext cx="219456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AGORA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Sanear os itens atrasados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Definir próximo marco, responsável e motivo do desvio para cada item.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5424" y="2057400"/>
            <a:ext cx="2194560" cy="29260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057400"/>
            <a:ext cx="219456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PRÓXIMAS 4 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Implantar a gestão à vista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Acompanhar SLA, risco alto, confirmação do fornecedor e completude de dados.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5048" y="2057400"/>
            <a:ext cx="2194560" cy="2926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2057400"/>
            <a:ext cx="219456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APÓS 30 DIAS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Revisar causa e capacidade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Comparar coortes, modalidades e carga por comprador.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