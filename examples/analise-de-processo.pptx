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de atraso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mar</c:v>
                </c:pt>
                <c:pt idx="1">
                  <c:v>abr</c:v>
                </c:pt>
                <c:pt idx="2">
                  <c:v>mai</c:v>
                </c:pt>
                <c:pt idx="3">
                  <c:v>jun</c:v>
                </c:pt>
                <c:pt idx="4">
                  <c:v>jul</c:v>
                </c:pt>
                <c:pt idx="5">
                  <c:v>ago</c:v>
                </c:pt>
                <c:pt idx="6">
                  <c:v>set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92</c:v>
                </c:pt>
                <c:pt idx="3">
                  <c:v>100</c:v>
                </c:pt>
                <c:pt idx="4">
                  <c:v>75</c:v>
                </c:pt>
                <c:pt idx="5">
                  <c:v>18</c:v>
                </c:pt>
                <c:pt idx="6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EFICIÊNCIA DE AQUISIÇÕES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Atraso é o principal custo operacional do processo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Leitura dos últimos 6 meses | uso operacional interno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 fluxo gera economia de compra, mas perde eficiência no cumprimento do prazo, sobretudo após a emissão do pedido.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set/2026</a:t>
            </a:r>
          </a:p>
        </p:txBody>
      </p:sp>
      <p:pic>
        <p:nvPicPr>
          <p:cNvPr id="12" name="Picture 11" descr="logo-placehold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76% das solicitações estão atrasadas, apesar de 4,3% de saving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solicitações, mar a set/2026 (n=71)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pic>
        <p:nvPicPr>
          <p:cNvPr id="8" name="Picture 7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CONCLUSÃO OPERACIONAL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Preservar a disciplina de negociação e deslocar a gestão diária para prazo, risco e confirmação de entrega.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FORA DO PRAZO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54 de 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classificadas como atrasadas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44418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44418" y="1828800"/>
            <a:ext cx="2612898" cy="73152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1577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ATRASO MÉDIO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1577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0" b="1" i="0">
                <a:solidFill>
                  <a:srgbClr val="333333"/>
                </a:solidFill>
                <a:latin typeface="Calibri"/>
              </a:rPr>
              <a:t>62 dias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1577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mediana 61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1636" y="182880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8796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RISCO ALTO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8796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70%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50 solicitações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18854" y="1828800"/>
            <a:ext cx="2612898" cy="2651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18854" y="1828800"/>
            <a:ext cx="2612898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56014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SAVING PONDERADO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6014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4,3%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6014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R$ 68,6 mil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6014" y="3794760"/>
            <a:ext cx="2338578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só itens com valor contratado (n=50)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melhora recente ainda não prova uma virada sustentável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EVOLUÇÃO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8C8C8C"/>
                </a:solidFill>
                <a:latin typeface="Calibri"/>
              </a:rPr>
              <a:t>Taxa de atraso por mês de solicitação (%)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solicitações (n=71)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pic>
        <p:nvPicPr>
          <p:cNvPr id="9" name="Picture 8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FF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9A825"/>
                </a:solidFill>
                <a:latin typeface="Calibri"/>
              </a:rPr>
              <a:t>CUIDADO DE LEITURA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Solicitações mais novas ainda podem estar dentro do prazo; a queda não deve ser lida isoladamente como ganho estrutural.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011680"/>
          <a:ext cx="731520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046720" y="2103120"/>
            <a:ext cx="3685032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98%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de atraso nas coortes maduras (mar a jun)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Volume por mês: 8, 12, 12, 11, 12, 11,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 maior tempo controlável está após a emissão do pedido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FLUXO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FOCO DE MELHORIA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Confirmar data do fornecedor no pedido, registrar marcos intermediários e escalar desvios antes do vencimento.</a:t>
            </a:r>
          </a:p>
        </p:txBody>
      </p:sp>
      <p:sp>
        <p:nvSpPr>
          <p:cNvPr id="12" name="Pentagon 11"/>
          <p:cNvSpPr/>
          <p:nvPr/>
        </p:nvSpPr>
        <p:spPr>
          <a:xfrm>
            <a:off x="457200" y="2194560"/>
            <a:ext cx="2727198" cy="1280160"/>
          </a:xfrm>
          <a:prstGeom prst="homePlat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1. Solicitação</a:t>
            </a:r>
          </a:p>
        </p:txBody>
      </p:sp>
      <p:sp>
        <p:nvSpPr>
          <p:cNvPr id="13" name="Chevron 12"/>
          <p:cNvSpPr/>
          <p:nvPr/>
        </p:nvSpPr>
        <p:spPr>
          <a:xfrm>
            <a:off x="3275838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2. Aprovação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278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7,2 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7278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aprovação (n=40)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4476" y="2194560"/>
            <a:ext cx="2727198" cy="1280160"/>
          </a:xfrm>
          <a:prstGeom prst="chevron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3. Pedido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5916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1F3A5F"/>
                </a:solidFill>
                <a:latin typeface="Calibri"/>
              </a:rPr>
              <a:t>4,3 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5916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pedido (n=27)</a:t>
            </a:r>
          </a:p>
        </p:txBody>
      </p:sp>
      <p:sp>
        <p:nvSpPr>
          <p:cNvPr id="19" name="Chevron 18"/>
          <p:cNvSpPr/>
          <p:nvPr/>
        </p:nvSpPr>
        <p:spPr>
          <a:xfrm>
            <a:off x="8913114" y="2194560"/>
            <a:ext cx="2727198" cy="1280160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4. Entrega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4554" y="3657600"/>
            <a:ext cx="2544318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1" i="0">
                <a:solidFill>
                  <a:srgbClr val="F2A900"/>
                </a:solidFill>
                <a:latin typeface="Calibri"/>
              </a:rPr>
              <a:t>39,9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4554" y="4251960"/>
            <a:ext cx="2544318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até entrega real (n=13)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gestão perde previsibilidade onde faltam marcos do processo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QUALIDADE DO DADO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CONTROLE MÍNIMO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Responsável, data prometida, próximo marco e motivo do desvio obrigatórios em toda mudança de status.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de aprovação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874519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2816352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178308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31 sem registro (44%)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Data do pedido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237744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91840" y="2377440"/>
            <a:ext cx="3968496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28600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44 sem registro (62%)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Entrega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88036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2880360"/>
            <a:ext cx="5248655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78892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58 sem registro (82%)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4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Valor contratado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338328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91840" y="3383280"/>
            <a:ext cx="1920240" cy="22860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329184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21 sem registro (30%)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A rotina deve transformar o indicador em decisão semanal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AQUISIÇÕES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set/2026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6</a:t>
            </a:r>
          </a:p>
        </p:txBody>
      </p:sp>
      <p:pic>
        <p:nvPicPr>
          <p:cNvPr id="7" name="Picture 6" descr="logo-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6245352"/>
            <a:ext cx="822960" cy="2743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DECISÃO ESPERADA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Aprovar a rotina semanal e nomear os donos dos quatro controles.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AGORA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Sanear os itens atrasados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Definir próximo marco, responsável e motivo do desvio para cada item.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PRÓXIMAS 4 SEMANAS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Implantar a gestão à vista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Acompanhar SLA, risco alto, confirmação do fornecedor e completude de dados.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5048" y="2057400"/>
            <a:ext cx="2194560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APÓS 30 DIAS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Revisar causa e capacidade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Comparar coortes, modalidades e carga por comprador.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