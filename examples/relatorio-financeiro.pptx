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</c:v>
                </c:pt>
              </c:strCache>
            </c:strRef>
          </c:tx>
          <c:spPr>
            <a:solidFill>
              <a:srgbClr val="0B2545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EBITDA orçado</c:v>
                </c:pt>
                <c:pt idx="1">
                  <c:v>Volume</c:v>
                </c:pt>
                <c:pt idx="2">
                  <c:v>Preço</c:v>
                </c:pt>
                <c:pt idx="3">
                  <c:v>Custo</c:v>
                </c:pt>
                <c:pt idx="4">
                  <c:v>Despesas</c:v>
                </c:pt>
                <c:pt idx="5">
                  <c:v>EBITDA real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7.7</c:v>
                </c:pt>
                <c:pt idx="1">
                  <c:v>-0.9</c:v>
                </c:pt>
                <c:pt idx="2">
                  <c:v>0.3</c:v>
                </c:pt>
                <c:pt idx="3">
                  <c:v>1.4</c:v>
                </c:pt>
                <c:pt idx="4">
                  <c:v>-0.3</c:v>
                </c:pt>
                <c:pt idx="5">
                  <c:v>8.2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FF1F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B2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Substituir por waterfall nativo quando disponível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Resultado 2T26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Arial"/>
              </a:rPr>
              <a:t>Diretoria Financeira - base gerencial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Arial"/>
              </a:rPr>
              <a:t>2026-07-15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2026-07-15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Arial"/>
              </a:rPr>
              <a:t>EBITDA de R$ 8,2 mi, 6% acima do orçamento, apesar de receita 2% abaixo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Custo unitário caiu 4% com renegociação de insumos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Receita abaixo por volume na Divisão A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Caixa líquido de R$ 12 mi, cobertura de 8 meses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Arial"/>
              </a:rPr>
              <a:t/>
            </a:r>
            <a:r>
              <a:rPr sz="1600" b="1" i="0">
                <a:solidFill>
                  <a:srgbClr val="B8860B"/>
                </a:solidFill>
                <a:latin typeface="Arial"/>
              </a:rPr>
              <a:t>Pedimos:  </a:t>
            </a:r>
            <a:r>
              <a:rPr sz="1600" b="1" i="0">
                <a:solidFill>
                  <a:srgbClr val="2B2B2B"/>
                </a:solidFill>
                <a:latin typeface="Arial"/>
              </a:rPr>
              <a:t>Aprovar antecipação de capex de R$ 2 mi para a linha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Todos os indicadores acima do ano anterior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2026-07-15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612898" cy="23774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612898" cy="73152"/>
          </a:xfrm>
          <a:prstGeom prst="rect">
            <a:avLst/>
          </a:prstGeom>
          <a:solidFill>
            <a:srgbClr val="E0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RECEITA LÍQUIDA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B2B2B"/>
                </a:solidFill>
                <a:latin typeface="Arial"/>
              </a:rPr>
              <a:t>R$ 41,3 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E0A800"/>
                </a:solidFill>
                <a:latin typeface="Arial"/>
              </a:rPr>
              <a:t>-2% vs. orç.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44418" y="1554480"/>
            <a:ext cx="2612898" cy="23774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44418" y="1554480"/>
            <a:ext cx="2612898" cy="73152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1577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EBITDA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1577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2B2B2B"/>
                </a:solidFill>
                <a:latin typeface="Arial"/>
              </a:rPr>
              <a:t>R$ 8,2 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1577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Arial"/>
              </a:rPr>
              <a:t>+6% vs. orç.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1636" y="1554480"/>
            <a:ext cx="2612898" cy="23774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1636" y="1554480"/>
            <a:ext cx="2612898" cy="73152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8796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MARGEM EBITDA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2B2B2B"/>
                </a:solidFill>
                <a:latin typeface="Arial"/>
              </a:rPr>
              <a:t>19,9%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8796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Arial"/>
              </a:rPr>
              <a:t>+1,5 p.p.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18854" y="1554480"/>
            <a:ext cx="2612898" cy="23774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18854" y="1554480"/>
            <a:ext cx="2612898" cy="73152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6014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CAIXA LÍQUIDO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014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B2B2B"/>
                </a:solidFill>
                <a:latin typeface="Arial"/>
              </a:rPr>
              <a:t>R$ 12,0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6014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Arial"/>
              </a:rPr>
              <a:t>+R$ 1,1 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Ganho de custo compensou volume menor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2026-07-15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7F7F7F"/>
                </a:solidFill>
                <a:latin typeface="Arial"/>
              </a:rPr>
              <a:t>Fonte: DRE gerencial, jun/26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4</a:t>
            </a:r>
          </a:p>
        </p:txBody>
      </p:sp>
      <p:graphicFrame>
        <p:nvGraphicFramePr>
          <p:cNvPr id="6" name="Chart 5" descr="Ganho de custo compensou volume menor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Margem bruta subiu 1,8 p.p.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2026-07-15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0" cy="2743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54910"/>
                <a:gridCol w="2254910"/>
                <a:gridCol w="2254910"/>
                <a:gridCol w="2254910"/>
                <a:gridCol w="225491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Real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Orçado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Var.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Var. %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Receita líquida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41,3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42,1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(0,8)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Custo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(27,0)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(28,3)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Margem bruta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14,3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Despesas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(6,1)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(6,1)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7,7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Pedimos aprovar antecipação de capex de R$ 2 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2026-07-15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Aprovar capex linha 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Diretoria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31/07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E0A8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Revisar forecast de volume Divisão 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Comercial + FP&amp;A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15/08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7F7F7F"/>
                          </a:solidFill>
                          <a:latin typeface="Arial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Arial"/>
              </a:rPr>
              <a:t>Anexos: DRE completa, DFC, reconciliações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