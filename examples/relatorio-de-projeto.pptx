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Planejado</c:v>
                </c:pt>
              </c:strCache>
            </c:strRef>
          </c:tx>
          <c:spPr>
            <a:ln w="31750">
              <a:solidFill>
                <a:srgbClr val="8C8C8C"/>
              </a:solidFill>
              <a:prstDash val="dash"/>
            </a:ln>
          </c:spPr>
          <c:marker>
            <c:spPr>
              <a:solidFill>
                <a:srgbClr val="8C8C8C"/>
              </a:solidFill>
              <a:ln>
                <a:solidFill>
                  <a:srgbClr val="8C8C8C"/>
                </a:solidFill>
              </a:ln>
            </c:spPr>
          </c:marker>
          <c:cat>
            <c:strRef>
              <c:f>Sheet1!$A$2:$A$8</c:f>
              <c:strCache>
                <c:ptCount val="7"/>
                <c:pt idx="0">
                  <c:v>S28</c:v>
                </c:pt>
                <c:pt idx="1">
                  <c:v>S29</c:v>
                </c:pt>
                <c:pt idx="2">
                  <c:v>S30</c:v>
                </c:pt>
                <c:pt idx="3">
                  <c:v>S31</c:v>
                </c:pt>
                <c:pt idx="4">
                  <c:v>S32</c:v>
                </c:pt>
                <c:pt idx="5">
                  <c:v>S33</c:v>
                </c:pt>
                <c:pt idx="6">
                  <c:v>S34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40</c:v>
                </c:pt>
                <c:pt idx="1">
                  <c:v>45</c:v>
                </c:pt>
                <c:pt idx="2">
                  <c:v>50</c:v>
                </c:pt>
                <c:pt idx="3">
                  <c:v>55</c:v>
                </c:pt>
                <c:pt idx="4">
                  <c:v>60</c:v>
                </c:pt>
                <c:pt idx="5">
                  <c:v>64</c:v>
                </c:pt>
                <c:pt idx="6">
                  <c:v>68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Real</c:v>
                </c:pt>
              </c:strCache>
            </c:strRef>
          </c:tx>
          <c:spPr>
            <a:ln w="31750">
              <a:solidFill>
                <a:srgbClr val="4F81BD"/>
              </a:solidFill>
            </a:ln>
          </c:spPr>
          <c:marker>
            <c:spPr>
              <a:solidFill>
                <a:srgbClr val="4F81BD"/>
              </a:solidFill>
              <a:ln>
                <a:solidFill>
                  <a:srgbClr val="4F81BD"/>
                </a:solidFill>
              </a:ln>
            </c:spPr>
          </c:marker>
          <c:cat>
            <c:strRef>
              <c:f>Sheet1!$A$2:$A$8</c:f>
              <c:strCache>
                <c:ptCount val="7"/>
                <c:pt idx="0">
                  <c:v>S28</c:v>
                </c:pt>
                <c:pt idx="1">
                  <c:v>S29</c:v>
                </c:pt>
                <c:pt idx="2">
                  <c:v>S30</c:v>
                </c:pt>
                <c:pt idx="3">
                  <c:v>S31</c:v>
                </c:pt>
                <c:pt idx="4">
                  <c:v>S32</c:v>
                </c:pt>
                <c:pt idx="5">
                  <c:v>S33</c:v>
                </c:pt>
                <c:pt idx="6">
                  <c:v>S34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40</c:v>
                </c:pt>
                <c:pt idx="1">
                  <c:v>44</c:v>
                </c:pt>
                <c:pt idx="2">
                  <c:v>48</c:v>
                </c:pt>
                <c:pt idx="3">
                  <c:v>52</c:v>
                </c:pt>
                <c:pt idx="4">
                  <c:v>56</c:v>
                </c:pt>
                <c:pt idx="5">
                  <c:v>59</c:v>
                </c:pt>
                <c:pt idx="6">
                  <c:v>62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8C8C8C"/>
            </a:solidFill>
          </a:ln>
        </c:spPr>
        <c:txPr>
          <a:bodyPr/>
          <a:lstStyle/>
          <a:p>
            <a:pPr>
              <a:defRPr sz="1100">
                <a:solidFill>
                  <a:srgbClr val="8C8C8C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F2F2F2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rgbClr val="8C8C8C"/>
                </a:solidFill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100"/>
          </a:pPr>
        </a:p>
      </c:txPr>
    </c:legend>
    <c:plotVisOnly val="1"/>
    <c:dispBlanksAs val="gap"/>
    <c:showDLblsOverMax val="0"/>
  </c:chart>
  <c:txPr>
    <a:bodyPr/>
    <a:lstStyle/>
    <a:p>
      <a:pPr>
        <a:defRPr sz="1100">
          <a:solidFill>
            <a:srgbClr val="333333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7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920240"/>
            <a:ext cx="10698480" cy="173736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Projeto Atlas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749039"/>
            <a:ext cx="106984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200" b="0" i="0">
                <a:solidFill>
                  <a:srgbClr val="D9E1EA"/>
                </a:solidFill>
                <a:latin typeface="Calibri"/>
              </a:rPr>
              <a:t>Relatório de status - semana 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669280"/>
            <a:ext cx="1069848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 i="0">
                <a:solidFill>
                  <a:srgbClr val="BFC9D4"/>
                </a:solidFill>
                <a:latin typeface="Calibri"/>
              </a:rPr>
              <a:t>2026-09-01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Sumário executivo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91440"/>
            <a:ext cx="3959352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0" i="0">
                <a:solidFill>
                  <a:srgbClr val="8C8C8C"/>
                </a:solidFill>
                <a:latin typeface="Calibri"/>
              </a:rPr>
              <a:t>2026-09-01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2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11274552" cy="10058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73152" cy="10058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81360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200" b="1" i="0">
                <a:solidFill>
                  <a:srgbClr val="1F3A5F"/>
                </a:solidFill>
                <a:latin typeface="Calibri"/>
              </a:rPr>
              <a:t>Projeto no amarelo: prazo em risco por atraso do fornecedor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697479"/>
            <a:ext cx="411480" cy="411480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2651760"/>
            <a:ext cx="1051560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333333"/>
                </a:solidFill>
                <a:latin typeface="Calibri"/>
              </a:rPr>
              <a:t>Avanço físico 62% vs. 68% planejado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3520439"/>
            <a:ext cx="411480" cy="411480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474720"/>
            <a:ext cx="1051560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333333"/>
                </a:solidFill>
                <a:latin typeface="Calibri"/>
              </a:rPr>
              <a:t>Custo projetado 3% abaixo do orçamento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4343400"/>
            <a:ext cx="411480" cy="411480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297680"/>
            <a:ext cx="1051560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333333"/>
                </a:solidFill>
                <a:latin typeface="Calibri"/>
              </a:rPr>
              <a:t>Homologação do fornecedor X atrasou 2 semanas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5394960"/>
            <a:ext cx="11274552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F2A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5394960"/>
            <a:ext cx="109728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333333"/>
                </a:solidFill>
                <a:latin typeface="Calibri"/>
              </a:rPr>
              <a:t/>
            </a:r>
            <a:r>
              <a:rPr sz="1600" b="1" i="0">
                <a:solidFill>
                  <a:srgbClr val="F2A900"/>
                </a:solidFill>
                <a:latin typeface="Calibri"/>
              </a:rPr>
              <a:t>Pedimos: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Aprovar plano B (fornecedor alternativo) até 05/09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4 de 5 dimensões no verde; prazo em amarelo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91440"/>
            <a:ext cx="3959352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0" i="0">
                <a:solidFill>
                  <a:srgbClr val="8C8C8C"/>
                </a:solidFill>
                <a:latin typeface="Calibri"/>
              </a:rPr>
              <a:t>2026-09-01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3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2035454" cy="21945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554480"/>
            <a:ext cx="2035454" cy="73152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783080"/>
            <a:ext cx="1761134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8C8C8C"/>
                </a:solidFill>
                <a:latin typeface="Calibri"/>
              </a:rPr>
              <a:t>ESCOPO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148840"/>
            <a:ext cx="1761134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400" b="1" i="0">
                <a:solidFill>
                  <a:srgbClr val="333333"/>
                </a:solidFill>
                <a:latin typeface="Calibri"/>
              </a:rPr>
              <a:t>OK</a:t>
            </a:r>
          </a:p>
        </p:txBody>
      </p:sp>
      <p:sp>
        <p:nvSpPr>
          <p:cNvPr id="9" name="Rectangle 8"/>
          <p:cNvSpPr/>
          <p:nvPr/>
        </p:nvSpPr>
        <p:spPr>
          <a:xfrm>
            <a:off x="2766974" y="1554480"/>
            <a:ext cx="2035454" cy="21945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66974" y="1554480"/>
            <a:ext cx="2035454" cy="73152"/>
          </a:xfrm>
          <a:prstGeom prst="rect">
            <a:avLst/>
          </a:prstGeom>
          <a:solidFill>
            <a:srgbClr val="F9A8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04134" y="1783080"/>
            <a:ext cx="1761134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8C8C8C"/>
                </a:solidFill>
                <a:latin typeface="Calibri"/>
              </a:rPr>
              <a:t>PRAZO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4134" y="2148840"/>
            <a:ext cx="1761134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400" b="1" i="0">
                <a:solidFill>
                  <a:srgbClr val="333333"/>
                </a:solidFill>
                <a:latin typeface="Calibri"/>
              </a:rPr>
              <a:t>-2 sem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76748" y="1554480"/>
            <a:ext cx="2035454" cy="21945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76748" y="1554480"/>
            <a:ext cx="2035454" cy="73152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13908" y="1783080"/>
            <a:ext cx="1761134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8C8C8C"/>
                </a:solidFill>
                <a:latin typeface="Calibri"/>
              </a:rPr>
              <a:t>CUSTO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3908" y="2148840"/>
            <a:ext cx="1761134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400" b="1" i="0">
                <a:solidFill>
                  <a:srgbClr val="333333"/>
                </a:solidFill>
                <a:latin typeface="Calibri"/>
              </a:rPr>
              <a:t>-3%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86523" y="1554480"/>
            <a:ext cx="2035454" cy="21945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86523" y="1554480"/>
            <a:ext cx="2035454" cy="73152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23683" y="1783080"/>
            <a:ext cx="1761134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8C8C8C"/>
                </a:solidFill>
                <a:latin typeface="Calibri"/>
              </a:rPr>
              <a:t>QUALIDADE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23683" y="2148840"/>
            <a:ext cx="1761134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400" b="1" i="0">
                <a:solidFill>
                  <a:srgbClr val="333333"/>
                </a:solidFill>
                <a:latin typeface="Calibri"/>
              </a:rPr>
              <a:t>OK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696297" y="1554480"/>
            <a:ext cx="2035454" cy="21945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696297" y="1554480"/>
            <a:ext cx="2035454" cy="73152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833457" y="1783080"/>
            <a:ext cx="1761134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8C8C8C"/>
                </a:solidFill>
                <a:latin typeface="Calibri"/>
              </a:rPr>
              <a:t>RISCOS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33457" y="2148840"/>
            <a:ext cx="1761134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600" b="1" i="0">
                <a:solidFill>
                  <a:srgbClr val="333333"/>
                </a:solidFill>
                <a:latin typeface="Calibri"/>
              </a:rPr>
              <a:t>1 crítico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Marco 3 desliza 2 semanas; marco final mantido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91440"/>
            <a:ext cx="3959352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0" i="0">
                <a:solidFill>
                  <a:srgbClr val="8C8C8C"/>
                </a:solidFill>
                <a:latin typeface="Calibri"/>
              </a:rPr>
              <a:t>2026-09-01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4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3721607"/>
            <a:ext cx="10698480" cy="54864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05840" y="3566159"/>
            <a:ext cx="365760" cy="365760"/>
          </a:xfrm>
          <a:prstGeom prst="ellipse">
            <a:avLst/>
          </a:prstGeom>
          <a:solidFill>
            <a:srgbClr val="2E7D32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2834639"/>
            <a:ext cx="1645920" cy="36576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ctr"/>
            <a:r>
              <a:rPr sz="1300" b="0" i="0">
                <a:solidFill>
                  <a:srgbClr val="8C8C8C"/>
                </a:solidFill>
                <a:latin typeface="Calibri"/>
              </a:rPr>
              <a:t>Jun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4069079"/>
            <a:ext cx="16459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Kickoff</a:t>
            </a:r>
          </a:p>
        </p:txBody>
      </p:sp>
      <p:sp>
        <p:nvSpPr>
          <p:cNvPr id="9" name="Oval 8"/>
          <p:cNvSpPr/>
          <p:nvPr/>
        </p:nvSpPr>
        <p:spPr>
          <a:xfrm>
            <a:off x="4267199" y="3566159"/>
            <a:ext cx="365760" cy="365760"/>
          </a:xfrm>
          <a:prstGeom prst="ellipse">
            <a:avLst/>
          </a:prstGeom>
          <a:solidFill>
            <a:srgbClr val="2E7D32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27119" y="2834639"/>
            <a:ext cx="1645920" cy="36576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ctr"/>
            <a:r>
              <a:rPr sz="1300" b="0" i="0">
                <a:solidFill>
                  <a:srgbClr val="8C8C8C"/>
                </a:solidFill>
                <a:latin typeface="Calibri"/>
              </a:rPr>
              <a:t>Jul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27119" y="4069079"/>
            <a:ext cx="16459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Design aprovado</a:t>
            </a:r>
          </a:p>
        </p:txBody>
      </p:sp>
      <p:sp>
        <p:nvSpPr>
          <p:cNvPr id="12" name="Oval 11"/>
          <p:cNvSpPr/>
          <p:nvPr/>
        </p:nvSpPr>
        <p:spPr>
          <a:xfrm>
            <a:off x="7528560" y="3566159"/>
            <a:ext cx="365760" cy="365760"/>
          </a:xfrm>
          <a:prstGeom prst="ellipse">
            <a:avLst/>
          </a:prstGeom>
          <a:solidFill>
            <a:srgbClr val="F9A825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88480" y="2834639"/>
            <a:ext cx="1645920" cy="36576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ctr"/>
            <a:r>
              <a:rPr sz="1300" b="0" i="0">
                <a:solidFill>
                  <a:srgbClr val="8C8C8C"/>
                </a:solidFill>
                <a:latin typeface="Calibri"/>
              </a:rPr>
              <a:t>Set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88480" y="4069079"/>
            <a:ext cx="16459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Homologação</a:t>
            </a:r>
          </a:p>
        </p:txBody>
      </p:sp>
      <p:sp>
        <p:nvSpPr>
          <p:cNvPr id="15" name="Oval 14"/>
          <p:cNvSpPr/>
          <p:nvPr/>
        </p:nvSpPr>
        <p:spPr>
          <a:xfrm>
            <a:off x="10789920" y="3566159"/>
            <a:ext cx="365760" cy="365760"/>
          </a:xfrm>
          <a:prstGeom prst="ellipse">
            <a:avLst/>
          </a:prstGeom>
          <a:solidFill>
            <a:srgbClr val="1F3A5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149840" y="2834639"/>
            <a:ext cx="1645920" cy="36576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ctr"/>
            <a:r>
              <a:rPr sz="1300" b="0" i="0">
                <a:solidFill>
                  <a:srgbClr val="8C8C8C"/>
                </a:solidFill>
                <a:latin typeface="Calibri"/>
              </a:rPr>
              <a:t>Nov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49840" y="4069079"/>
            <a:ext cx="16459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Go-live</a:t>
            </a:r>
          </a:p>
        </p:txBody>
      </p:sp>
      <p:sp>
        <p:nvSpPr>
          <p:cNvPr id="18" name="Oval 17"/>
          <p:cNvSpPr/>
          <p:nvPr/>
        </p:nvSpPr>
        <p:spPr>
          <a:xfrm>
            <a:off x="457200" y="5852160"/>
            <a:ext cx="182880" cy="182880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371600" cy="274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Calibri"/>
              </a:rPr>
              <a:t>Concluído</a:t>
            </a:r>
          </a:p>
        </p:txBody>
      </p:sp>
      <p:sp>
        <p:nvSpPr>
          <p:cNvPr id="20" name="Oval 19"/>
          <p:cNvSpPr/>
          <p:nvPr/>
        </p:nvSpPr>
        <p:spPr>
          <a:xfrm>
            <a:off x="2011680" y="5852160"/>
            <a:ext cx="182880" cy="182880"/>
          </a:xfrm>
          <a:prstGeom prst="ellipse">
            <a:avLst/>
          </a:prstGeom>
          <a:solidFill>
            <a:srgbClr val="F9A8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240280" y="5806440"/>
            <a:ext cx="1371600" cy="274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Calibri"/>
              </a:rPr>
              <a:t>Em risco</a:t>
            </a:r>
          </a:p>
        </p:txBody>
      </p:sp>
      <p:sp>
        <p:nvSpPr>
          <p:cNvPr id="22" name="Oval 21"/>
          <p:cNvSpPr/>
          <p:nvPr/>
        </p:nvSpPr>
        <p:spPr>
          <a:xfrm>
            <a:off x="3566160" y="5852160"/>
            <a:ext cx="182880" cy="182880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794760" y="5806440"/>
            <a:ext cx="1371600" cy="274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Calibri"/>
              </a:rPr>
              <a:t>Planejado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Avanço físico de 62% vs. 68% planejado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91440"/>
            <a:ext cx="3959352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0" i="0">
                <a:solidFill>
                  <a:srgbClr val="8C8C8C"/>
                </a:solidFill>
                <a:latin typeface="Calibri"/>
              </a:rPr>
              <a:t>2026-09-01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0"/>
            <a:ext cx="8531352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Calibri"/>
              </a:rPr>
              <a:t>Fonte: Cronograma MS Project, base 01/09/2026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5</a:t>
            </a:r>
          </a:p>
        </p:txBody>
      </p:sp>
      <p:graphicFrame>
        <p:nvGraphicFramePr>
          <p:cNvPr id="6" name="Chart 5" descr="Avanço físico de 62% vs. 68% planejado"/>
          <p:cNvGraphicFramePr>
            <a:graphicFrameLocks noGrp="1"/>
          </p:cNvGraphicFramePr>
          <p:nvPr/>
        </p:nvGraphicFramePr>
        <p:xfrm>
          <a:off x="457200" y="1463040"/>
          <a:ext cx="11274552" cy="4663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Risco crítico: homologação do fornecedor 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91440"/>
            <a:ext cx="3959352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0" i="0">
                <a:solidFill>
                  <a:srgbClr val="8C8C8C"/>
                </a:solidFill>
                <a:latin typeface="Calibri"/>
              </a:rPr>
              <a:t>2026-09-01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63040"/>
          <a:ext cx="11274550" cy="1371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254910"/>
                <a:gridCol w="2254910"/>
                <a:gridCol w="2254910"/>
                <a:gridCol w="2254910"/>
                <a:gridCol w="225491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Risco</a:t>
                      </a:r>
                    </a:p>
                  </a:txBody>
                  <a:tcPr marL="73152" marR="73152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Prob.</a:t>
                      </a:r>
                    </a:p>
                  </a:txBody>
                  <a:tcPr marL="73152" marR="73152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Impacto</a:t>
                      </a:r>
                    </a:p>
                  </a:txBody>
                  <a:tcPr marL="73152" marR="73152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Resposta</a:t>
                      </a:r>
                    </a:p>
                  </a:txBody>
                  <a:tcPr marL="73152" marR="73152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Dono</a:t>
                      </a:r>
                    </a:p>
                  </a:txBody>
                  <a:tcPr marL="73152" marR="73152" marT="27432" marB="27432" anchor="ctr">
                    <a:solidFill>
                      <a:srgbClr val="1F3A5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Fornecedor X não homologa até 15/09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Alta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Alto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Acionar fornecedor Y (plano B)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Compras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Rotatividade no time de testes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Média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Médio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Contratar 1 temporário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RH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Precisamos aprovar o plano B até sexta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91440"/>
            <a:ext cx="3959352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0" i="0">
                <a:solidFill>
                  <a:srgbClr val="8C8C8C"/>
                </a:solidFill>
                <a:latin typeface="Calibri"/>
              </a:rPr>
              <a:t>2026-09-01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7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63040"/>
          <a:ext cx="11274552" cy="1371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943600"/>
                <a:gridCol w="1828800"/>
                <a:gridCol w="1371600"/>
                <a:gridCol w="2130552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Ação</a:t>
                      </a:r>
                    </a:p>
                  </a:txBody>
                  <a:tcPr anchor="ctr" marL="73152" marR="73152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Dono</a:t>
                      </a:r>
                    </a:p>
                  </a:txBody>
                  <a:tcPr anchor="ctr" marL="73152" marR="73152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Prazo</a:t>
                      </a:r>
                    </a:p>
                  </a:txBody>
                  <a:tcPr anchor="ctr" marL="73152" marR="73152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 anchor="ctr" marL="73152" marR="73152">
                    <a:solidFill>
                      <a:srgbClr val="1F3A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Aprovar fornecedor Y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Sponsor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05/09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Em andamento</a:t>
                      </a:r>
                    </a:p>
                  </a:txBody>
                  <a:tcPr anchor="ctr" marL="73152" marR="73152">
                    <a:solidFill>
                      <a:srgbClr val="F9A8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Replanejar testes integrados</a:t>
                      </a:r>
                    </a:p>
                  </a:txBody>
                  <a:tcPr anchor="ctr" marL="73152" marR="7315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GP</a:t>
                      </a:r>
                    </a:p>
                  </a:txBody>
                  <a:tcPr anchor="ctr" marL="73152" marR="7315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10/09</a:t>
                      </a:r>
                    </a:p>
                  </a:txBody>
                  <a:tcPr anchor="ctr" marL="73152" marR="7315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8C8C8C"/>
                          </a:solidFill>
                          <a:latin typeface="Calibri"/>
                        </a:rPr>
                        <a:t>Não iniciada</a:t>
                      </a:r>
                    </a:p>
                  </a:txBody>
                  <a:tcPr anchor="ctr" marL="73152" marR="73152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7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"/>
              </a:rPr>
              <a:t>Próxima revisão: 15/09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749039"/>
            <a:ext cx="1069848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900" b="0" i="0">
                <a:solidFill>
                  <a:srgbClr val="D9E1EA"/>
                </a:solidFill>
                <a:latin typeface="Calibri"/>
              </a:rPr>
              <a:t>pmo@empresa.com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