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Planejado</c:v>
                </c:pt>
              </c:strCache>
            </c:strRef>
          </c:tx>
          <c:spPr>
            <a:ln w="31750">
              <a:solidFill>
                <a:srgbClr val="8C8C8C"/>
              </a:solidFill>
              <a:prstDash val="dash"/>
            </a:ln>
          </c:spPr>
          <c:marker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S28</c:v>
                </c:pt>
                <c:pt idx="1">
                  <c:v>S29</c:v>
                </c:pt>
                <c:pt idx="2">
                  <c:v>S30</c:v>
                </c:pt>
                <c:pt idx="3">
                  <c:v>S31</c:v>
                </c:pt>
                <c:pt idx="4">
                  <c:v>S32</c:v>
                </c:pt>
                <c:pt idx="5">
                  <c:v>S33</c:v>
                </c:pt>
                <c:pt idx="6">
                  <c:v>S34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45</c:v>
                </c:pt>
                <c:pt idx="2">
                  <c:v>50</c:v>
                </c:pt>
                <c:pt idx="3">
                  <c:v>55</c:v>
                </c:pt>
                <c:pt idx="4">
                  <c:v>60</c:v>
                </c:pt>
                <c:pt idx="5">
                  <c:v>64</c:v>
                </c:pt>
                <c:pt idx="6">
                  <c:v>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ln w="31750">
              <a:solidFill>
                <a:srgbClr val="4F81BD"/>
              </a:solidFill>
            </a:ln>
          </c:spPr>
          <c:marker>
            <c:spPr>
              <a:solidFill>
                <a:srgbClr val="4F81BD"/>
              </a:solidFill>
              <a:ln>
                <a:solidFill>
                  <a:srgbClr val="4F81BD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S28</c:v>
                </c:pt>
                <c:pt idx="1">
                  <c:v>S29</c:v>
                </c:pt>
                <c:pt idx="2">
                  <c:v>S30</c:v>
                </c:pt>
                <c:pt idx="3">
                  <c:v>S31</c:v>
                </c:pt>
                <c:pt idx="4">
                  <c:v>S32</c:v>
                </c:pt>
                <c:pt idx="5">
                  <c:v>S33</c:v>
                </c:pt>
                <c:pt idx="6">
                  <c:v>S34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</c:v>
                </c:pt>
                <c:pt idx="1">
                  <c:v>44</c:v>
                </c:pt>
                <c:pt idx="2">
                  <c:v>48</c:v>
                </c:pt>
                <c:pt idx="3">
                  <c:v>52</c:v>
                </c:pt>
                <c:pt idx="4">
                  <c:v>56</c:v>
                </c:pt>
                <c:pt idx="5">
                  <c:v>59</c:v>
                </c:pt>
                <c:pt idx="6">
                  <c:v>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Projeto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Relatório de status - semana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Projeto no amarelo: prazo em risco por atraso do fornecedor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79"/>
            <a:ext cx="411480" cy="4114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Avanço físico 62% vs. 68% planejado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20439"/>
            <a:ext cx="411480" cy="4114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Custo projetado 3% abaixo do orçamento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Homologação do fornecedor X atrasou 2 semanas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/>
            </a:r>
            <a:r>
              <a:rPr sz="1600" b="1" i="0">
                <a:solidFill>
                  <a:srgbClr val="F2A900"/>
                </a:solidFill>
                <a:latin typeface="Calibri"/>
              </a:rPr>
              <a:t>Pedimos: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Aprovar plano B (fornecedor alternativo) até 05/09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4 de 5 dimensões no verde; prazo em amarelo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ESCOPO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6974" y="155448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66974" y="1554480"/>
            <a:ext cx="2035454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4134" y="178308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PRAZO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4134" y="214884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-2 sem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6748" y="155448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6748" y="155448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3908" y="178308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CUSTO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908" y="214884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-3%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6523" y="155448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86523" y="155448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3683" y="178308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QUALIDADE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3683" y="214884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6297" y="155448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96297" y="1554480"/>
            <a:ext cx="2035454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33457" y="178308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RISCOS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3457" y="214884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1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Marco 3 desliza 2 semanas; marco final mantido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721607"/>
            <a:ext cx="10698480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3566159"/>
            <a:ext cx="365760" cy="36576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Jun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Kickoff</a:t>
            </a:r>
          </a:p>
        </p:txBody>
      </p:sp>
      <p:sp>
        <p:nvSpPr>
          <p:cNvPr id="8" name="Oval 7"/>
          <p:cNvSpPr/>
          <p:nvPr/>
        </p:nvSpPr>
        <p:spPr>
          <a:xfrm>
            <a:off x="4267199" y="3566159"/>
            <a:ext cx="365760" cy="36576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7119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Jul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7119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Design aprovado</a:t>
            </a:r>
          </a:p>
        </p:txBody>
      </p:sp>
      <p:sp>
        <p:nvSpPr>
          <p:cNvPr id="11" name="Oval 10"/>
          <p:cNvSpPr/>
          <p:nvPr/>
        </p:nvSpPr>
        <p:spPr>
          <a:xfrm>
            <a:off x="7528560" y="3566159"/>
            <a:ext cx="365760" cy="365760"/>
          </a:xfrm>
          <a:prstGeom prst="ellipse">
            <a:avLst/>
          </a:prstGeom>
          <a:solidFill>
            <a:srgbClr val="F9A8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8480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8480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Homologação</a:t>
            </a:r>
          </a:p>
        </p:txBody>
      </p:sp>
      <p:sp>
        <p:nvSpPr>
          <p:cNvPr id="14" name="Oval 13"/>
          <p:cNvSpPr/>
          <p:nvPr/>
        </p:nvSpPr>
        <p:spPr>
          <a:xfrm>
            <a:off x="10789920" y="3566159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2834639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069079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Go-live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85216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Concluído</a:t>
            </a:r>
          </a:p>
        </p:txBody>
      </p:sp>
      <p:sp>
        <p:nvSpPr>
          <p:cNvPr id="19" name="Oval 18"/>
          <p:cNvSpPr/>
          <p:nvPr/>
        </p:nvSpPr>
        <p:spPr>
          <a:xfrm>
            <a:off x="2011680" y="5852160"/>
            <a:ext cx="182880" cy="18288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Em risco</a:t>
            </a:r>
          </a:p>
        </p:txBody>
      </p:sp>
      <p:sp>
        <p:nvSpPr>
          <p:cNvPr id="21" name="Oval 20"/>
          <p:cNvSpPr/>
          <p:nvPr/>
        </p:nvSpPr>
        <p:spPr>
          <a:xfrm>
            <a:off x="3566160" y="5852160"/>
            <a:ext cx="182880" cy="1828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Planejado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Avanço físico de 62% vs. 68% planejado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103601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Cronograma MS Project, base 01/09/2026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Risco crítico: homologação do fornecedor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0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Risco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Prob.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Impacto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Resposta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Fornecedor X não homologa até 15/09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Acionar fornecedor Y (plano B)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Rotatividade no time de testes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Médio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Contratar 1 temporário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Precisamos aprovar o plano B até sexta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Aprovar fornecedor 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05/09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Replanejar testes integrados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GP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10/09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Próxima revisão: 15/09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Calibri"/>
              </a:rPr>
              <a:t>pmo@empresa.com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