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698480" cy="17373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Projeto Atlas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698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9E1EA"/>
                </a:solidFill>
                <a:latin typeface="Calibri"/>
              </a:rPr>
              <a:t>Kickoff - 08/09/2026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BFC9D4"/>
                </a:solidFill>
                <a:latin typeface="Calibri"/>
              </a:rPr>
              <a:t>2026-09-08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2026-09-08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15544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5544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333333"/>
                </a:solidFill>
                <a:latin typeface="Calibri"/>
              </a:rPr>
              <a:t>Por que o Atlas existe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2402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402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333333"/>
                </a:solidFill>
                <a:latin typeface="Calibri"/>
              </a:rPr>
              <a:t>Objetivos e escopo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29260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9260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333333"/>
                </a:solidFill>
                <a:latin typeface="Calibri"/>
              </a:rPr>
              <a:t>Cronograma e equipe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36118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6118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333333"/>
                </a:solidFill>
                <a:latin typeface="Calibri"/>
              </a:rPr>
              <a:t>Governança e riscos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42976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2976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333333"/>
                </a:solidFill>
                <a:latin typeface="Calibri"/>
              </a:rPr>
              <a:t>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Sucesso = lead time de 12 para 9 dias até março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2026-09-08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74552" cy="4663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600" b="0" i="0">
                <a:solidFill>
                  <a:srgbClr val="333333"/>
                </a:solidFill>
                <a:latin typeface="Calibri"/>
              </a:rPr>
              <a:t>Baseline: 12 dias (média jan-ago/26)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600" b="0" i="0">
                <a:solidFill>
                  <a:srgbClr val="333333"/>
                </a:solidFill>
                <a:latin typeface="Calibri"/>
              </a:rPr>
              <a:t>Meta: 9 dias em 31/03/2027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600" b="0" i="0">
                <a:solidFill>
                  <a:srgbClr val="333333"/>
                </a:solidFill>
                <a:latin typeface="Calibri"/>
              </a:rPr>
              <a:t>OTIF de 91% para 96%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600" b="0" i="0">
                <a:solidFill>
                  <a:srgbClr val="333333"/>
                </a:solidFill>
                <a:latin typeface="Calibri"/>
              </a:rPr>
              <a:t>Sem aumento de custo logístico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Dentro: expedição e transporte. Fora: produção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2026-09-08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5500116" cy="5486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Dentro do escopo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57400"/>
            <a:ext cx="5500116" cy="2743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240280"/>
            <a:ext cx="5500116" cy="3886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Processo de expedição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Roteirização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Integração TMS-ERP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1636" y="1463040"/>
            <a:ext cx="5500116" cy="5486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Fora do escopo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1636" y="2057400"/>
            <a:ext cx="5500116" cy="2743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1636" y="2240280"/>
            <a:ext cx="5500116" cy="3886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Planejamento de produção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Compras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Troca de transportadora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Go-live em 15/03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2026-09-08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721607"/>
            <a:ext cx="10698480" cy="54864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3566159"/>
            <a:ext cx="365760" cy="365760"/>
          </a:xfrm>
          <a:prstGeom prst="ellipse">
            <a:avLst/>
          </a:prstGeom>
          <a:solidFill>
            <a:srgbClr val="1F3A5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2834639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C8C8C"/>
                </a:solidFill>
                <a:latin typeface="Calibri"/>
              </a:rPr>
              <a:t>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069079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Diagnóstico</a:t>
            </a:r>
          </a:p>
        </p:txBody>
      </p:sp>
      <p:sp>
        <p:nvSpPr>
          <p:cNvPr id="9" name="Oval 8"/>
          <p:cNvSpPr/>
          <p:nvPr/>
        </p:nvSpPr>
        <p:spPr>
          <a:xfrm>
            <a:off x="4267199" y="3566159"/>
            <a:ext cx="365760" cy="365760"/>
          </a:xfrm>
          <a:prstGeom prst="ellipse">
            <a:avLst/>
          </a:prstGeom>
          <a:solidFill>
            <a:srgbClr val="1F3A5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27119" y="2834639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C8C8C"/>
                </a:solidFill>
                <a:latin typeface="Calibri"/>
              </a:rPr>
              <a:t>Nov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7119" y="4069079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Desenho e piloto</a:t>
            </a:r>
          </a:p>
        </p:txBody>
      </p:sp>
      <p:sp>
        <p:nvSpPr>
          <p:cNvPr id="12" name="Oval 11"/>
          <p:cNvSpPr/>
          <p:nvPr/>
        </p:nvSpPr>
        <p:spPr>
          <a:xfrm>
            <a:off x="7528560" y="3566159"/>
            <a:ext cx="365760" cy="365760"/>
          </a:xfrm>
          <a:prstGeom prst="ellipse">
            <a:avLst/>
          </a:prstGeom>
          <a:solidFill>
            <a:srgbClr val="1F3A5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88480" y="2834639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C8C8C"/>
                </a:solidFill>
                <a:latin typeface="Calibri"/>
              </a:rPr>
              <a:t>Jan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88480" y="4069079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Implantação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0" y="3566159"/>
            <a:ext cx="365760" cy="365760"/>
          </a:xfrm>
          <a:prstGeom prst="ellipse">
            <a:avLst/>
          </a:prstGeom>
          <a:solidFill>
            <a:srgbClr val="1F3A5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2834639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C8C8C"/>
                </a:solidFill>
                <a:latin typeface="Calibri"/>
              </a:rPr>
              <a:t>Mar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4069079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Go-live</a:t>
            </a:r>
          </a:p>
        </p:txBody>
      </p:sp>
      <p:sp>
        <p:nvSpPr>
          <p:cNvPr id="18" name="Oval 17"/>
          <p:cNvSpPr/>
          <p:nvPr/>
        </p:nvSpPr>
        <p:spPr>
          <a:xfrm>
            <a:off x="457200" y="5852160"/>
            <a:ext cx="182880" cy="1828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Calibri"/>
              </a:rPr>
              <a:t>Planejado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Quem faz o quê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2026-09-08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74552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758184"/>
                <a:gridCol w="3758184"/>
                <a:gridCol w="3758184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Papel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Nome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Dedicação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Sponsor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Diretor de Operações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Comitê mensal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Gerente do projeto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Ana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Líder logística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Carlos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TI / integração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Time ERP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Próximas 4 semanas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2026-09-08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74552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43600"/>
                <a:gridCol w="1828800"/>
                <a:gridCol w="1371600"/>
                <a:gridCol w="213055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Ação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Dono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Prazo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Mapear processo atual de expedição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Carlos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20/09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8C8C8C"/>
                          </a:solidFill>
                          <a:latin typeface="Calibri"/>
                        </a:rPr>
                        <a:t>Não iniciada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Levantar requisitos de integração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TI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27/09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8C8C8C"/>
                          </a:solidFill>
                          <a:latin typeface="Calibri"/>
                        </a:rPr>
                        <a:t>Não iniciada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Confirmar alocação de 2 analistas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Sponsor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12/09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Em andamento</a:t>
                      </a:r>
                    </a:p>
                  </a:txBody>
                  <a:tcPr anchor="ctr" marL="73152" marR="73152">
                    <a:solidFill>
                      <a:srgbClr val="F9A82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Canal do projeto: #atlas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749039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0" i="0">
                <a:solidFill>
                  <a:srgbClr val="D9E1EA"/>
                </a:solidFill>
                <a:latin typeface="Calibri"/>
              </a:rPr>
              <a:t>ana@empresa.com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