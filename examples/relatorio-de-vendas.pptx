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85858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Sul</c:v>
                </c:pt>
                <c:pt idx="1">
                  <c:v>Nordeste</c:v>
                </c:pt>
                <c:pt idx="2">
                  <c:v>Centro-Oeste</c:v>
                </c:pt>
                <c:pt idx="3">
                  <c:v>Sudeste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0.8</c:v>
                </c:pt>
                <c:pt idx="2">
                  <c:v>0.6</c:v>
                </c:pt>
                <c:pt idx="3">
                  <c:v>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2E86A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Sul</c:v>
                </c:pt>
                <c:pt idx="1">
                  <c:v>Nordeste</c:v>
                </c:pt>
                <c:pt idx="2">
                  <c:v>Centro-Oeste</c:v>
                </c:pt>
                <c:pt idx="3">
                  <c:v>Sudeste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1.35</c:v>
                </c:pt>
                <c:pt idx="1">
                  <c:v>0.8</c:v>
                </c:pt>
                <c:pt idx="2">
                  <c:v>0.58</c:v>
                </c:pt>
                <c:pt idx="3">
                  <c:v>2.0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58585"/>
            </a:solidFill>
          </a:ln>
        </c:spPr>
        <c:txPr>
          <a:bodyPr/>
          <a:lstStyle/>
          <a:p>
            <a:pPr>
              <a:defRPr sz="1100">
                <a:solidFill>
                  <a:srgbClr val="85858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4F4F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58585"/>
                </a:solidFill>
              </a:defRPr>
            </a:pPr>
          </a:p>
        </c:txPr>
        <c:crossAx val="-2068027336"/>
        <c:crosses val="max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2D2D2D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 mi</c:v>
                </c:pt>
              </c:strCache>
            </c:strRef>
          </c:tx>
          <c:spPr>
            <a:solidFill>
              <a:srgbClr val="1B2A49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Qualificação</c:v>
                </c:pt>
                <c:pt idx="1">
                  <c:v>Proposta</c:v>
                </c:pt>
                <c:pt idx="2">
                  <c:v>Negociação</c:v>
                </c:pt>
                <c:pt idx="3">
                  <c:v>Fechamento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5.5</c:v>
                </c:pt>
                <c:pt idx="2">
                  <c:v>3.0</c:v>
                </c:pt>
                <c:pt idx="3">
                  <c:v>1.5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2D2D2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58585"/>
            </a:solidFill>
          </a:ln>
        </c:spPr>
        <c:txPr>
          <a:bodyPr/>
          <a:lstStyle/>
          <a:p>
            <a:pPr>
              <a:defRPr sz="1100">
                <a:solidFill>
                  <a:srgbClr val="85858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4F4F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58585"/>
                </a:solidFill>
              </a:defRPr>
            </a:pPr>
          </a:p>
        </c:txPr>
        <c:crossAx val="-2068027336"/>
        <c:crosses val="max"/>
      </c:valAx>
    </c:plotArea>
    <c:dispBlanksAs val="gap"/>
  </c:chart>
  <c:txPr>
    <a:bodyPr/>
    <a:lstStyle/>
    <a:p>
      <a:pPr>
        <a:defRPr sz="1100">
          <a:solidFill>
            <a:srgbClr val="2D2D2D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Vendas agosto/26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Segoe UI"/>
              </a:rPr>
              <a:t>Diretoria Comercial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Sumário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B2A49"/>
                </a:solidFill>
                <a:latin typeface="Segoe UI"/>
              </a:rPr>
              <a:t>Atingimos 94% da meta; Sul superou, Sudeste ficou 12% abaixo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79"/>
            <a:ext cx="411480" cy="411480"/>
          </a:xfrm>
          <a:prstGeom prst="ellips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Segoe UI"/>
              </a:rPr>
              <a:t>Ticket médio +8% com novo mix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20439"/>
            <a:ext cx="411480" cy="411480"/>
          </a:xfrm>
          <a:prstGeom prst="ellips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747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Segoe UI"/>
              </a:rPr>
              <a:t>Sudeste perdeu 3 contas grandes para concorrente por preço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Segoe UI"/>
              </a:rPr>
              <a:t>Pipeline cobre 2,1x a meta de setembro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64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  <a:latin typeface="Segoe UI"/>
              </a:rPr>
              <a:t/>
            </a:r>
            <a:r>
              <a:rPr sz="1600" b="1" i="0">
                <a:solidFill>
                  <a:srgbClr val="F26419"/>
                </a:solidFill>
                <a:latin typeface="Segoe UI"/>
              </a:rPr>
              <a:t>Pedimos:  </a:t>
            </a:r>
            <a:r>
              <a:rPr sz="1600" b="1" i="0">
                <a:solidFill>
                  <a:srgbClr val="2D2D2D"/>
                </a:solidFill>
                <a:latin typeface="Segoe UI"/>
              </a:rPr>
              <a:t>Aprovar campanha de retenção no Sudeste (R$ 120 mil)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Ticket médio subiu 8%, volume caiu 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2612898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612898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58585"/>
                </a:solidFill>
                <a:latin typeface="Segoe UI"/>
              </a:rPr>
              <a:t>RECEITA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2D2D2D"/>
                </a:solidFill>
                <a:latin typeface="Segoe UI"/>
              </a:rPr>
              <a:t>R$ 4,7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37560"/>
            <a:ext cx="233857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Segoe UI"/>
              </a:rPr>
              <a:t>94% da meta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4418" y="1554480"/>
            <a:ext cx="2612898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4418" y="155448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1577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58585"/>
                </a:solidFill>
                <a:latin typeface="Segoe UI"/>
              </a:rPr>
              <a:t>TICKET MÉDIO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1577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500" b="1" i="0">
                <a:solidFill>
                  <a:srgbClr val="2D2D2D"/>
                </a:solidFill>
                <a:latin typeface="Segoe UI"/>
              </a:rPr>
              <a:t>R$ 18,2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1577" y="3337560"/>
            <a:ext cx="233857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+8%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554480"/>
            <a:ext cx="2612898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55448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8796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58585"/>
                </a:solidFill>
                <a:latin typeface="Segoe UI"/>
              </a:rPr>
              <a:t>NOVOS CLIENTES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796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2D2D2D"/>
                </a:solidFill>
                <a:latin typeface="Segoe UI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3337560"/>
            <a:ext cx="233857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+4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18854" y="1554480"/>
            <a:ext cx="2612898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18854" y="1554480"/>
            <a:ext cx="2612898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6014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58585"/>
                </a:solidFill>
                <a:latin typeface="Segoe UI"/>
              </a:rPr>
              <a:t>CHURN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6014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2D2D2D"/>
                </a:solidFill>
                <a:latin typeface="Segoe UI"/>
              </a:rPr>
              <a:t>2,1%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014" y="3337560"/>
            <a:ext cx="233857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Segoe UI"/>
              </a:rPr>
              <a:t>+0,6 p.p.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Sudeste responde por todo o gap da meta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103601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Fonte: CRM, extração 01/09/2026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11274552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Pipeline de R$ 18 mi cobre 2,1x a meta de setembro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103601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Fonte: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11274552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Três ações para fechar o gap do Sudeste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Campanha de retenção nas 20 maiores contas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Ger. Sudeste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15/09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58585"/>
                          </a:solidFill>
                          <a:latin typeface="Segoe U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Revisar tabela de preço para produto B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Pricing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10/09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Contratar 1 vendedor para interior de SP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30/09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58585"/>
                          </a:solidFill>
                          <a:latin typeface="Segoe U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Próxima revisão: 01/10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