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1"/>
            <c:spPr>
              <a:solidFill>
                <a:srgbClr val="F2A900"/>
              </a:solidFill>
            </c:spPr>
          </c:dPt>
          <c:cat>
            <c:strRef>
              <c:f>Sheet1!$A$2:$A$3</c:f>
              <c:strCache>
                <c:ptCount val="2"/>
                <c:pt idx="0">
                  <c:v>Investimento</c:v>
                </c:pt>
                <c:pt idx="1">
                  <c:v>Benefício estimado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3.27</c:v>
                </c:pt>
                <c:pt idx="1">
                  <c:v>4.59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D9E1EA"/>
                </a:solidFill>
                <a:latin typeface="Calibri"/>
              </a:rPr>
              <a:t>EMPRESA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F2A900"/>
                </a:solidFill>
                <a:latin typeface="Calibri"/>
              </a:rPr>
              <a:t>DIRETORIA E GESTORES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31520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Desempenho da área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7315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Base para alinhar prioridades, metas e investimentos do próximo ciclo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920240"/>
            <a:ext cx="3319272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920240"/>
            <a:ext cx="73152" cy="24688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2057400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TESE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423160"/>
            <a:ext cx="29718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 avanço de capacidade, maturidade e entregas cria uma base sólida. O próximo passo é converter esse desempenho em escolhas compartilhadas.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457200"/>
            <a:ext cx="13716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EMPRESA EXEMPLO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 reunião deve converter desempenho em direcionamento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PLANEJAMENTO DO PRÓXIMO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PROPÓSITO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2A900"/>
                </a:solidFill>
                <a:latin typeface="Calibri"/>
              </a:rPr>
              <a:t>RESULTADO ESPERADO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Prioridades, metas e direcionadores de investimento validados, com decisões e responsáveis registrados.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2194560"/>
            <a:ext cx="2727198" cy="1280160"/>
          </a:xfrm>
          <a:prstGeom prst="homePlat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1. Ler o ciclo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5760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Resultados e tendências</a:t>
            </a:r>
          </a:p>
        </p:txBody>
      </p:sp>
      <p:sp>
        <p:nvSpPr>
          <p:cNvPr id="12" name="Chevron 11"/>
          <p:cNvSpPr/>
          <p:nvPr/>
        </p:nvSpPr>
        <p:spPr>
          <a:xfrm>
            <a:off x="3275838" y="219456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2. Alinhar expectativas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7278" y="365760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Ambição e limites</a:t>
            </a:r>
          </a:p>
        </p:txBody>
      </p:sp>
      <p:sp>
        <p:nvSpPr>
          <p:cNvPr id="14" name="Chevron 13"/>
          <p:cNvSpPr/>
          <p:nvPr/>
        </p:nvSpPr>
        <p:spPr>
          <a:xfrm>
            <a:off x="6094476" y="2194560"/>
            <a:ext cx="2727198" cy="1280160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3. Decidir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5916" y="365760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Prioridades e metas</a:t>
            </a:r>
          </a:p>
        </p:txBody>
      </p:sp>
      <p:sp>
        <p:nvSpPr>
          <p:cNvPr id="16" name="Chevron 15"/>
          <p:cNvSpPr/>
          <p:nvPr/>
        </p:nvSpPr>
        <p:spPr>
          <a:xfrm>
            <a:off x="8913114" y="219456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4. Encaminhar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4554" y="365760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Responsáveis e pendências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 execução ganhou previsibilidade ao longo do ciclo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PLANEJAMENTO DO PRÓXIMO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Painel de KPIs da área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Calibri"/>
              </a:rPr>
              <a:t>ATENÇÃO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Sustentar, não extrapolar: o fechamento de 91% orienta a ambição, mas não substitui uma meta pactuada.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3575304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3575304" cy="731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057400"/>
            <a:ext cx="330098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CONCLUÍDOS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330098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333333"/>
                </a:solidFill>
                <a:latin typeface="Calibri"/>
              </a:rPr>
              <a:t>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429000"/>
            <a:ext cx="330098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8C8C8C"/>
                </a:solidFill>
                <a:latin typeface="Calibri"/>
              </a:rPr>
              <a:t>projetos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06824" y="1828800"/>
            <a:ext cx="3575304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6824" y="1828800"/>
            <a:ext cx="3575304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3984" y="2057400"/>
            <a:ext cx="330098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NO PRAZO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984" y="2423160"/>
            <a:ext cx="330098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333333"/>
                </a:solidFill>
                <a:latin typeface="Calibri"/>
              </a:rPr>
              <a:t>84,5%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4" y="3429000"/>
            <a:ext cx="330098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média anual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56448" y="1828800"/>
            <a:ext cx="3575304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56448" y="1828800"/>
            <a:ext cx="3575304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2057400"/>
            <a:ext cx="330098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EVOLUÇÃO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2423160"/>
            <a:ext cx="330098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300" b="1" i="0">
                <a:solidFill>
                  <a:srgbClr val="333333"/>
                </a:solidFill>
                <a:latin typeface="Calibri"/>
              </a:rPr>
              <a:t>78% a 91%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3429000"/>
            <a:ext cx="330098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jan a dez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O benefício potencial supera o investimento, mas ainda precisa ser realizado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PLANEJAMENTO DO PRÓXIMO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VALOR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Painel de KPIs da área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Calibri"/>
              </a:rPr>
              <a:t>TRANSPARÊNCIA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Benefício estimado não é retorno realizado.</a:t>
            </a:r>
          </a:p>
        </p:txBody>
      </p:sp>
      <p:graphicFrame>
        <p:nvGraphicFramePr>
          <p:cNvPr id="12" name="Chart 11" descr="O benefício potencial supera o investimento, mas ainda precisa ser realizado"/>
          <p:cNvGraphicFramePr>
            <a:graphicFrameLocks noGrp="1"/>
          </p:cNvGraphicFramePr>
          <p:nvPr/>
        </p:nvGraphicFramePr>
        <p:xfrm>
          <a:off x="457200" y="1737360"/>
          <a:ext cx="731520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046720" y="1828800"/>
            <a:ext cx="3685032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1,40x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benefício potencial sobre o investimento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Benefício estimado não é retorno realizado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O próximo ciclo deve incorporar marcos de captura e validação de valor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Três direcionadores devem filtrar o próximo ciclo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PLANEJAMENTO DO PRÓXIMO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RECOMENDAÇÃO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PRINCÍPIO DE DECISÃO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Nenhuma iniciativa avança sem responder claramente aos três filtros.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3575304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Foco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Priorizar iniciativas alinhadas à estratégia e limitar dispersão.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6824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6824" y="1828800"/>
            <a:ext cx="3575304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4F81BD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Previsibilidade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Pactuar capacidade, prazo e avanço de maturidade com metas realistas.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56448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56448" y="1828800"/>
            <a:ext cx="3575304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8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F2A900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8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Valor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5048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Acompanhar a materialização dos benefícios, não apenas sua estimativa.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 reunião termina com decisões, responsáveis e 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PLANEJAMENTO DO PRÓXIMO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CRITÉRIO DE SAÍDA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Cada tema relevante precisa de decisão ou de um responsável por fechar a pendência.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737360"/>
          <a:ext cx="11274552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Decisão / direcionamento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Responsável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Pendência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