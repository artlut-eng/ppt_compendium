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R$ mi</c:v>
                </c:pt>
              </c:strCache>
            </c:strRef>
          </c:tx>
          <c:spPr>
            <a:solidFill>
              <a:srgbClr val="1F3A5F"/>
            </a:solidFill>
            <a:ln>
              <a:noFill/>
            </a:ln>
          </c:spPr>
          <c:dPt>
            <c:idx val="1"/>
            <c:spPr>
              <a:solidFill>
                <a:srgbClr val="F2A900"/>
              </a:solidFill>
            </c:spPr>
          </c:dPt>
          <c:cat>
            <c:strRef>
              <c:f>Sheet1!$A$2:$A$3</c:f>
              <c:strCache>
                <c:ptCount val="2"/>
                <c:pt idx="0">
                  <c:v>Investimento</c:v>
                </c:pt>
                <c:pt idx="1">
                  <c:v>Benefício estimado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3.27</c:v>
                </c:pt>
                <c:pt idx="1">
                  <c:v>4.59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>
                  <a:solidFill>
                    <a:srgbClr val="33333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8C8C8C"/>
            </a:solidFill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8C8C8C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5486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D9E1EA"/>
                </a:solidFill>
                <a:latin typeface="Calibri"/>
              </a:rPr>
              <a:t>EMPRESA EXEMPLO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3657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F2A900"/>
                </a:solidFill>
                <a:latin typeface="Calibri"/>
              </a:rPr>
              <a:t>DIRETORIA E GESTORES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731520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Desempenho da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731520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Calibri"/>
              </a:rPr>
              <a:t>Base para alinhar prioridades, metas e investimentos do próximo ciclo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920240"/>
            <a:ext cx="3319272" cy="24688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0" y="1920240"/>
            <a:ext cx="73152" cy="2468880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41080" y="2057400"/>
            <a:ext cx="29718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TESE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1080" y="2423160"/>
            <a:ext cx="2971800" cy="187451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1F3A5F"/>
                </a:solidFill>
                <a:latin typeface="Calibri"/>
              </a:rPr>
              <a:t>O avanço de capacidade, maturidade e entregas cria uma base sólida. O próximo passo é converter esse desempenho em escolhas compartilhadas.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0" y="457200"/>
            <a:ext cx="13716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1" i="0">
                <a:solidFill>
                  <a:srgbClr val="FFFFFF"/>
                </a:solidFill>
                <a:latin typeface="Calibri"/>
              </a:rPr>
              <a:t>EMPRESA EXEMPLO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 reunião deve converter desempenho em direcionamento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PLANEJAMENTO DO PRÓXIMO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PROPÓSITO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1427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2A900"/>
                </a:solidFill>
                <a:latin typeface="Calibri"/>
              </a:rPr>
              <a:t>RESULTADO ESPERADO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Prioridades, metas e direcionadores de investimento validados, com decisões e responsáveis registrados.</a:t>
            </a:r>
          </a:p>
        </p:txBody>
      </p:sp>
      <p:sp>
        <p:nvSpPr>
          <p:cNvPr id="10" name="Pentagon 9"/>
          <p:cNvSpPr/>
          <p:nvPr/>
        </p:nvSpPr>
        <p:spPr>
          <a:xfrm>
            <a:off x="457200" y="2194560"/>
            <a:ext cx="2727198" cy="1280160"/>
          </a:xfrm>
          <a:prstGeom prst="homePlate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1. Ler o ciclo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Resultados e tendências</a:t>
            </a:r>
          </a:p>
        </p:txBody>
      </p:sp>
      <p:sp>
        <p:nvSpPr>
          <p:cNvPr id="12" name="Chevron 11"/>
          <p:cNvSpPr/>
          <p:nvPr/>
        </p:nvSpPr>
        <p:spPr>
          <a:xfrm>
            <a:off x="3275838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2. Alinhar expectativas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7278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Ambição e limites</a:t>
            </a:r>
          </a:p>
        </p:txBody>
      </p:sp>
      <p:sp>
        <p:nvSpPr>
          <p:cNvPr id="14" name="Chevron 13"/>
          <p:cNvSpPr/>
          <p:nvPr/>
        </p:nvSpPr>
        <p:spPr>
          <a:xfrm>
            <a:off x="6094476" y="2194560"/>
            <a:ext cx="2727198" cy="1280160"/>
          </a:xfrm>
          <a:prstGeom prst="chevron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3. Decidir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85916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Prioridades e metas</a:t>
            </a:r>
          </a:p>
        </p:txBody>
      </p:sp>
      <p:sp>
        <p:nvSpPr>
          <p:cNvPr id="16" name="Chevron 15"/>
          <p:cNvSpPr/>
          <p:nvPr/>
        </p:nvSpPr>
        <p:spPr>
          <a:xfrm>
            <a:off x="8913114" y="2194560"/>
            <a:ext cx="2727198" cy="1280160"/>
          </a:xfrm>
          <a:prstGeom prst="chevron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4. Encaminhar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4554" y="3657600"/>
            <a:ext cx="2544318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Responsáveis e pendências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 execução ganhou previsibilidade ao longo do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PLANEJAMENTO DO PRÓXIMO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ENTREGA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Painel de KPIs da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ATENÇÃO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Sustentar, não extrapolar: o fechamento de 91% orienta a ambição, mas não substitui uma meta pactuada.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575304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828800"/>
            <a:ext cx="3575304" cy="73152"/>
          </a:xfrm>
          <a:prstGeom prst="rect">
            <a:avLst/>
          </a:prstGeom>
          <a:solidFill>
            <a:srgbClr val="8C8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057400"/>
            <a:ext cx="330098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CONCLUÍDOS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423160"/>
            <a:ext cx="330098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333333"/>
                </a:solidFill>
                <a:latin typeface="Calibri"/>
              </a:rPr>
              <a:t>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429000"/>
            <a:ext cx="330098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8C8C8C"/>
                </a:solidFill>
                <a:latin typeface="Calibri"/>
              </a:rPr>
              <a:t>projetos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1828800"/>
            <a:ext cx="3575304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06824" y="1828800"/>
            <a:ext cx="357530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3984" y="2057400"/>
            <a:ext cx="330098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NO PRAZO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984" y="2423160"/>
            <a:ext cx="330098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333333"/>
                </a:solidFill>
                <a:latin typeface="Calibri"/>
              </a:rPr>
              <a:t>84,5%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43984" y="3429000"/>
            <a:ext cx="330098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média anual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56448" y="1828800"/>
            <a:ext cx="3575304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6448" y="1828800"/>
            <a:ext cx="3575304" cy="7315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93608" y="2057400"/>
            <a:ext cx="330098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8C8C8C"/>
                </a:solidFill>
                <a:latin typeface="Calibri"/>
              </a:rPr>
              <a:t>EVOLUÇÃO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8" y="2423160"/>
            <a:ext cx="3300984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3300" b="1" i="0">
                <a:solidFill>
                  <a:srgbClr val="333333"/>
                </a:solidFill>
                <a:latin typeface="Calibri"/>
              </a:rPr>
              <a:t>78% a 91%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8" y="3429000"/>
            <a:ext cx="3300984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300" b="1" i="0">
                <a:solidFill>
                  <a:srgbClr val="2E7D32"/>
                </a:solidFill>
                <a:latin typeface="Calibri"/>
              </a:rPr>
              <a:t>jan a dez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O benefício potencial supera o investimento, mas ainda precisa ser realizado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PLANEJAMENTO DO PRÓXIMO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8C8C8C"/>
                </a:solidFill>
                <a:latin typeface="Calibri"/>
              </a:rPr>
              <a:t>Fonte: Painel de KPIs da área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Calibri"/>
              </a:rPr>
              <a:t>TRANSPARÊNCIA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Benefício estimado não é retorno realizado.</a:t>
            </a:r>
          </a:p>
        </p:txBody>
      </p:sp>
      <p:graphicFrame>
        <p:nvGraphicFramePr>
          <p:cNvPr id="12" name="Chart 11" descr="O benefício potencial supera o investimento, mas ainda precisa ser realizado"/>
          <p:cNvGraphicFramePr>
            <a:graphicFrameLocks noGrp="1"/>
          </p:cNvGraphicFramePr>
          <p:nvPr/>
        </p:nvGraphicFramePr>
        <p:xfrm>
          <a:off x="457200" y="1737360"/>
          <a:ext cx="7315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8046720" y="1828800"/>
            <a:ext cx="3685032" cy="3291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1" i="0">
                <a:solidFill>
                  <a:srgbClr val="333333"/>
                </a:solidFill>
                <a:latin typeface="Calibri"/>
              </a:rPr>
              <a:t>1,40x</a:t>
            </a:r>
            <a:r>
              <a:rPr sz="1400" b="0" i="0">
                <a:solidFill>
                  <a:srgbClr val="333333"/>
                </a:solidFill>
                <a:latin typeface="Calibri"/>
              </a:rPr>
              <a:t> de benefício potencial sobre o investimento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Benefício estimado não é retorno realizado</a:t>
            </a:r>
          </a:p>
          <a:p>
            <a:pPr marL="228600" indent="-228600">
              <a:spcAft>
                <a:spcPts val="800"/>
              </a:spcAft>
              <a:buClr>
                <a:srgbClr val="1F3A5F"/>
              </a:buClr>
              <a:buChar char="•"/>
            </a:pPr>
            <a:r>
              <a:rPr sz="1400" b="0" i="0">
                <a:solidFill>
                  <a:srgbClr val="333333"/>
                </a:solidFill>
                <a:latin typeface="Calibri"/>
              </a:rPr>
              <a:t>O próximo ciclo deve incorporar marcos de captura e validação de valor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Três direcionadores devem filtrar o próximo ciclo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PLANEJAMENTO DO PRÓXIMO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RECOMENDAÇÃO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1F3A5F"/>
                </a:solidFill>
                <a:latin typeface="Calibri"/>
              </a:rPr>
              <a:t>PRINCÍPIO DE DECISÃO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Nenhuma iniciativa avança sem responder claramente aos três filtros.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828800"/>
            <a:ext cx="3575304" cy="54864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1F3A5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Foco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Priorizar iniciativas alinhadas à estratégia e limitar dispersão.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06824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06824" y="1828800"/>
            <a:ext cx="3575304" cy="54864"/>
          </a:xfrm>
          <a:prstGeom prst="rect">
            <a:avLst/>
          </a:prstGeom>
          <a:solidFill>
            <a:srgbClr val="4F81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35424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4F81BD"/>
                </a:solidFill>
                <a:latin typeface="Calibr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5424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Previsibilidade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5424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Pactuar capacidade, prazo e avanço de maturidade com metas realistas.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56448" y="1828800"/>
            <a:ext cx="3575304" cy="3291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56448" y="1828800"/>
            <a:ext cx="3575304" cy="5486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2011680"/>
            <a:ext cx="1371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F2A900"/>
                </a:solidFill>
                <a:latin typeface="Calibr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2560320"/>
            <a:ext cx="3118104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333333"/>
                </a:solidFill>
                <a:latin typeface="Calibri"/>
              </a:rPr>
              <a:t>Valor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85048" y="3246120"/>
            <a:ext cx="3118104" cy="17373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333333"/>
                </a:solidFill>
                <a:latin typeface="Calibri"/>
              </a:rPr>
              <a:t>Acompanhar a materialização dos benefícios, não apenas sua estimativa.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21792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1F3A5F"/>
                </a:solidFill>
                <a:latin typeface="Calibri"/>
              </a:rPr>
              <a:t>A reunião termina com decisões, responsáveis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7315200" cy="228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900" b="1" i="0">
                <a:solidFill>
                  <a:srgbClr val="8C8C8C"/>
                </a:solidFill>
                <a:latin typeface="Calibri"/>
              </a:rPr>
              <a:t>EMPRESA EXEMPLO  |  PLANEJAMENTO DO PRÓXIMO CICLO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74552" cy="256032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4F81BD"/>
                </a:solidFill>
                <a:latin typeface="Calibri"/>
              </a:rPr>
              <a:t>FECHAMENTO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8C8C8C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6217920"/>
            <a:ext cx="18288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900" b="1" i="0">
                <a:solidFill>
                  <a:srgbClr val="1F3A5F"/>
                </a:solidFill>
                <a:latin typeface="Calibri"/>
              </a:rPr>
              <a:t>EMPRESA EXEMPLO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349240"/>
            <a:ext cx="11274552" cy="731520"/>
          </a:xfrm>
          <a:prstGeom prst="rect">
            <a:avLst/>
          </a:prstGeom>
          <a:solidFill>
            <a:srgbClr val="EAF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349240"/>
            <a:ext cx="73152" cy="7315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349240"/>
            <a:ext cx="2103120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1" i="0">
                <a:solidFill>
                  <a:srgbClr val="2E7D32"/>
                </a:solidFill>
                <a:latin typeface="Calibri"/>
              </a:rPr>
              <a:t>CRITÉRIO DE SAÍDA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5349240"/>
            <a:ext cx="8759952" cy="73152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333333"/>
                </a:solidFill>
                <a:latin typeface="Calibri"/>
              </a:rPr>
              <a:t>Cada tema relevante precisa de decisão ou de um responsável por fechar a pendência.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737360"/>
          <a:ext cx="11274552" cy="22860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Decisão / direcionamento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Responsável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Pendência</a:t>
                      </a:r>
                    </a:p>
                  </a:txBody>
                  <a:tcPr anchor="ctr" marL="73152" marR="73152"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01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02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03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>04</a:t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333333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73152" marR="73152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