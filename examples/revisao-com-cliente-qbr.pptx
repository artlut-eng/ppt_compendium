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Economia</c:v>
                </c:pt>
              </c:strCache>
            </c:strRef>
          </c:tx>
          <c:spPr>
            <a:solidFill>
              <a:srgbClr val="1B2A49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abr</c:v>
                </c:pt>
                <c:pt idx="1">
                  <c:v>mai</c:v>
                </c:pt>
                <c:pt idx="2">
                  <c:v>jun</c:v>
                </c:pt>
                <c:pt idx="3">
                  <c:v>jul</c:v>
                </c:pt>
                <c:pt idx="4">
                  <c:v>ago</c:v>
                </c:pt>
                <c:pt idx="5">
                  <c:v>set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38</c:v>
                </c:pt>
                <c:pt idx="1">
                  <c:v>52</c:v>
                </c:pt>
                <c:pt idx="2">
                  <c:v>61</c:v>
                </c:pt>
                <c:pt idx="3">
                  <c:v>74</c:v>
                </c:pt>
                <c:pt idx="4">
                  <c:v>92</c:v>
                </c:pt>
                <c:pt idx="5">
                  <c:v>103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>
                  <a:solidFill>
                    <a:srgbClr val="2D2D2D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858585"/>
            </a:solidFill>
          </a:ln>
        </c:spPr>
        <c:txPr>
          <a:bodyPr/>
          <a:lstStyle/>
          <a:p>
            <a:pPr>
              <a:defRPr sz="1100">
                <a:solidFill>
                  <a:srgbClr val="858585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F4F4F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858585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2D2D2D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26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5486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D9E1EA"/>
                </a:solidFill>
                <a:latin typeface="Segoe UI"/>
              </a:rPr>
              <a:t>EMPRESA EXEMPLO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36576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F26419"/>
                </a:solidFill>
                <a:latin typeface="Segoe UI"/>
              </a:rPr>
              <a:t>CLIENTE EXEMPLO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7315200" cy="173736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Segoe UI"/>
              </a:rPr>
              <a:t>Revisão trimestral 3T26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49039"/>
            <a:ext cx="73152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200" b="0" i="0">
                <a:solidFill>
                  <a:srgbClr val="D9E1EA"/>
                </a:solidFill>
                <a:latin typeface="Segoe UI"/>
              </a:rPr>
              <a:t>Resultados, entregas e prioridades do próximo trimestre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0" y="1920240"/>
            <a:ext cx="3319272" cy="2468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0" y="1920240"/>
            <a:ext cx="73152" cy="2468880"/>
          </a:xfrm>
          <a:prstGeom prst="rect">
            <a:avLst/>
          </a:prstGeom>
          <a:solidFill>
            <a:srgbClr val="F26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41080" y="2057400"/>
            <a:ext cx="29718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858585"/>
                </a:solidFill>
                <a:latin typeface="Segoe UI"/>
              </a:rPr>
              <a:t>TESE CENTRAL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41080" y="2423160"/>
            <a:ext cx="2971800" cy="187451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1" i="0">
                <a:solidFill>
                  <a:srgbClr val="1B2A49"/>
                </a:solidFill>
                <a:latin typeface="Segoe UI"/>
              </a:rPr>
              <a:t>Redução de 18% no custo de energia no trimestre, acima da meta de 15% acordada.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669280"/>
            <a:ext cx="106984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BFC9D4"/>
                </a:solidFill>
                <a:latin typeface="Segoe UI"/>
              </a:rPr>
              <a:t>out/2026 | Confidencial - preparado para Cliente Exemplo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0" y="457200"/>
            <a:ext cx="13716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Segoe UI"/>
              </a:rPr>
              <a:t>EMPRESA EXEMPLO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1792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1B2A49"/>
                </a:solidFill>
                <a:latin typeface="Segoe UI"/>
              </a:rPr>
              <a:t>Todos os SLAs cumpridos; adoção em 84%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858585"/>
                </a:solidFill>
                <a:latin typeface="Segoe UI"/>
              </a:rPr>
              <a:t>EMPRESA EXEMPLO  |  REVISÃO TRIMESTRAL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0" i="0">
                <a:solidFill>
                  <a:srgbClr val="858585"/>
                </a:solidFill>
                <a:latin typeface="Segoe UI"/>
              </a:rPr>
              <a:t>out/2026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2E86AB"/>
                </a:solidFill>
                <a:latin typeface="Segoe UI"/>
              </a:rPr>
              <a:t>INDICADORES DO CONTRATO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858585"/>
                </a:solidFill>
                <a:latin typeface="Segoe UI"/>
              </a:rPr>
              <a:t>Fonte: Plataforma, jul a set/26   |   Confidencial - preparado para Cliente Exemplo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858585"/>
                </a:solidFill>
                <a:latin typeface="Segoe U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6217920"/>
            <a:ext cx="18288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1" i="0">
                <a:solidFill>
                  <a:srgbClr val="1B2A49"/>
                </a:solidFill>
                <a:latin typeface="Segoe UI"/>
              </a:rPr>
              <a:t>EMPRESA EXEMPLO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2612898" cy="23774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828800"/>
            <a:ext cx="2612898" cy="7315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057400"/>
            <a:ext cx="2338578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858585"/>
                </a:solidFill>
                <a:latin typeface="Segoe UI"/>
              </a:rPr>
              <a:t>ECONOMIA DE ENERGIA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423160"/>
            <a:ext cx="2338578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4000" b="1" i="0">
                <a:solidFill>
                  <a:srgbClr val="2D2D2D"/>
                </a:solidFill>
                <a:latin typeface="Segoe UI"/>
              </a:rPr>
              <a:t>18%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429000"/>
            <a:ext cx="2338578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Segoe UI"/>
              </a:rPr>
              <a:t>meta 15%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44418" y="1828800"/>
            <a:ext cx="2612898" cy="23774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44418" y="1828800"/>
            <a:ext cx="2612898" cy="7315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81577" y="2057400"/>
            <a:ext cx="2338578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858585"/>
                </a:solidFill>
                <a:latin typeface="Segoe UI"/>
              </a:rPr>
              <a:t>DISPONIBILIDADE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81577" y="2423160"/>
            <a:ext cx="2338578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4000" b="1" i="0">
                <a:solidFill>
                  <a:srgbClr val="2D2D2D"/>
                </a:solidFill>
                <a:latin typeface="Segoe UI"/>
              </a:rPr>
              <a:t>99,7%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81577" y="3429000"/>
            <a:ext cx="2338578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Segoe UI"/>
              </a:rPr>
              <a:t>SLA 99,5%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31636" y="1828800"/>
            <a:ext cx="2612898" cy="23774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1636" y="1828800"/>
            <a:ext cx="2612898" cy="7315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68796" y="2057400"/>
            <a:ext cx="2338578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858585"/>
                </a:solidFill>
                <a:latin typeface="Segoe UI"/>
              </a:rPr>
              <a:t>TEMPO DE RESPOSTA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68796" y="2423160"/>
            <a:ext cx="2338578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4000" b="1" i="0">
                <a:solidFill>
                  <a:srgbClr val="2D2D2D"/>
                </a:solidFill>
                <a:latin typeface="Segoe UI"/>
              </a:rPr>
              <a:t>2 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8796" y="3429000"/>
            <a:ext cx="2338578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Segoe UI"/>
              </a:rPr>
              <a:t>SLA 4 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18854" y="1828800"/>
            <a:ext cx="2612898" cy="23774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18854" y="1828800"/>
            <a:ext cx="2612898" cy="7315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56014" y="2057400"/>
            <a:ext cx="2338578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858585"/>
                </a:solidFill>
                <a:latin typeface="Segoe UI"/>
              </a:rPr>
              <a:t>ADOÇÃO (USUÁRIOS ATIVOS)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56014" y="2423160"/>
            <a:ext cx="2338578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4000" b="1" i="0">
                <a:solidFill>
                  <a:srgbClr val="2D2D2D"/>
                </a:solidFill>
                <a:latin typeface="Segoe UI"/>
              </a:rPr>
              <a:t>84%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56014" y="3429000"/>
            <a:ext cx="2338578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Segoe UI"/>
              </a:rPr>
              <a:t>meta 80%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1792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1B2A49"/>
                </a:solidFill>
                <a:latin typeface="Segoe UI"/>
              </a:rPr>
              <a:t>Economia acumulada de R$ 420 mil desde o início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858585"/>
                </a:solidFill>
                <a:latin typeface="Segoe UI"/>
              </a:rPr>
              <a:t>EMPRESA EXEMPLO  |  REVISÃO TRIMESTRAL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0" i="0">
                <a:solidFill>
                  <a:srgbClr val="858585"/>
                </a:solidFill>
                <a:latin typeface="Segoe UI"/>
              </a:rPr>
              <a:t>out/2026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2E86AB"/>
                </a:solidFill>
                <a:latin typeface="Segoe UI"/>
              </a:rPr>
              <a:t>RESULTADO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7455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0" i="0">
                <a:solidFill>
                  <a:srgbClr val="858585"/>
                </a:solidFill>
                <a:latin typeface="Segoe UI"/>
              </a:rPr>
              <a:t>R$ mil por mês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858585"/>
                </a:solidFill>
                <a:latin typeface="Segoe UI"/>
              </a:rPr>
              <a:t>Fonte: Faturas de energia e medição da plataforma   |   Confidencial - preparado para Cliente Exemplo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858585"/>
                </a:solidFill>
                <a:latin typeface="Segoe U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6217920"/>
            <a:ext cx="18288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1" i="0">
                <a:solidFill>
                  <a:srgbClr val="1B2A49"/>
                </a:solidFill>
                <a:latin typeface="Segoe UI"/>
              </a:rPr>
              <a:t>EMPRESA EXEMPLO</a:t>
            </a:r>
          </a:p>
        </p:txBody>
      </p:sp>
      <p:graphicFrame>
        <p:nvGraphicFramePr>
          <p:cNvPr id="10" name="Chart 9" descr="Economia acumulada de R$ 420 mil desde o início"/>
          <p:cNvGraphicFramePr>
            <a:graphicFrameLocks noGrp="1"/>
          </p:cNvGraphicFramePr>
          <p:nvPr/>
        </p:nvGraphicFramePr>
        <p:xfrm>
          <a:off x="457200" y="2011680"/>
          <a:ext cx="11274552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1792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1B2A49"/>
                </a:solidFill>
                <a:latin typeface="Segoe UI"/>
              </a:rPr>
              <a:t>Integração com o MES foi o ponto de atrito do trimestre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858585"/>
                </a:solidFill>
                <a:latin typeface="Segoe UI"/>
              </a:rPr>
              <a:t>EMPRESA EXEMPLO  |  REVISÃO TRIMESTRAL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0" i="0">
                <a:solidFill>
                  <a:srgbClr val="858585"/>
                </a:solidFill>
                <a:latin typeface="Segoe UI"/>
              </a:rPr>
              <a:t>out/2026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2E86AB"/>
                </a:solidFill>
                <a:latin typeface="Segoe UI"/>
              </a:rPr>
              <a:t>BALANÇO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858585"/>
                </a:solidFill>
                <a:latin typeface="Segoe UI"/>
              </a:rPr>
              <a:t>Confidencial - preparado para Cliente Exemplo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858585"/>
                </a:solidFill>
                <a:latin typeface="Segoe U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6217920"/>
            <a:ext cx="18288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1" i="0">
                <a:solidFill>
                  <a:srgbClr val="1B2A49"/>
                </a:solidFill>
                <a:latin typeface="Segoe UI"/>
              </a:rPr>
              <a:t>EMPRESA EXEMPLO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5500116" cy="54864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800" b="1" i="0">
                <a:solidFill>
                  <a:srgbClr val="2E7D32"/>
                </a:solidFill>
                <a:latin typeface="Segoe UI"/>
              </a:rPr>
              <a:t>Funcionou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331720"/>
            <a:ext cx="5500116" cy="2743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514600"/>
            <a:ext cx="5500116" cy="3611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28600" indent="-228600">
              <a:spcAft>
                <a:spcPts val="800"/>
              </a:spcAft>
              <a:buClr>
                <a:srgbClr val="2E7D32"/>
              </a:buClr>
              <a:buChar char="•"/>
            </a:pPr>
            <a:r>
              <a:rPr sz="1500" b="0" i="0">
                <a:solidFill>
                  <a:srgbClr val="2D2D2D"/>
                </a:solidFill>
                <a:latin typeface="Segoe UI"/>
              </a:rPr>
              <a:t>Alertas de consumo anômalo evitaram 3 paradas</a:t>
            </a:r>
          </a:p>
          <a:p>
            <a:pPr marL="228600" indent="-228600">
              <a:spcAft>
                <a:spcPts val="800"/>
              </a:spcAft>
              <a:buClr>
                <a:srgbClr val="2E7D32"/>
              </a:buClr>
              <a:buChar char="•"/>
            </a:pPr>
            <a:r>
              <a:rPr sz="1500" b="0" i="0">
                <a:solidFill>
                  <a:srgbClr val="2D2D2D"/>
                </a:solidFill>
                <a:latin typeface="Segoe UI"/>
              </a:rPr>
              <a:t>Treinamento dos turnos concluído</a:t>
            </a:r>
          </a:p>
          <a:p>
            <a:pPr marL="228600" indent="-228600">
              <a:spcAft>
                <a:spcPts val="800"/>
              </a:spcAft>
              <a:buClr>
                <a:srgbClr val="2E7D32"/>
              </a:buClr>
              <a:buChar char="•"/>
            </a:pPr>
            <a:r>
              <a:rPr sz="1500" b="0" i="0">
                <a:solidFill>
                  <a:srgbClr val="2D2D2D"/>
                </a:solidFill>
                <a:latin typeface="Segoe UI"/>
              </a:rPr>
              <a:t>Relatório mensal automatizado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1636" y="1737360"/>
            <a:ext cx="5500116" cy="54864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800" b="1" i="0">
                <a:solidFill>
                  <a:srgbClr val="C62828"/>
                </a:solidFill>
                <a:latin typeface="Segoe UI"/>
              </a:rPr>
              <a:t>Precisa melhorar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1636" y="2331720"/>
            <a:ext cx="5500116" cy="27432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31636" y="2514600"/>
            <a:ext cx="5500116" cy="3611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28600" indent="-228600">
              <a:spcAft>
                <a:spcPts val="800"/>
              </a:spcAft>
              <a:buClr>
                <a:srgbClr val="C62828"/>
              </a:buClr>
              <a:buChar char="•"/>
            </a:pPr>
            <a:r>
              <a:rPr sz="1500" b="0" i="0">
                <a:solidFill>
                  <a:srgbClr val="2D2D2D"/>
                </a:solidFill>
                <a:latin typeface="Segoe UI"/>
              </a:rPr>
              <a:t>Integração com o MES atrasou 3 semanas (nossa responsabilidade)</a:t>
            </a:r>
          </a:p>
          <a:p>
            <a:pPr marL="228600" indent="-228600">
              <a:spcAft>
                <a:spcPts val="800"/>
              </a:spcAft>
              <a:buClr>
                <a:srgbClr val="C62828"/>
              </a:buClr>
              <a:buChar char="•"/>
            </a:pPr>
            <a:r>
              <a:rPr sz="1500" b="0" i="0">
                <a:solidFill>
                  <a:srgbClr val="2D2D2D"/>
                </a:solidFill>
                <a:latin typeface="Segoe UI"/>
              </a:rPr>
              <a:t>Dois chamados acima do SLA em agosto</a:t>
            </a:r>
          </a:p>
          <a:p>
            <a:pPr marL="228600" indent="-228600">
              <a:spcAft>
                <a:spcPts val="800"/>
              </a:spcAft>
              <a:buClr>
                <a:srgbClr val="C62828"/>
              </a:buClr>
              <a:buChar char="•"/>
            </a:pPr>
            <a:r>
              <a:rPr sz="1500" b="0" i="0">
                <a:solidFill>
                  <a:srgbClr val="2D2D2D"/>
                </a:solidFill>
                <a:latin typeface="Segoe UI"/>
              </a:rPr>
              <a:t>Painel de turno ainda manual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1792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1B2A49"/>
                </a:solidFill>
                <a:latin typeface="Segoe UI"/>
              </a:rPr>
              <a:t>Três prioridades para o 4T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858585"/>
                </a:solidFill>
                <a:latin typeface="Segoe UI"/>
              </a:rPr>
              <a:t>EMPRESA EXEMPLO  |  REVISÃO TRIMESTRAL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0" i="0">
                <a:solidFill>
                  <a:srgbClr val="858585"/>
                </a:solidFill>
                <a:latin typeface="Segoe UI"/>
              </a:rPr>
              <a:t>out/2026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2E86AB"/>
                </a:solidFill>
                <a:latin typeface="Segoe UI"/>
              </a:rPr>
              <a:t>PRÓXIMO TRIMESTRE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858585"/>
                </a:solidFill>
                <a:latin typeface="Segoe UI"/>
              </a:rPr>
              <a:t>Confidencial - preparado para Cliente Exemplo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858585"/>
                </a:solidFill>
                <a:latin typeface="Segoe U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6217920"/>
            <a:ext cx="18288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1" i="0">
                <a:solidFill>
                  <a:srgbClr val="1B2A49"/>
                </a:solidFill>
                <a:latin typeface="Segoe UI"/>
              </a:rPr>
              <a:t>EMPRESA EXEMPLO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3575304" cy="42062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828800"/>
            <a:ext cx="3575304" cy="54864"/>
          </a:xfrm>
          <a:prstGeom prst="rect">
            <a:avLst/>
          </a:prstGeom>
          <a:solidFill>
            <a:srgbClr val="1B2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11680"/>
            <a:ext cx="1371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200" b="1" i="0">
                <a:solidFill>
                  <a:srgbClr val="1B2A49"/>
                </a:solidFill>
                <a:latin typeface="Segoe U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60320"/>
            <a:ext cx="3118104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1" i="0">
                <a:solidFill>
                  <a:srgbClr val="2D2D2D"/>
                </a:solidFill>
                <a:latin typeface="Segoe UI"/>
              </a:rPr>
              <a:t>Fechar a integração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246120"/>
            <a:ext cx="3118104" cy="2651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2D2D2D"/>
                </a:solidFill>
                <a:latin typeface="Segoe UI"/>
              </a:rPr>
              <a:t>MES integrado até 15/11, com validação conjunta.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06824" y="1828800"/>
            <a:ext cx="3575304" cy="42062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06824" y="1828800"/>
            <a:ext cx="3575304" cy="54864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35424" y="2011680"/>
            <a:ext cx="1371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200" b="1" i="0">
                <a:solidFill>
                  <a:srgbClr val="2E86AB"/>
                </a:solidFill>
                <a:latin typeface="Segoe U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5424" y="2560320"/>
            <a:ext cx="3118104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1" i="0">
                <a:solidFill>
                  <a:srgbClr val="2D2D2D"/>
                </a:solidFill>
                <a:latin typeface="Segoe UI"/>
              </a:rPr>
              <a:t>Painel de turno automático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3246120"/>
            <a:ext cx="3118104" cy="2651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2D2D2D"/>
                </a:solidFill>
                <a:latin typeface="Segoe UI"/>
              </a:rPr>
              <a:t>Substituir o painel manual pela tela de gestão à vista.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56448" y="1828800"/>
            <a:ext cx="3575304" cy="42062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6448" y="1828800"/>
            <a:ext cx="3575304" cy="54864"/>
          </a:xfrm>
          <a:prstGeom prst="rect">
            <a:avLst/>
          </a:prstGeom>
          <a:solidFill>
            <a:srgbClr val="F26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5048" y="2011680"/>
            <a:ext cx="1371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200" b="1" i="0">
                <a:solidFill>
                  <a:srgbClr val="F26419"/>
                </a:solidFill>
                <a:latin typeface="Segoe U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5048" y="2560320"/>
            <a:ext cx="3118104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1" i="0">
                <a:solidFill>
                  <a:srgbClr val="2D2D2D"/>
                </a:solidFill>
                <a:latin typeface="Segoe UI"/>
              </a:rPr>
              <a:t>Estender para a planta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5048" y="3246120"/>
            <a:ext cx="3118104" cy="2651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2D2D2D"/>
                </a:solidFill>
                <a:latin typeface="Segoe UI"/>
              </a:rPr>
              <a:t>Avaliar piloto em janeiro, se o cliente tiver interesse.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1792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1B2A49"/>
                </a:solidFill>
                <a:latin typeface="Segoe UI"/>
              </a:rPr>
              <a:t>Próximos passos dos dois lados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858585"/>
                </a:solidFill>
                <a:latin typeface="Segoe UI"/>
              </a:rPr>
              <a:t>EMPRESA EXEMPLO  |  REVISÃO TRIMESTRAL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0" i="0">
                <a:solidFill>
                  <a:srgbClr val="858585"/>
                </a:solidFill>
                <a:latin typeface="Segoe UI"/>
              </a:rPr>
              <a:t>out/2026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2E86AB"/>
                </a:solidFill>
                <a:latin typeface="Segoe UI"/>
              </a:rPr>
              <a:t>PRÓXIMOS PASSOS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858585"/>
                </a:solidFill>
                <a:latin typeface="Segoe UI"/>
              </a:rPr>
              <a:t>Confidencial - preparado para Cliente Exemplo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858585"/>
                </a:solidFill>
                <a:latin typeface="Segoe U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6217920"/>
            <a:ext cx="18288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1" i="0">
                <a:solidFill>
                  <a:srgbClr val="1B2A49"/>
                </a:solidFill>
                <a:latin typeface="Segoe UI"/>
              </a:rPr>
              <a:t>EMPRESA EXEMPLO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737360"/>
          <a:ext cx="11274552" cy="18288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943600"/>
                <a:gridCol w="1828800"/>
                <a:gridCol w="1371600"/>
                <a:gridCol w="2130552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Ação</a:t>
                      </a:r>
                    </a:p>
                  </a:txBody>
                  <a:tcPr anchor="ctr" marL="73152" marR="73152"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Dono</a:t>
                      </a:r>
                    </a:p>
                  </a:txBody>
                  <a:tcPr anchor="ctr" marL="73152" marR="73152"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Prazo</a:t>
                      </a:r>
                    </a:p>
                  </a:txBody>
                  <a:tcPr anchor="ctr" marL="73152" marR="73152"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Status</a:t>
                      </a:r>
                    </a:p>
                  </a:txBody>
                  <a:tcPr anchor="ctr" marL="73152" marR="73152">
                    <a:solidFill>
                      <a:srgbClr val="1B2A4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D2D2D"/>
                          </a:solidFill>
                          <a:latin typeface="Segoe UI"/>
                        </a:rPr>
                        <a:t>Concluir integração MES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D2D2D"/>
                          </a:solidFill>
                          <a:latin typeface="Segoe UI"/>
                        </a:rPr>
                        <a:t>Nós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D2D2D"/>
                          </a:solidFill>
                          <a:latin typeface="Segoe UI"/>
                        </a:rPr>
                        <a:t>15/11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Em andamento</a:t>
                      </a:r>
                    </a:p>
                  </a:txBody>
                  <a:tcPr anchor="ctr" marL="73152" marR="73152">
                    <a:solidFill>
                      <a:srgbClr val="F9A82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D2D2D"/>
                          </a:solidFill>
                          <a:latin typeface="Segoe UI"/>
                        </a:rPr>
                        <a:t>Liberar acesso ao MES de homologação</a:t>
                      </a:r>
                    </a:p>
                  </a:txBody>
                  <a:tcPr anchor="ctr" marL="73152" marR="73152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D2D2D"/>
                          </a:solidFill>
                          <a:latin typeface="Segoe UI"/>
                        </a:rPr>
                        <a:t>Cliente (TI)</a:t>
                      </a:r>
                    </a:p>
                  </a:txBody>
                  <a:tcPr anchor="ctr" marL="73152" marR="73152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D2D2D"/>
                          </a:solidFill>
                          <a:latin typeface="Segoe UI"/>
                        </a:rPr>
                        <a:t>20/10</a:t>
                      </a:r>
                    </a:p>
                  </a:txBody>
                  <a:tcPr anchor="ctr" marL="73152" marR="73152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858585"/>
                          </a:solidFill>
                          <a:latin typeface="Segoe UI"/>
                        </a:rPr>
                        <a:t>Não iniciada</a:t>
                      </a:r>
                    </a:p>
                  </a:txBody>
                  <a:tcPr anchor="ctr" marL="73152" marR="73152">
                    <a:solidFill>
                      <a:srgbClr val="F4F4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D2D2D"/>
                          </a:solidFill>
                          <a:latin typeface="Segoe UI"/>
                        </a:rPr>
                        <a:t>Definir escopo do piloto na planta 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D2D2D"/>
                          </a:solidFill>
                          <a:latin typeface="Segoe UI"/>
                        </a:rPr>
                        <a:t>Ambos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D2D2D"/>
                          </a:solidFill>
                          <a:latin typeface="Segoe UI"/>
                        </a:rPr>
                        <a:t>dez/26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858585"/>
                          </a:solidFill>
                          <a:latin typeface="Segoe UI"/>
                        </a:rPr>
                        <a:t>Não iniciada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698480" cy="128016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Segoe UI"/>
              </a:rPr>
              <a:t>Próxima revisão: janeiro/27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749039"/>
            <a:ext cx="1069848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900" b="0" i="0">
                <a:solidFill>
                  <a:srgbClr val="D9E1EA"/>
                </a:solidFill>
                <a:latin typeface="Segoe UI"/>
              </a:rPr>
              <a:t>gerente.conta@empresa-exemplo.com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26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0" y="457200"/>
            <a:ext cx="13716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Segoe UI"/>
              </a:rPr>
              <a:t>EMPRESA EXEMPLO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