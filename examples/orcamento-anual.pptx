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D9E1EA"/>
                </a:solidFill>
                <a:latin typeface="Arial"/>
              </a:rPr>
              <a:t>EMPRESA EXEMPLO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B8860B"/>
                </a:solidFill>
                <a:latin typeface="Arial"/>
              </a:rPr>
              <a:t>PLANEJAMENTO FINANCEIRO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17373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Orçamento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3152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9E1EA"/>
                </a:solidFill>
                <a:latin typeface="Arial"/>
              </a:rPr>
              <a:t>Versão para aprovação da diretoria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920240"/>
            <a:ext cx="3319272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1920240"/>
            <a:ext cx="73152" cy="246888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2057400"/>
            <a:ext cx="2971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7F7F7F"/>
                </a:solidFill>
                <a:latin typeface="Arial"/>
              </a:rPr>
              <a:t>TESE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423160"/>
            <a:ext cx="297180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B2545"/>
                </a:solidFill>
                <a:latin typeface="Arial"/>
              </a:rPr>
              <a:t>Crescer 12% em receita mantendo a margem em 19%, com R$ 15 mi de capex concentrado em capacidade.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BFC9D4"/>
                </a:solidFill>
                <a:latin typeface="Arial"/>
              </a:rPr>
              <a:t>nov/2026 | Uso interno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457200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EMPRESA EXEMPLO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Sumário executivo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7F7F7F"/>
                </a:solidFill>
                <a:latin typeface="Arial"/>
              </a:rPr>
              <a:t>EMPRESA EXEMPLO  |  ORÇAMENTO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Arial"/>
              </a:rPr>
              <a:t>nov/2026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C6F82"/>
                </a:solidFill>
                <a:latin typeface="Arial"/>
              </a:rPr>
              <a:t>SUMÁRIO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rial"/>
              </a:rPr>
              <a:t>Fonte: Consolidação FP&amp;A, nov/26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0B2545"/>
                </a:solidFill>
                <a:latin typeface="Arial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11274552" cy="10058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73152" cy="10058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1088136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Arial"/>
              </a:rPr>
              <a:t>Orçamento 2027 cresce receita 12% com margem estável e capex de R$ 15 mi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971800"/>
            <a:ext cx="411480" cy="41148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926080"/>
            <a:ext cx="10515600" cy="792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2B2B2B"/>
                </a:solidFill>
                <a:latin typeface="Arial"/>
              </a:rPr>
              <a:t>Receita de R$ 540 mi (+12%): volume +7%, preço +5%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764279"/>
            <a:ext cx="411480" cy="41148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18560"/>
            <a:ext cx="10515600" cy="792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2B2B2B"/>
                </a:solidFill>
                <a:latin typeface="Arial"/>
              </a:rPr>
              <a:t>EBITDA de R$ 103 mi (19,1%), despesas crescem 8%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556760"/>
            <a:ext cx="411480" cy="41148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511040"/>
            <a:ext cx="10515600" cy="792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2B2B2B"/>
                </a:solidFill>
                <a:latin typeface="Arial"/>
              </a:rPr>
              <a:t>Capex de R$ 15 mi, 70% em capacidade; headcount +6%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94960"/>
            <a:ext cx="1127455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394960"/>
            <a:ext cx="109728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Arial"/>
              </a:rPr>
              <a:t/>
            </a:r>
            <a:r>
              <a:rPr sz="1600" b="1" i="0">
                <a:solidFill>
                  <a:srgbClr val="B8860B"/>
                </a:solidFill>
                <a:latin typeface="Arial"/>
              </a:rPr>
              <a:t>Pedimos:  </a:t>
            </a:r>
            <a:r>
              <a:rPr sz="1600" b="1" i="0">
                <a:solidFill>
                  <a:srgbClr val="2B2B2B"/>
                </a:solidFill>
                <a:latin typeface="Arial"/>
              </a:rPr>
              <a:t>Aprovar o orçamento e a regra de revisão trimestral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Crescimento com margem mantida em 19%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7F7F7F"/>
                </a:solidFill>
                <a:latin typeface="Arial"/>
              </a:rPr>
              <a:t>EMPRESA EXEMPLO  |  ORÇAMENTO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Arial"/>
              </a:rPr>
              <a:t>nov/2026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C6F82"/>
                </a:solidFill>
                <a:latin typeface="Arial"/>
              </a:rPr>
              <a:t>NÚMEROS-CHAVE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rial"/>
              </a:rPr>
              <a:t>Fonte: FP&amp;A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0B2545"/>
                </a:solidFill>
                <a:latin typeface="Arial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612898" cy="23774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2612898" cy="7315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Arial"/>
              </a:rPr>
              <a:t>RECEITA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2B2B2B"/>
                </a:solidFill>
                <a:latin typeface="Arial"/>
              </a:rPr>
              <a:t>R$ 540 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Arial"/>
              </a:rPr>
              <a:t>+12% vs. forecast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4418" y="1828800"/>
            <a:ext cx="2612898" cy="23774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44418" y="1828800"/>
            <a:ext cx="2612898" cy="7315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1577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Arial"/>
              </a:rPr>
              <a:t>EBITDA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1577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2B2B2B"/>
                </a:solidFill>
                <a:latin typeface="Arial"/>
              </a:rPr>
              <a:t>R$ 103 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1577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Arial"/>
              </a:rPr>
              <a:t>19,1% (19,0% em 2026)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1828800"/>
            <a:ext cx="2612898" cy="23774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1828800"/>
            <a:ext cx="2612898" cy="7315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8796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Arial"/>
              </a:rPr>
              <a:t>CAPEX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8796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2B2B2B"/>
                </a:solidFill>
                <a:latin typeface="Arial"/>
              </a:rPr>
              <a:t>R$ 15 mi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Arial"/>
              </a:rPr>
              <a:t>+R$ 4 mi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18854" y="1828800"/>
            <a:ext cx="2612898" cy="23774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18854" y="1828800"/>
            <a:ext cx="2612898" cy="7315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6014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Arial"/>
              </a:rPr>
              <a:t>HEADCOUNT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6014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2B2B2B"/>
                </a:solidFill>
                <a:latin typeface="Arial"/>
              </a:rPr>
              <a:t>412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6014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Arial"/>
              </a:rPr>
              <a:t>+6%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Volume e preço somam R$ 6 mi; despesas crescem R$ 2 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7F7F7F"/>
                </a:solidFill>
                <a:latin typeface="Arial"/>
              </a:rPr>
              <a:t>EMPRESA EXEMPLO  |  ORÇAMENTO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Arial"/>
              </a:rPr>
              <a:t>nov/2026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C6F82"/>
                </a:solidFill>
                <a:latin typeface="Arial"/>
              </a:rPr>
              <a:t>PONTE DE EBITDA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7455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7F7F7F"/>
                </a:solidFill>
                <a:latin typeface="Arial"/>
              </a:rPr>
              <a:t>R$ mi, forecast 2026 para orçamento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rial"/>
              </a:rPr>
              <a:t>Fonte: FP&amp;A   |   Uso interno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0B2545"/>
                </a:solidFill>
                <a:latin typeface="Arial"/>
              </a:rPr>
              <a:t>EMPRESA EXEMPLO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5394960"/>
            <a:ext cx="11274552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63223" y="2624406"/>
            <a:ext cx="998603" cy="2770553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8903" y="2276934"/>
            <a:ext cx="1547243" cy="320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2B2B2B"/>
                </a:solidFill>
                <a:latin typeface="Arial"/>
              </a:rPr>
              <a:t>91,6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468112"/>
            <a:ext cx="161065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Arial"/>
              </a:rPr>
              <a:t>Forecast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3873" y="2418732"/>
            <a:ext cx="998603" cy="205674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99553" y="2071260"/>
            <a:ext cx="1547243" cy="320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  <a:latin typeface="Arial"/>
              </a:rPr>
              <a:t>+6,8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67850" y="5468112"/>
            <a:ext cx="161065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Arial"/>
              </a:rPr>
              <a:t>Volume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61826" y="2624406"/>
            <a:ext cx="612047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984524" y="2240280"/>
            <a:ext cx="998603" cy="178452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10204" y="1892808"/>
            <a:ext cx="1547243" cy="320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  <a:latin typeface="Arial"/>
              </a:rPr>
              <a:t>+5,9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8500" y="5468112"/>
            <a:ext cx="161065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Arial"/>
              </a:rPr>
              <a:t>Preço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72477" y="2418732"/>
            <a:ext cx="612047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595174" y="2240280"/>
            <a:ext cx="998603" cy="96787"/>
          </a:xfrm>
          <a:prstGeom prst="rect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20854" y="1892808"/>
            <a:ext cx="1547243" cy="320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B71C1C"/>
                </a:solidFill>
                <a:latin typeface="Arial"/>
              </a:rPr>
              <a:t>-3,2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9150" y="5468112"/>
            <a:ext cx="161065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Arial"/>
              </a:rPr>
              <a:t>Custo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983127" y="2240280"/>
            <a:ext cx="612047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205824" y="2337067"/>
            <a:ext cx="998603" cy="63517"/>
          </a:xfrm>
          <a:prstGeom prst="rect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31504" y="1989595"/>
            <a:ext cx="1547243" cy="320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B71C1C"/>
                </a:solidFill>
                <a:latin typeface="Arial"/>
              </a:rPr>
              <a:t>-2,1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9801" y="5468112"/>
            <a:ext cx="161065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Arial"/>
              </a:rPr>
              <a:t>Despesas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93777" y="2337067"/>
            <a:ext cx="612047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8816474" y="2279600"/>
            <a:ext cx="998603" cy="120984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2154" y="1932128"/>
            <a:ext cx="1547243" cy="320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1B5E20"/>
                </a:solidFill>
                <a:latin typeface="Arial"/>
              </a:rPr>
              <a:t>+4,0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10451" y="5468112"/>
            <a:ext cx="161065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Arial"/>
              </a:rPr>
              <a:t>Novos negócios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204427" y="2400584"/>
            <a:ext cx="612047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0427125" y="2279600"/>
            <a:ext cx="998603" cy="3115359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52805" y="1932128"/>
            <a:ext cx="1547243" cy="3200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2B2B2B"/>
                </a:solidFill>
                <a:latin typeface="Arial"/>
              </a:rPr>
              <a:t>103,0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21101" y="5468112"/>
            <a:ext cx="161065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Arial"/>
              </a:rPr>
              <a:t>Orçamento 2027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815078" y="2279600"/>
            <a:ext cx="612047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Premissas conservadoras em câmbio e inflação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7F7F7F"/>
                </a:solidFill>
                <a:latin typeface="Arial"/>
              </a:rPr>
              <a:t>EMPRESA EXEMPLO  |  ORÇAMENTO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Arial"/>
              </a:rPr>
              <a:t>nov/2026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C6F82"/>
                </a:solidFill>
                <a:latin typeface="Arial"/>
              </a:rPr>
              <a:t>PREMISSAS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rial"/>
              </a:rPr>
              <a:t>Fonte: FP&amp;A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0B2545"/>
                </a:solidFill>
                <a:latin typeface="Arial"/>
              </a:rPr>
              <a:t>EMPRESA EXEMPLO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74552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Premissa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2026 (forecast)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2027 (orçamento)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Fonte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Câmbio (R$/US$)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5,40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5,60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Boletim Focus, out/26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Inflação (IPCA)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4,0%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Boletim Focus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Volume (t)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48.000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51.400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Plano comercial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Preço médio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+4%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+5%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Política de preços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Reajuste salarial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Convenção coletiva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No pessimista, EBITDA cai a R$ 88 mi e o capex é escalonado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7F7F7F"/>
                </a:solidFill>
                <a:latin typeface="Arial"/>
              </a:rPr>
              <a:t>EMPRESA EXEMPLO  |  ORÇAMENTO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Arial"/>
              </a:rPr>
              <a:t>nov/2026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C6F82"/>
                </a:solidFill>
                <a:latin typeface="Arial"/>
              </a:rPr>
              <a:t>CENÁRIOS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rial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0B2545"/>
                </a:solidFill>
                <a:latin typeface="Arial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3575304" cy="429768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3575304" cy="6400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357530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Pessimista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60320"/>
            <a:ext cx="3300984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Volume +2%, câmbio 6,20</a:t>
            </a:r>
          </a:p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EBITDA R$ 88 mi (17,5%)</a:t>
            </a:r>
          </a:p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Gatilho: 2 meses abaixo de 90% da meta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6824" y="1737360"/>
            <a:ext cx="3575304" cy="4297680"/>
          </a:xfrm>
          <a:prstGeom prst="rect">
            <a:avLst/>
          </a:prstGeom>
          <a:solidFill>
            <a:srgbClr val="EFF1F3"/>
          </a:solidFill>
          <a:ln w="254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6824" y="1737360"/>
            <a:ext cx="3575304" cy="6400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06824" y="1737360"/>
            <a:ext cx="357530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Base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9088" y="1554480"/>
            <a:ext cx="1371600" cy="3200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554480"/>
            <a:ext cx="13716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Recomendada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2560320"/>
            <a:ext cx="3300984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Volume +7%, câmbio 5,60</a:t>
            </a:r>
          </a:p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EBITDA R$ 103 mi (19,1%)</a:t>
            </a:r>
          </a:p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Capex integral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56448" y="1737360"/>
            <a:ext cx="3575304" cy="429768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6448" y="1737360"/>
            <a:ext cx="3575304" cy="6400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6448" y="1737360"/>
            <a:ext cx="357530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Otimista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560320"/>
            <a:ext cx="3300984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Volume +10%, câmbio 5,30</a:t>
            </a:r>
          </a:p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EBITDA R$ 114 mi (20,2%)</a:t>
            </a:r>
          </a:p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Gatilho: antecipar fase 2 da planta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Aprovar o orçamento e a regra de revisão trimestral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7F7F7F"/>
                </a:solidFill>
                <a:latin typeface="Arial"/>
              </a:rPr>
              <a:t>EMPRESA EXEMPLO  |  ORÇAMENTO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7F7F7F"/>
                </a:solidFill>
                <a:latin typeface="Arial"/>
              </a:rPr>
              <a:t>nov/2026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5C6F82"/>
                </a:solidFill>
                <a:latin typeface="Arial"/>
              </a:rPr>
              <a:t>DECISÕES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rial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0B2545"/>
                </a:solidFill>
                <a:latin typeface="Arial"/>
              </a:rPr>
              <a:t>EMPRESA EXEMPLO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74552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0"/>
                <a:gridCol w="1828800"/>
                <a:gridCol w="13716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Ação</a:t>
                      </a:r>
                    </a:p>
                  </a:txBody>
                  <a:tcPr anchor="ctr" marL="73152" marR="7315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Dono</a:t>
                      </a:r>
                    </a:p>
                  </a:txBody>
                  <a:tcPr anchor="ctr" marL="73152" marR="7315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anchor="ctr" marL="73152" marR="7315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anchor="ctr" marL="73152" marR="73152"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Aprovar orçamento 2027 (cenário base)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Diretoria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30/11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Em andamento</a:t>
                      </a:r>
                    </a:p>
                  </a:txBody>
                  <a:tcPr anchor="ctr" marL="73152" marR="73152">
                    <a:solidFill>
                      <a:srgbClr val="E0A8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Aprovar capex de R$ 15 mi com liberação por fase</a:t>
                      </a:r>
                    </a:p>
                  </a:txBody>
                  <a:tcPr anchor="ctr" marL="73152" marR="73152"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Diretoria</a:t>
                      </a:r>
                    </a:p>
                  </a:txBody>
                  <a:tcPr anchor="ctr" marL="73152" marR="73152"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30/11</a:t>
                      </a:r>
                    </a:p>
                  </a:txBody>
                  <a:tcPr anchor="ctr" marL="73152" marR="73152"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Em andamento</a:t>
                      </a:r>
                    </a:p>
                  </a:txBody>
                  <a:tcPr anchor="ctr" marL="73152" marR="73152">
                    <a:solidFill>
                      <a:srgbClr val="E0A8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Definir gatilhos de revisão de forecast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CFO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15/12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7F7F7F"/>
                          </a:solidFill>
                          <a:latin typeface="Arial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394960"/>
            <a:ext cx="11274552" cy="685800"/>
          </a:xfrm>
          <a:prstGeom prst="rect">
            <a:avLst/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394960"/>
            <a:ext cx="73152" cy="68580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394960"/>
            <a:ext cx="108813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Arial"/>
              </a:rPr>
              <a:t/>
            </a:r>
            <a:r>
              <a:rPr sz="1600" b="1" i="0">
                <a:solidFill>
                  <a:srgbClr val="B8860B"/>
                </a:solidFill>
                <a:latin typeface="Arial"/>
              </a:rPr>
              <a:t>Decisão pedida:  </a:t>
            </a:r>
            <a:r>
              <a:rPr sz="1600" b="1" i="0">
                <a:solidFill>
                  <a:srgbClr val="2B2B2B"/>
                </a:solidFill>
                <a:latin typeface="Arial"/>
              </a:rPr>
              <a:t>Aprovar o orçamento 2027 no cenário base com revisão trimestral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