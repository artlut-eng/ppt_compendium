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8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Arial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6A21"/>
                </a:solidFill>
                <a:latin typeface="Arial"/>
              </a:rPr>
              <a:t>SUPRIMENTOS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Revisão de fornecedores 3T26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Base de fornecedores críticos | scorecard, ocorrências e planos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C3F60"/>
                </a:solidFill>
                <a:latin typeface="Arial"/>
              </a:rPr>
              <a:t>OTIF médio de 91% com quatro fornecedores abaixo do mínimo; o fornecedor X precisa de decisão de substituição.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BFC9D4"/>
                </a:solidFill>
                <a:latin typeface="Arial"/>
              </a:rPr>
              <a:t>out/2026 | Uso interno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Arial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OTIF médio de 91%; quatro fornecedores abaixo do mínimo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PAINEL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ERP e scorecard de fornecedores, jul a set/26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1650492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FORNECEDORES ATIVOS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Arial"/>
              </a:rPr>
              <a:t>18 críticos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2012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82012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9172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GASTO NO TRIMESTRE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9172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000" b="1" i="0">
                <a:solidFill>
                  <a:srgbClr val="333333"/>
                </a:solidFill>
                <a:latin typeface="Arial"/>
              </a:rPr>
              <a:t>R$ 14,2 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9172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45% em 2 fornecedores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06824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06824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3984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OTIF MÉDIO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91%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4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meta 95%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31636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31636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68796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LOTES REJEITADOS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68796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1,4%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Arial"/>
              </a:rPr>
              <a:t>meta 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56448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6448" y="1828800"/>
            <a:ext cx="1650492" cy="7315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93608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ABAIXO DO MÍNIMO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93608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608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Arial"/>
              </a:rPr>
              <a:t>de 18 críticos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1260" y="1828800"/>
            <a:ext cx="1650492" cy="21945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081260" y="1828800"/>
            <a:ext cx="1650492" cy="7315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18420" y="2057400"/>
            <a:ext cx="13761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Arial"/>
              </a:rPr>
              <a:t>SAVING NO ANO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8420" y="2423160"/>
            <a:ext cx="1376172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300" b="1" i="0">
                <a:solidFill>
                  <a:srgbClr val="333333"/>
                </a:solidFill>
                <a:latin typeface="Arial"/>
              </a:rPr>
              <a:t>R$ 1,2 mi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18420" y="3429000"/>
            <a:ext cx="13761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80% da meta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Fornecedor X abaixo do mínimo por 3 meses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SCORECARD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Scorecard: qualidade 40%, prazo 30%, custo 15%, serviço 15%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874519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874519"/>
            <a:ext cx="6016752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17830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28600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37744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2377440"/>
            <a:ext cx="5824728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0" y="228600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91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88036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2880360"/>
            <a:ext cx="5632704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278892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29184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38328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3383280"/>
            <a:ext cx="5248655" cy="22860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329184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333333"/>
                </a:solidFill>
                <a:latin typeface="Arial"/>
              </a:rPr>
              <a:t>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88620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91840" y="3886200"/>
            <a:ext cx="4736592" cy="2286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379476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Arial"/>
              </a:rPr>
              <a:t>74 (mín. 75)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297680"/>
            <a:ext cx="274320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Arial"/>
              </a:rPr>
              <a:t>Fornecedor 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389120"/>
            <a:ext cx="6400800" cy="228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91840" y="4389120"/>
            <a:ext cx="4224528" cy="2286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297680"/>
            <a:ext cx="1947672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  <a:latin typeface="Arial"/>
              </a:rPr>
              <a:t>66 (3º mês abaixo)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Atrasos de entrega são 60% das ocorrências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OCORRÊNCIAS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Registro de ocorrências (n=70)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" y="5303520"/>
            <a:ext cx="10177272" cy="0"/>
          </a:xfrm>
          <a:prstGeom prst="line">
            <a:avLst/>
          </a:prstGeom>
          <a:ln w="952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4290" y="2011680"/>
            <a:ext cx="1221272" cy="329184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410" y="1719072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583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Atraso de entrega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9745" y="4127862"/>
            <a:ext cx="1221272" cy="1175657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6865" y="3835254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2654" y="53583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Não conformidade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5199" y="4754880"/>
            <a:ext cx="1221272" cy="548640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2319" y="4462272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8108" y="53583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Divergência de nota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70654" y="4990011"/>
            <a:ext cx="1221272" cy="313508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7774" y="4697403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3563" y="53583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Quantidade errada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108" y="5146765"/>
            <a:ext cx="1221272" cy="156754"/>
          </a:xfrm>
          <a:prstGeom prst="rect">
            <a:avLst/>
          </a:prstGeom>
          <a:solidFill>
            <a:srgbClr val="1C3F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228" y="4854157"/>
            <a:ext cx="1587032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100" b="1" i="0">
                <a:solidFill>
                  <a:srgbClr val="333333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9017" y="5358384"/>
            <a:ext cx="203545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Outros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1474927" y="2623021"/>
            <a:ext cx="2035454" cy="705395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510381" y="2293837"/>
            <a:ext cx="2035455" cy="329184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545836" y="2105732"/>
            <a:ext cx="2035454" cy="188105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581290" y="2011680"/>
            <a:ext cx="2035454" cy="94052"/>
          </a:xfrm>
          <a:prstGeom prst="line">
            <a:avLst/>
          </a:prstGeom>
          <a:ln w="2222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410919" y="3264408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7727" y="2962656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60%</a:t>
            </a:r>
          </a:p>
        </p:txBody>
      </p:sp>
      <p:sp>
        <p:nvSpPr>
          <p:cNvPr id="31" name="Oval 30"/>
          <p:cNvSpPr/>
          <p:nvPr/>
        </p:nvSpPr>
        <p:spPr>
          <a:xfrm>
            <a:off x="3446373" y="2559013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3181" y="2257261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81%</a:t>
            </a:r>
          </a:p>
        </p:txBody>
      </p:sp>
      <p:sp>
        <p:nvSpPr>
          <p:cNvPr id="33" name="Oval 32"/>
          <p:cNvSpPr/>
          <p:nvPr/>
        </p:nvSpPr>
        <p:spPr>
          <a:xfrm>
            <a:off x="5481827" y="2229829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88636" y="1928077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91%</a:t>
            </a:r>
          </a:p>
        </p:txBody>
      </p:sp>
      <p:sp>
        <p:nvSpPr>
          <p:cNvPr id="35" name="Oval 34"/>
          <p:cNvSpPr/>
          <p:nvPr/>
        </p:nvSpPr>
        <p:spPr>
          <a:xfrm>
            <a:off x="7517282" y="2041724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24090" y="1739972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97%</a:t>
            </a:r>
          </a:p>
        </p:txBody>
      </p:sp>
      <p:sp>
        <p:nvSpPr>
          <p:cNvPr id="37" name="Oval 36"/>
          <p:cNvSpPr/>
          <p:nvPr/>
        </p:nvSpPr>
        <p:spPr>
          <a:xfrm>
            <a:off x="9552736" y="1947672"/>
            <a:ext cx="128016" cy="12801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59544" y="1645920"/>
            <a:ext cx="914400" cy="27432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100%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2670048"/>
            <a:ext cx="10177272" cy="0"/>
          </a:xfrm>
          <a:prstGeom prst="line">
            <a:avLst/>
          </a:prstGeom>
          <a:ln w="9525">
            <a:solidFill>
              <a:srgbClr val="8C8C8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10680192" y="2532888"/>
            <a:ext cx="1005840" cy="2743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80% acum.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Dois fornecedores críticos com desempenho baixo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CRITICIDADE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0" y="1737360"/>
            <a:ext cx="4069080" cy="192024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Arial"/>
              </a:rPr>
              <a:t>CRÍTICO E FRACO: AGIR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X (matéria-prima única)</a:t>
            </a:r>
          </a:p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E (embalagem)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23560" y="173736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78308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Arial"/>
              </a:rPr>
              <a:t>CRÍTICO E FORTE: PROTEGER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14884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A</a:t>
            </a:r>
          </a:p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74904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Arial"/>
              </a:rPr>
              <a:t>SUBSTITUÍVEL E FRACO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F</a:t>
            </a:r>
          </a:p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3749040"/>
            <a:ext cx="4069080" cy="1920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794760"/>
            <a:ext cx="38862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8C8C8C"/>
                </a:solidFill>
                <a:latin typeface="Arial"/>
              </a:rPr>
              <a:t>SUBSTITUÍVEL E FORTE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4160520"/>
            <a:ext cx="3886200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C</a:t>
            </a:r>
          </a:p>
          <a:p>
            <a:pPr marL="228600" indent="-228600">
              <a:spcAft>
                <a:spcPts val="400"/>
              </a:spcAft>
              <a:buClr>
                <a:srgbClr val="1C3F60"/>
              </a:buClr>
              <a:buChar char="•"/>
            </a:pPr>
            <a:r>
              <a:rPr sz="1300" b="0" i="0">
                <a:solidFill>
                  <a:srgbClr val="333333"/>
                </a:solidFill>
                <a:latin typeface="Arial"/>
              </a:rPr>
              <a:t>Fornecedor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71500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8C8C8C"/>
                </a:solidFill>
                <a:latin typeface="Arial"/>
              </a:rPr>
              <a:t>Desempenho  →</a:t>
            </a:r>
          </a:p>
        </p:txBody>
      </p:sp>
      <p:sp>
        <p:nvSpPr>
          <p:cNvPr id="22" name="TextBox 21"/>
          <p:cNvSpPr txBox="1"/>
          <p:nvPr/>
        </p:nvSpPr>
        <p:spPr>
          <a:xfrm rot="16200000">
            <a:off x="457200" y="3520440"/>
            <a:ext cx="9144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8C8C8C"/>
                </a:solidFill>
                <a:latin typeface="Arial"/>
              </a:rPr>
              <a:t>Criticidade para a operação 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Três planos de desenvolvimento e uma substituição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PLANOS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Fonte: Planos de fornecedores   |   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9092"/>
                <a:gridCol w="1879092"/>
                <a:gridCol w="1879092"/>
                <a:gridCol w="1879092"/>
                <a:gridCol w="1879092"/>
                <a:gridCol w="187909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Fornecedor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Scorecard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Principal ocorrência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Plano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marL="73152" marR="73152" marT="27432" marB="27432" anchor="ctr"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Fornecedor 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Atrasos recorrentes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Substituição: homologar fornecedor 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 + Qualidade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dez/26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Fornecedor 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Não conformidade de embalagem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Desenvolvimento: plano de ação com auditoria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Qualidade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nov/26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Fornecedor 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Divergência de nota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Desenvolvimento: integração de pedidos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nov/26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Fornecedor G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Atraso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Desenvolvimento: revisão de lead time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out/26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C3F60"/>
                </a:solidFill>
                <a:latin typeface="Arial"/>
              </a:rPr>
              <a:t>Cinco ações do trimestre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Arial"/>
              </a:rPr>
              <a:t>EMPRESA EXEMPLO  |  SUPRIMENTOS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91440"/>
            <a:ext cx="3959352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0" i="0">
                <a:solidFill>
                  <a:srgbClr val="8C8C8C"/>
                </a:solidFill>
                <a:latin typeface="Arial"/>
              </a:rPr>
              <a:t>out/2026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A7BA6"/>
                </a:solidFill>
                <a:latin typeface="Arial"/>
              </a:rPr>
              <a:t>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Arial"/>
              </a:rPr>
              <a:t>Uso interno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Arial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C3F60"/>
                </a:solidFill>
                <a:latin typeface="Arial"/>
              </a:rPr>
              <a:t>EMPRESA EXEMPLO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37360"/>
          <a:ext cx="11274552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1C3F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Homologar fornecedor Y como alternativa ao X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Qualidade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15/12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Auditoria no fornecedor E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Qualidade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30/10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Renegociar contrato do fornecedor A (vence jan/27)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nov/26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Reduzir concentração: segundo fornecedor para categoria M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1T27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8C8C8C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Reunião de avaliação com fornecedores críticos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Compras + Qualidade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Arial"/>
                        </a:rPr>
                        <a:t>out/26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F9A825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394960"/>
            <a:ext cx="73152" cy="685800"/>
          </a:xfrm>
          <a:prstGeom prst="rect">
            <a:avLst/>
          </a:prstGeom>
          <a:solidFill>
            <a:srgbClr val="F26A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394960"/>
            <a:ext cx="1088136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Arial"/>
              </a:rPr>
              <a:t/>
            </a:r>
            <a:r>
              <a:rPr sz="1600" b="1" i="0">
                <a:solidFill>
                  <a:srgbClr val="F26A21"/>
                </a:solidFill>
                <a:latin typeface="Arial"/>
              </a:rPr>
              <a:t>Decisão pedida:  </a:t>
            </a:r>
            <a:r>
              <a:rPr sz="1600" b="1" i="0">
                <a:solidFill>
                  <a:srgbClr val="333333"/>
                </a:solidFill>
                <a:latin typeface="Arial"/>
              </a:rPr>
              <a:t>Aprovar a substituição do fornecedor X e o custo de homologação (R$ 60 mil)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