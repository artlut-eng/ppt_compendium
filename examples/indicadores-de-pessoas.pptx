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Voluntário</c:v>
                </c:pt>
              </c:strCache>
            </c:strRef>
          </c:tx>
          <c:spPr>
            <a:ln w="31750">
              <a:solidFill>
                <a:srgbClr val="1F3A5F"/>
              </a:solidFill>
            </a:ln>
          </c:spPr>
          <c:marker>
            <c:spPr>
              <a:solidFill>
                <a:srgbClr val="1F3A5F"/>
              </a:solidFill>
              <a:ln>
                <a:solidFill>
                  <a:srgbClr val="1F3A5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out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  <c:pt idx="5">
                  <c:v>mar</c:v>
                </c:pt>
                <c:pt idx="6">
                  <c:v>abr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  <c:pt idx="11">
                  <c:v>set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12.5</c:v>
                </c:pt>
                <c:pt idx="2">
                  <c:v>13</c:v>
                </c:pt>
                <c:pt idx="3">
                  <c:v>13.5</c:v>
                </c:pt>
                <c:pt idx="4">
                  <c:v>14</c:v>
                </c:pt>
                <c:pt idx="5">
                  <c:v>14.2</c:v>
                </c:pt>
                <c:pt idx="6">
                  <c:v>13.1</c:v>
                </c:pt>
                <c:pt idx="7">
                  <c:v>12.4</c:v>
                </c:pt>
                <c:pt idx="8">
                  <c:v>11.8</c:v>
                </c:pt>
                <c:pt idx="9">
                  <c:v>11.2</c:v>
                </c:pt>
                <c:pt idx="10">
                  <c:v>10.6</c:v>
                </c:pt>
                <c:pt idx="11">
                  <c:v>10.1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out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  <c:pt idx="5">
                  <c:v>mar</c:v>
                </c:pt>
                <c:pt idx="6">
                  <c:v>abr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ago</c:v>
                </c:pt>
                <c:pt idx="11">
                  <c:v>set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3.5</c:v>
                </c:pt>
                <c:pt idx="1">
                  <c:v>3.4</c:v>
                </c:pt>
                <c:pt idx="2">
                  <c:v>3.6</c:v>
                </c:pt>
                <c:pt idx="3">
                  <c:v>3.8</c:v>
                </c:pt>
                <c:pt idx="4">
                  <c:v>3.9</c:v>
                </c:pt>
                <c:pt idx="5">
                  <c:v>4.0</c:v>
                </c:pt>
                <c:pt idx="6">
                  <c:v>3.9</c:v>
                </c:pt>
                <c:pt idx="7">
                  <c:v>4.0</c:v>
                </c:pt>
                <c:pt idx="8">
                  <c:v>4.1</c:v>
                </c:pt>
                <c:pt idx="9">
                  <c:v>3.9</c:v>
                </c:pt>
                <c:pt idx="10">
                  <c:v>3.9</c:v>
                </c:pt>
                <c:pt idx="11">
                  <c:v>3.9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PESSOAS E CULTURA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Indicadores de pessoas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Dados agregados; sem informação individual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Turnover caiu para 14%, mas engenharia perde talentos por remuneração e carreira.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Cinco de seis indicadores dentro da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Sistema de RH e pesquisa de clima, set/26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HEADCOUNT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388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+2% no trimestre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TURNOVER ANUALIZADO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ABSENTEÍSMO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2,5%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VAGAS ABERTAS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8 em engenharia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TEMPO DE CONTRATAÇÃO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900" b="1" i="0">
                <a:solidFill>
                  <a:srgbClr val="333333"/>
                </a:solidFill>
                <a:latin typeface="Calibri"/>
              </a:rPr>
              <a:t>41 dias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ENGAJAMENTO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72%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+3 p.p.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Turnover voluntário cai desde abril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TURNOVER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% anualizado por 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Sistema de RH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10" name="Chart 9" descr="Turnover voluntário cai desde abril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Engenharia concentra 40% das saídas voluntárias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POR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Desligamentos voluntários, últimos 12 meses (n=30)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Engenharia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2560320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12 saídas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Operações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1728216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8 saídas (27%)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Comercial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1088136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5 saídas (17%)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Administrativo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6400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3 saídas (10%)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Outras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86200"/>
            <a:ext cx="384048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2 saídas (6%)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Remuneração e carreira explicam 60% das saídas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MOTIVOS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Entrevistas de saída (n=30)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CUIDADO DE LEITURA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Motivos declarados em entrevista de saída; amostra pequena, tratar como indicativo.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389120"/>
            <a:ext cx="1017727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4290" y="2011680"/>
            <a:ext cx="1221272" cy="23774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410" y="1719072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Remuneração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9745" y="2876203"/>
            <a:ext cx="1221272" cy="151291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6865" y="2583595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2654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Carreira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5199" y="3308465"/>
            <a:ext cx="1221272" cy="108065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2319" y="3015857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8108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Liderança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70654" y="3524596"/>
            <a:ext cx="1221272" cy="864523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7774" y="3231988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3563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Localização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108" y="3740727"/>
            <a:ext cx="1221272" cy="6483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228" y="3448119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9017" y="44439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Outros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474927" y="2962656"/>
            <a:ext cx="2035454" cy="554736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510381" y="2566416"/>
            <a:ext cx="2035455" cy="396240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45836" y="2249424"/>
            <a:ext cx="2035454" cy="316992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81290" y="2011680"/>
            <a:ext cx="2035454" cy="23774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410919" y="3453384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7727" y="3151632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37%</a:t>
            </a:r>
          </a:p>
        </p:txBody>
      </p:sp>
      <p:sp>
        <p:nvSpPr>
          <p:cNvPr id="35" name="Oval 34"/>
          <p:cNvSpPr/>
          <p:nvPr/>
        </p:nvSpPr>
        <p:spPr>
          <a:xfrm>
            <a:off x="3446373" y="2898648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53181" y="2596896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37" name="Oval 36"/>
          <p:cNvSpPr/>
          <p:nvPr/>
        </p:nvSpPr>
        <p:spPr>
          <a:xfrm>
            <a:off x="5481827" y="2502408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88636" y="2200656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77%</a:t>
            </a:r>
          </a:p>
        </p:txBody>
      </p:sp>
      <p:sp>
        <p:nvSpPr>
          <p:cNvPr id="39" name="Oval 38"/>
          <p:cNvSpPr/>
          <p:nvPr/>
        </p:nvSpPr>
        <p:spPr>
          <a:xfrm>
            <a:off x="7517282" y="2185416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24090" y="1883664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41" name="Oval 40"/>
          <p:cNvSpPr/>
          <p:nvPr/>
        </p:nvSpPr>
        <p:spPr>
          <a:xfrm>
            <a:off x="9552736" y="1947672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59544" y="1645920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" y="2487168"/>
            <a:ext cx="10177272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680192" y="2350008"/>
            <a:ext cx="10058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80% acum.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posições críticas sem sucessor pronto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SUCESSÃO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Mapa de sucessão (nomes no comitê de pessoas)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EXPOSIÇÃO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Nomes e avaliações individuais ficam no comitê de pessoas; este slide circula só com prontidão agregada.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Posição crítica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Sucessor pronto agora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Pronto em 1 a 3 anos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Risco de vacância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Gerência de engenharia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Sim (1)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Gerência industrial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Sim (1)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Sim (2)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Baixo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Coordenação de qualidade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Gerência comercial Sul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Sim (1)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ações de retenção para engenharia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Revisar faixas salariais de engenharia vs. mercado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 + 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15/11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Trilha de carreira técnica (especialista)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dez/26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Programa de sucessão para 3 posições críticas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1T27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revisão salarial de engenharia (impacto estimado R$ 480 mil/ano)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