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favorável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dPt>
            <c:idx val="3"/>
            <c:spPr>
              <a:solidFill>
                <a:srgbClr val="F2A900"/>
              </a:solidFill>
            </c:spPr>
          </c:dPt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65</c:v>
                </c:pt>
                <c:pt idx="2">
                  <c:v>69</c:v>
                </c:pt>
                <c:pt idx="3">
                  <c:v>72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Calibr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A900"/>
                </a:solidFill>
                <a:latin typeface="Calibri"/>
              </a:rPr>
              <a:t>PESQUISA DE CLIMA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Pesquisa de clima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Calibri"/>
              </a:rPr>
              <a:t>Resultados consolidados e plano de 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Engajamento subiu para 72%, terceira alta seguida; liderança e carreira são as dimensões a atacar.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Calibri"/>
              </a:rPr>
              <a:t>out/2026 | Uso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1.240 respostas, 78% de participação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PESQUISA DE CLIMA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MÉTODO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Plataforma de pesquisa, set/26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Calibri"/>
              </a:rPr>
              <a:t>LEITURA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Segmentos com menos de 10 respostas foram agrupados; variações menores que 2 p.p. não são tratadas como tendência.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2612898" cy="731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POPULAÇÃO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1.590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C8C8C"/>
                </a:solidFill>
                <a:latin typeface="Calibri"/>
              </a:rPr>
              <a:t>colaboradores ativos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44418" y="182880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44418" y="182880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1577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RESPOSTAS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1577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1.240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1577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78% de participação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182880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1636" y="1828800"/>
            <a:ext cx="2612898" cy="731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8796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PERÍODO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900" b="1" i="0">
                <a:solidFill>
                  <a:srgbClr val="333333"/>
                </a:solidFill>
                <a:latin typeface="Calibri"/>
              </a:rPr>
              <a:t>12 dias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C8C8C"/>
                </a:solidFill>
                <a:latin typeface="Calibri"/>
              </a:rPr>
              <a:t>01 a 12/09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18854" y="1828800"/>
            <a:ext cx="2612898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18854" y="1828800"/>
            <a:ext cx="2612898" cy="731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6014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ESCALA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6014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1 a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6014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C8C8C"/>
                </a:solidFill>
                <a:latin typeface="Calibri"/>
              </a:rPr>
              <a:t>% favorável = notas 4 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Terceira alta seguida no engajamento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PESQUISA DE CLIMA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EVOLUÇÃO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Calibri"/>
              </a:rPr>
              <a:t>% favorável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Pesquisas de clima 2023 a 2026   |   Uso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graphicFrame>
        <p:nvGraphicFramePr>
          <p:cNvPr id="10" name="Chart 9" descr="Terceira alta seguida no engajamento"/>
          <p:cNvGraphicFramePr>
            <a:graphicFrameLocks noGrp="1"/>
          </p:cNvGraphicFramePr>
          <p:nvPr/>
        </p:nvGraphicFramePr>
        <p:xfrm>
          <a:off x="457200" y="2011680"/>
          <a:ext cx="11274552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Liderança e carreira são as dimensões mais baixas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PESQUISA DE CLIMA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DIMENSÕES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Pesquisa de clima 2026 (n=1.240)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Orgulho e pertencimento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74519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5376672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178308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84%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Colaboração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37744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377440"/>
            <a:ext cx="5056632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79%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Condições de trabalho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88036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880360"/>
            <a:ext cx="4736592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78892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74%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Reconhecimento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38328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383280"/>
            <a:ext cx="4224528" cy="2286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329184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66% (-6 p.p.)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Carreira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88620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886200"/>
            <a:ext cx="3904487" cy="228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379476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61%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976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Liderança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38912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4389120"/>
            <a:ext cx="3712463" cy="228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429768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58%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Comunicação e carga de trabalho dominam os comentários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PESQUISA DE CLIMA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COMENTÁRIOS ABERTOS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512 comentários codificados em 6 temas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5303520"/>
            <a:ext cx="10177272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96442" y="2011680"/>
            <a:ext cx="1017727" cy="32918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562" y="1719072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142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Comunicação da liderança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2654" y="2568047"/>
            <a:ext cx="1017727" cy="2735472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9774" y="2275439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118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3412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Carga de trabalho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8866" y="3078050"/>
            <a:ext cx="1017727" cy="2225469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5986" y="2785442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9624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Carreira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85078" y="3889419"/>
            <a:ext cx="1017727" cy="14141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02198" y="3596811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5836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Infraestrutura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1290" y="4283513"/>
            <a:ext cx="1017727" cy="102000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8410" y="3990905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Benefícios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77502" y="4399423"/>
            <a:ext cx="1017727" cy="9040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4622" y="4106815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Outros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305306" y="3591763"/>
            <a:ext cx="1696212" cy="776874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001518" y="2959729"/>
            <a:ext cx="1696212" cy="632034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697730" y="2558125"/>
            <a:ext cx="1696212" cy="401604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393942" y="2268443"/>
            <a:ext cx="1696212" cy="289682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090154" y="2011680"/>
            <a:ext cx="1696212" cy="256763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241298" y="4304629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106" y="4002877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28%</a:t>
            </a:r>
          </a:p>
        </p:txBody>
      </p:sp>
      <p:sp>
        <p:nvSpPr>
          <p:cNvPr id="35" name="Oval 34"/>
          <p:cNvSpPr/>
          <p:nvPr/>
        </p:nvSpPr>
        <p:spPr>
          <a:xfrm>
            <a:off x="2937510" y="3527755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4318" y="3226003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52%</a:t>
            </a:r>
          </a:p>
        </p:txBody>
      </p:sp>
      <p:sp>
        <p:nvSpPr>
          <p:cNvPr id="37" name="Oval 36"/>
          <p:cNvSpPr/>
          <p:nvPr/>
        </p:nvSpPr>
        <p:spPr>
          <a:xfrm>
            <a:off x="4633722" y="2895721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40530" y="2593969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71%</a:t>
            </a:r>
          </a:p>
        </p:txBody>
      </p:sp>
      <p:sp>
        <p:nvSpPr>
          <p:cNvPr id="39" name="Oval 38"/>
          <p:cNvSpPr/>
          <p:nvPr/>
        </p:nvSpPr>
        <p:spPr>
          <a:xfrm>
            <a:off x="6329934" y="2494117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36742" y="2192365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83%</a:t>
            </a:r>
          </a:p>
        </p:txBody>
      </p:sp>
      <p:sp>
        <p:nvSpPr>
          <p:cNvPr id="41" name="Oval 40"/>
          <p:cNvSpPr/>
          <p:nvPr/>
        </p:nvSpPr>
        <p:spPr>
          <a:xfrm>
            <a:off x="8026146" y="2204435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2954" y="1902683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92%</a:t>
            </a:r>
          </a:p>
        </p:txBody>
      </p:sp>
      <p:sp>
        <p:nvSpPr>
          <p:cNvPr id="43" name="Oval 42"/>
          <p:cNvSpPr/>
          <p:nvPr/>
        </p:nvSpPr>
        <p:spPr>
          <a:xfrm>
            <a:off x="9722358" y="1947672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9166" y="1645920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2670048"/>
            <a:ext cx="10177272" cy="0"/>
          </a:xfrm>
          <a:prstGeom prst="line">
            <a:avLst/>
          </a:prstGeom>
          <a:ln w="9525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680192" y="2532888"/>
            <a:ext cx="10058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80% acum.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Três achados que exigem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PESQUISA DE CLIMA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ACHADOS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Liderança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58% favorável; comentários apontam falta de feedback e de clareza de prioridades.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4F81BD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Carreira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61% favorável; técnicos não veem trilha além da gestão.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F2A900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Reconhecimento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Caiu 6 p.p.; queda concentrada em operações e turnos noturnos.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Cinco ações com dono até o fim do 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PESQUISA DE CLIMA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PLANO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Programa de feedback estruturado para gestores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dez/26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Trilha de carreira técnica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RH + Engenharia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1T27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Ritual de reconhecimento por turno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Operações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nov/26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Devolutiva por área com plano local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Gestores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30/10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Pesquisa pulso em março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mar/27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73152" cy="685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/>
            </a:r>
            <a:r>
              <a:rPr sz="1600" b="1" i="0">
                <a:solidFill>
                  <a:srgbClr val="F2A900"/>
                </a:solidFill>
                <a:latin typeface="Calibri"/>
              </a:rPr>
              <a:t>Decisão pedida: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Aprovar o plano e a pesquisa pulso de acompanhamento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