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D5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E43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Segoe U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E4368B"/>
                </a:solidFill>
                <a:latin typeface="Segoe UI"/>
              </a:rPr>
              <a:t>PRODUTO 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Segoe UI"/>
              </a:rPr>
              <a:t>Roadmap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Segoe UI"/>
              </a:rPr>
              <a:t>Temas, horizontes, capacidade e o que fica de fora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E43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B2D7A"/>
                </a:solidFill>
                <a:latin typeface="Segoe UI"/>
              </a:rPr>
              <a:t>Três apostas (retenção, expansão, eficiência) para dobrar a adoção, com 20% da capacidade reservada para dívida técnica.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Segoe UI"/>
              </a:rPr>
              <a:t>dez/2026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Segoe U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2B2D7A"/>
                </a:solidFill>
                <a:latin typeface="Segoe UI"/>
              </a:rPr>
              <a:t>Adoção em 64%, NPS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EMPRESA EXEMPLO  |  ROADMAP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Segoe UI"/>
              </a:rPr>
              <a:t>dez/2026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FA4D9"/>
                </a:solidFill>
                <a:latin typeface="Segoe UI"/>
              </a:rPr>
              <a:t>ONDE ESTAMOS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Segoe UI"/>
              </a:rPr>
              <a:t>Fonte: Analytics do produto e backlog, nov/26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2B2D7A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Segoe UI"/>
              </a:rPr>
              <a:t>CLIENTES 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Segoe UI"/>
              </a:rPr>
              <a:t>312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+18% no ano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66974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66974" y="1828800"/>
            <a:ext cx="2035454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04134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Segoe UI"/>
              </a:rPr>
              <a:t>ADOÇÃO (FUNCIONALIDADES-CHAVE)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4134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Segoe UI"/>
              </a:rPr>
              <a:t>64%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4134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meta 80%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6748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6748" y="1828800"/>
            <a:ext cx="203545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3908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Segoe UI"/>
              </a:rPr>
              <a:t>NPS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3908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Segoe UI"/>
              </a:rPr>
              <a:t>41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3908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Segoe UI"/>
              </a:rPr>
              <a:t>+9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6523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6523" y="1828800"/>
            <a:ext cx="2035454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23683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Segoe UI"/>
              </a:rPr>
              <a:t>ENTREGAS 2S26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23683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900" b="1" i="0">
                <a:solidFill>
                  <a:srgbClr val="333333"/>
                </a:solidFill>
                <a:latin typeface="Segoe UI"/>
              </a:rPr>
              <a:t>14 de 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23683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78% do planejado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6297" y="1828800"/>
            <a:ext cx="2035454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696297" y="1828800"/>
            <a:ext cx="2035454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33457" y="2057400"/>
            <a:ext cx="176113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Segoe UI"/>
              </a:rPr>
              <a:t>DÍVIDA TÉCNICA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33457" y="2423160"/>
            <a:ext cx="176113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333333"/>
                </a:solidFill>
                <a:latin typeface="Segoe UI"/>
              </a:rPr>
              <a:t>Alta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33457" y="3429000"/>
            <a:ext cx="176113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Segoe UI"/>
              </a:rPr>
              <a:t>3 sistemas legados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2B2D7A"/>
                </a:solidFill>
                <a:latin typeface="Segoe UI"/>
              </a:rPr>
              <a:t>Três temas: retenção, expansão, eficiência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EMPRESA EXEMPLO  |  ROADMAP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Segoe UI"/>
              </a:rPr>
              <a:t>dez/2026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FA4D9"/>
                </a:solidFill>
                <a:latin typeface="Segoe UI"/>
              </a:rPr>
              <a:t>TEMAS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Segoe U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2B2D7A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3575304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Retenção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Objetivo: reduzir churn de 8% para 5%</a:t>
            </a:r>
          </a:p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Onboarding guiado e alertas proativos</a:t>
            </a:r>
          </a:p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Indicador: churn e adoção em 90 dias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06824" y="1737360"/>
            <a:ext cx="3575304" cy="4297680"/>
          </a:xfrm>
          <a:prstGeom prst="rect">
            <a:avLst/>
          </a:prstGeom>
          <a:solidFill>
            <a:srgbClr val="F2F2F2"/>
          </a:solidFill>
          <a:ln w="25400">
            <a:solidFill>
              <a:srgbClr val="E436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06824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Expansão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19088" y="1554480"/>
            <a:ext cx="1371600" cy="320040"/>
          </a:xfrm>
          <a:prstGeom prst="rect">
            <a:avLst/>
          </a:prstGeom>
          <a:solidFill>
            <a:srgbClr val="E43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1554480"/>
            <a:ext cx="1371600" cy="3200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Segoe UI"/>
              </a:rPr>
              <a:t>Recomendada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Objetivo: 30% da receita em novos módulos</a:t>
            </a:r>
          </a:p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Módulo de energia e integrações ERP</a:t>
            </a:r>
          </a:p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Indicador: receita de expansão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1737360"/>
            <a:ext cx="3575304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173736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egoe UI"/>
              </a:rPr>
              <a:t>Eficiência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560320"/>
            <a:ext cx="3300984" cy="338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Objetivo: -25% no custo por cliente</a:t>
            </a:r>
          </a:p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Migração dos 3 legados</a:t>
            </a:r>
          </a:p>
          <a:p>
            <a:pPr marL="228600" indent="-228600">
              <a:spcAft>
                <a:spcPts val="800"/>
              </a:spcAft>
              <a:buClr>
                <a:srgbClr val="2B2D7A"/>
              </a:buClr>
              <a:buChar char="•"/>
            </a:pPr>
            <a:r>
              <a:rPr sz="1500" b="0" i="0">
                <a:solidFill>
                  <a:srgbClr val="333333"/>
                </a:solidFill>
                <a:latin typeface="Segoe UI"/>
              </a:rPr>
              <a:t>Indicador: custo de infra por cliente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2B2D7A"/>
                </a:solidFill>
                <a:latin typeface="Segoe UI"/>
              </a:rPr>
              <a:t>Agora comprometido, próximo planejado, depois em exploração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EMPRESA EXEMPLO  |  ROADMAP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Segoe UI"/>
              </a:rPr>
              <a:t>dez/2026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FA4D9"/>
                </a:solidFill>
                <a:latin typeface="Segoe UI"/>
              </a:rPr>
              <a:t>HORIZONTES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Segoe UI"/>
              </a:rPr>
              <a:t>Fonte: Planejamento de produto, dez/26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2B2D7A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83080"/>
            <a:ext cx="8531352" cy="36576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83080"/>
            <a:ext cx="213283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1T27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3238" y="1783080"/>
            <a:ext cx="213283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2T27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66075" y="1783080"/>
            <a:ext cx="213283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3T27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8914" y="1783080"/>
            <a:ext cx="213283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4T27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4884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Onboarding guiado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263140"/>
            <a:ext cx="2132838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46120" y="2148840"/>
            <a:ext cx="213283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alta confiança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606040"/>
            <a:ext cx="11274552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0604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Alertas proativos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6819" y="2720340"/>
            <a:ext cx="2132838" cy="2286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06324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Módulo de energia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3238" y="3177540"/>
            <a:ext cx="3199257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8957" y="3063240"/>
            <a:ext cx="3199257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média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11274552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2044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Integração ERP (2 sistemas)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99657" y="3634740"/>
            <a:ext cx="3199257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977639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Migração legado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4091939"/>
            <a:ext cx="4265676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434840"/>
            <a:ext cx="11274552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434840"/>
            <a:ext cx="2651760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Segoe UI"/>
              </a:rPr>
              <a:t>App mobile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98914" y="4549140"/>
            <a:ext cx="2132838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44634" y="4434840"/>
            <a:ext cx="2132838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Segoe UI"/>
              </a:rPr>
              <a:t>explorando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00400" y="2148840"/>
            <a:ext cx="0" cy="2743200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333238" y="2148840"/>
            <a:ext cx="0" cy="2743200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466075" y="2148840"/>
            <a:ext cx="0" cy="2743200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98914" y="2148840"/>
            <a:ext cx="0" cy="2743200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731752" y="2148840"/>
            <a:ext cx="0" cy="2743200"/>
          </a:xfrm>
          <a:prstGeom prst="line">
            <a:avLst/>
          </a:prstGeom>
          <a:ln w="6350">
            <a:solidFill>
              <a:srgbClr val="F2F2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200400" y="1783080"/>
            <a:ext cx="0" cy="3108960"/>
          </a:xfrm>
          <a:prstGeom prst="line">
            <a:avLst/>
          </a:prstGeom>
          <a:ln w="19050">
            <a:solidFill>
              <a:srgbClr val="E436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2834640" y="4910327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000" b="1" i="0">
                <a:solidFill>
                  <a:srgbClr val="E4368B"/>
                </a:solidFill>
                <a:latin typeface="Segoe UI"/>
              </a:rPr>
              <a:t>Hoje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2B2D7A"/>
                </a:solidFill>
                <a:latin typeface="Segoe UI"/>
              </a:rPr>
              <a:t>Cinco pedidos que ficam fora deste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EMPRESA EXEMPLO  |  ROADMAP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Segoe UI"/>
              </a:rPr>
              <a:t>dez/2026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FA4D9"/>
                </a:solidFill>
                <a:latin typeface="Segoe UI"/>
              </a:rPr>
              <a:t>FORA DO CICLO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Segoe U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Segoe U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2B2D7A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B2D7A"/>
                </a:solidFill>
                <a:latin typeface="Segoe UI"/>
              </a:rPr>
              <a:t>REGRA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Segoe UI"/>
              </a:rPr>
              <a:t>Pedidos fora do ciclo voltam à avaliação na revisão trimestral com volume e receita associada.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0"/>
            <a:ext cx="11274552" cy="34747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1000"/>
              </a:spcAft>
              <a:buClr>
                <a:srgbClr val="2B2D7A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Segoe UI"/>
              </a:rPr>
              <a:t>Relatórios personalizados por cliente: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baixo volume de pedidos (12) e alto custo de manutenção</a:t>
            </a:r>
          </a:p>
          <a:p>
            <a:pPr marL="228600" indent="-228600">
              <a:spcAft>
                <a:spcPts val="1000"/>
              </a:spcAft>
              <a:buClr>
                <a:srgbClr val="2B2D7A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Segoe UI"/>
              </a:rPr>
              <a:t>Integração com marketplace Y: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parceiro sem API estável</a:t>
            </a:r>
          </a:p>
          <a:p>
            <a:pPr marL="228600" indent="-228600">
              <a:spcAft>
                <a:spcPts val="1000"/>
              </a:spcAft>
              <a:buClr>
                <a:srgbClr val="2B2D7A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Segoe UI"/>
              </a:rPr>
              <a:t>Versão em espanhol: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depende da decisão de expansão internacional (2028)</a:t>
            </a:r>
          </a:p>
          <a:p>
            <a:pPr marL="228600" indent="-228600">
              <a:spcAft>
                <a:spcPts val="1000"/>
              </a:spcAft>
              <a:buClr>
                <a:srgbClr val="2B2D7A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Segoe UI"/>
              </a:rPr>
              <a:t>Modo offline: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exige rearquitetura; reavaliar após migração dos legados</a:t>
            </a:r>
          </a:p>
          <a:p>
            <a:pPr marL="228600" indent="-228600">
              <a:spcAft>
                <a:spcPts val="1000"/>
              </a:spcAft>
              <a:buClr>
                <a:srgbClr val="2B2D7A"/>
              </a:buClr>
              <a:buChar char="•"/>
            </a:pPr>
            <a:r>
              <a:rPr sz="1600" b="1" i="0">
                <a:solidFill>
                  <a:srgbClr val="333333"/>
                </a:solidFill>
                <a:latin typeface="Segoe UI"/>
              </a:rPr>
              <a:t>Chat interno:</a:t>
            </a:r>
            <a:r>
              <a:rPr sz="1600" b="0" i="0">
                <a:solidFill>
                  <a:srgbClr val="333333"/>
                </a:solidFill>
                <a:latin typeface="Segoe UI"/>
              </a:rPr>
              <a:t> existem ferramentas de mercado melhores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2B2D7A"/>
                </a:solidFill>
                <a:latin typeface="Segoe UI"/>
              </a:rPr>
              <a:t>20% da capacidade reservada para dívida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EMPRESA EXEMPLO  |  ROADMAP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Segoe UI"/>
              </a:rPr>
              <a:t>dez/2026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FA4D9"/>
                </a:solidFill>
                <a:latin typeface="Segoe UI"/>
              </a:rPr>
              <a:t>CAPACIDADE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Segoe UI"/>
              </a:rPr>
              <a:t>Fonte: Alocação planejada de 6 squads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Segoe U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2B2D7A"/>
                </a:solidFill>
                <a:latin typeface="Segoe UI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Retenção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1920240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Segoe UI"/>
              </a:rP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Expansão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1920240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Segoe U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Eficiência / dívida técnica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80360"/>
            <a:ext cx="1280160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20%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Suporte e correções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83280"/>
            <a:ext cx="960120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Segoe UI"/>
              </a:rPr>
              <a:t>15%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Segoe UI"/>
              </a:rPr>
              <a:t>Exploração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886200"/>
            <a:ext cx="320040" cy="228600"/>
          </a:xfrm>
          <a:prstGeom prst="rect">
            <a:avLst/>
          </a:prstGeom>
          <a:solidFill>
            <a:srgbClr val="2B2D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79476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Segoe UI"/>
              </a:rPr>
              <a:t>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2B2D7A"/>
                </a:solidFill>
                <a:latin typeface="Segoe UI"/>
              </a:rPr>
              <a:t>Aprovar a alocação e o congelamento de escopo do 1T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Segoe UI"/>
              </a:rPr>
              <a:t>EMPRESA EXEMPLO  |  ROADMAP DE PRODUTO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Segoe UI"/>
              </a:rPr>
              <a:t>dez/2026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FA4D9"/>
                </a:solidFill>
                <a:latin typeface="Segoe UI"/>
              </a:rPr>
              <a:t>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Segoe UI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2B2D7A"/>
                </a:solidFill>
                <a:latin typeface="Segoe UI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2B2D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2B2D7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2B2D7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2B2D7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Aprovar alocação por tema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15/12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Congelar escopo do 1T27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Produto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20/12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Contratar 2 engenheiros para integrações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RH + Engenharia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1T27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Versão externa do roadmap para clientes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Produto + Marketing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Segoe UI"/>
                        </a:rPr>
                        <a:t>jan/27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Segoe UI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