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MRR (R$ mil)</c:v>
                </c:pt>
              </c:strCache>
            </c:strRef>
          </c:tx>
          <c:spPr>
            <a:solidFill>
              <a:srgbClr val="1B2A49"/>
            </a:solidFill>
            <a:ln>
              <a:noFill/>
            </a:ln>
          </c:spPr>
          <c:cat>
            <c:strRef>
              <c:f>Sheet1!$A$2:$A$13</c:f>
              <c:strCache>
                <c:ptCount val="12"/>
                <c:pt idx="0">
                  <c:v>set</c:v>
                </c:pt>
                <c:pt idx="1">
                  <c:v>out</c:v>
                </c:pt>
                <c:pt idx="2">
                  <c:v>nov</c:v>
                </c:pt>
                <c:pt idx="3">
                  <c:v>dez</c:v>
                </c:pt>
                <c:pt idx="4">
                  <c:v>jan</c:v>
                </c:pt>
                <c:pt idx="5">
                  <c:v>fev</c:v>
                </c:pt>
                <c:pt idx="6">
                  <c:v>mar</c:v>
                </c:pt>
                <c:pt idx="7">
                  <c:v>abr</c:v>
                </c:pt>
                <c:pt idx="8">
                  <c:v>mai</c:v>
                </c:pt>
                <c:pt idx="9">
                  <c:v>jun</c:v>
                </c:pt>
                <c:pt idx="10">
                  <c:v>jul</c:v>
                </c:pt>
                <c:pt idx="11">
                  <c:v>ago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50</c:v>
                </c:pt>
                <c:pt idx="1">
                  <c:v>58</c:v>
                </c:pt>
                <c:pt idx="2">
                  <c:v>70</c:v>
                </c:pt>
                <c:pt idx="3">
                  <c:v>82</c:v>
                </c:pt>
                <c:pt idx="4">
                  <c:v>95</c:v>
                </c:pt>
                <c:pt idx="5">
                  <c:v>110</c:v>
                </c:pt>
                <c:pt idx="6">
                  <c:v>128</c:v>
                </c:pt>
                <c:pt idx="7">
                  <c:v>145</c:v>
                </c:pt>
                <c:pt idx="8">
                  <c:v>160</c:v>
                </c:pt>
                <c:pt idx="9">
                  <c:v>175</c:v>
                </c:pt>
                <c:pt idx="10">
                  <c:v>190</c:v>
                </c:pt>
                <c:pt idx="11">
                  <c:v>205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2D2D2D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858585"/>
            </a:solidFill>
          </a:ln>
        </c:spPr>
        <c:txPr>
          <a:bodyPr/>
          <a:lstStyle/>
          <a:p>
            <a:pPr>
              <a:defRPr sz="1100">
                <a:solidFill>
                  <a:srgbClr val="85858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F4F4F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858585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2D2D2D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26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17373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Segoe UI"/>
              </a:rPr>
              <a:t>Fabrisense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106984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 i="0">
                <a:solidFill>
                  <a:srgbClr val="D9E1EA"/>
                </a:solidFill>
                <a:latin typeface="Segoe UI"/>
              </a:rPr>
              <a:t>Visibilidade industrial em tempo real | Série 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B2A49"/>
                </a:solidFill>
                <a:latin typeface="Segoe UI"/>
              </a:rPr>
              <a:t>Indústrias médias perdem 8% de capacidade por falta de dados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58585"/>
                </a:solidFill>
                <a:latin typeface="Segoe U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1274552" cy="1828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8000" b="1" i="0">
                <a:solidFill>
                  <a:srgbClr val="1B2A49"/>
                </a:solidFill>
                <a:latin typeface="Segoe UI"/>
              </a:rPr>
              <a:t>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1274552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000" b="0" i="0">
                <a:solidFill>
                  <a:srgbClr val="858585"/>
                </a:solidFill>
                <a:latin typeface="Segoe UI"/>
              </a:rPr>
              <a:t>de capacidade perdida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9445752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600" b="0" i="0">
                <a:solidFill>
                  <a:srgbClr val="2D2D2D"/>
                </a:solidFill>
                <a:latin typeface="Segoe UI"/>
              </a:rPr>
              <a:t>Estudo com 120 plantas,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B2A49"/>
                </a:solidFill>
                <a:latin typeface="Segoe UI"/>
              </a:rPr>
              <a:t>Sensores plug-and-play + plataforma em 1 semana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58585"/>
                </a:solidFill>
                <a:latin typeface="Segoe UI"/>
              </a:rPr>
              <a:t>3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920240"/>
            <a:ext cx="2727198" cy="1280160"/>
          </a:xfrm>
          <a:prstGeom prst="homePlate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2743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1. Instala sensores</a:t>
            </a:r>
          </a:p>
        </p:txBody>
      </p:sp>
      <p:sp>
        <p:nvSpPr>
          <p:cNvPr id="5" name="Chevron 4"/>
          <p:cNvSpPr/>
          <p:nvPr/>
        </p:nvSpPr>
        <p:spPr>
          <a:xfrm>
            <a:off x="3275838" y="1920240"/>
            <a:ext cx="2727198" cy="1280160"/>
          </a:xfrm>
          <a:prstGeom prst="chevron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2. Conecta ao MES</a:t>
            </a:r>
          </a:p>
        </p:txBody>
      </p:sp>
      <p:sp>
        <p:nvSpPr>
          <p:cNvPr id="6" name="Chevron 5"/>
          <p:cNvSpPr/>
          <p:nvPr/>
        </p:nvSpPr>
        <p:spPr>
          <a:xfrm>
            <a:off x="6094476" y="1920240"/>
            <a:ext cx="2727198" cy="1280160"/>
          </a:xfrm>
          <a:prstGeom prst="chevron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3. Vê tudo em tempo real</a:t>
            </a:r>
          </a:p>
        </p:txBody>
      </p:sp>
      <p:sp>
        <p:nvSpPr>
          <p:cNvPr id="7" name="Chevron 6"/>
          <p:cNvSpPr/>
          <p:nvPr/>
        </p:nvSpPr>
        <p:spPr>
          <a:xfrm>
            <a:off x="8913114" y="1920240"/>
            <a:ext cx="2727198" cy="1280160"/>
          </a:xfrm>
          <a:prstGeom prst="chevron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4. Recebe alertas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B2A49"/>
                </a:solidFill>
                <a:latin typeface="Segoe UI"/>
              </a:rPr>
              <a:t>R$ 4 bi de mercado endereçável no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58585"/>
                </a:solidFill>
                <a:latin typeface="Segoe U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1274552" cy="1828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8000" b="1" i="0">
                <a:solidFill>
                  <a:srgbClr val="1B2A49"/>
                </a:solidFill>
                <a:latin typeface="Segoe UI"/>
              </a:rPr>
              <a:t>R$ 4 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1274552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000" b="0" i="0">
                <a:solidFill>
                  <a:srgbClr val="858585"/>
                </a:solidFill>
                <a:latin typeface="Segoe UI"/>
              </a:rPr>
              <a:t>SAM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9445752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600" b="0" i="0">
                <a:solidFill>
                  <a:srgbClr val="2D2D2D"/>
                </a:solidFill>
                <a:latin typeface="Segoe UI"/>
              </a:rPr>
              <a:t>12 mil plantas × R$ 78 mil/ano (bottom-up)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B2A49"/>
                </a:solidFill>
                <a:latin typeface="Segoe UI"/>
              </a:rPr>
              <a:t>MRR cresceu 4x em 12 meses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58585"/>
                </a:solidFill>
                <a:latin typeface="Segoe UI"/>
              </a:rPr>
              <a:t>Fonte: Dados internos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58585"/>
                </a:solidFill>
                <a:latin typeface="Segoe UI"/>
              </a:rPr>
              <a:t>5</a:t>
            </a:r>
          </a:p>
        </p:txBody>
      </p:sp>
      <p:graphicFrame>
        <p:nvGraphicFramePr>
          <p:cNvPr id="5" name="Chart 4" descr="MRR cresceu 4x em 12 meses"/>
          <p:cNvGraphicFramePr>
            <a:graphicFrameLocks noGrp="1"/>
          </p:cNvGraphicFramePr>
          <p:nvPr/>
        </p:nvGraphicFramePr>
        <p:xfrm>
          <a:off x="457200" y="1463040"/>
          <a:ext cx="11274552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B2A49"/>
                </a:solidFill>
                <a:latin typeface="Segoe UI"/>
              </a:rPr>
              <a:t>Captando R$ 5 mi para chegar a 100 plantas em 18 meses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58585"/>
                </a:solidFill>
                <a:latin typeface="Segoe UI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4552" cy="4663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1000"/>
              </a:spcAft>
              <a:buClr>
                <a:srgbClr val="1B2A49"/>
              </a:buClr>
              <a:buChar char="•"/>
            </a:pPr>
            <a:r>
              <a:rPr sz="1600" b="0" i="0">
                <a:solidFill>
                  <a:srgbClr val="2D2D2D"/>
                </a:solidFill>
                <a:latin typeface="Segoe UI"/>
              </a:rPr>
              <a:t>40% produto e engenharia</a:t>
            </a:r>
          </a:p>
          <a:p>
            <a:pPr marL="228600" indent="-228600">
              <a:spcAft>
                <a:spcPts val="1000"/>
              </a:spcAft>
              <a:buClr>
                <a:srgbClr val="1B2A49"/>
              </a:buClr>
              <a:buChar char="•"/>
            </a:pPr>
            <a:r>
              <a:rPr sz="1600" b="0" i="0">
                <a:solidFill>
                  <a:srgbClr val="2D2D2D"/>
                </a:solidFill>
                <a:latin typeface="Segoe UI"/>
              </a:rPr>
              <a:t>35% vendas e canais</a:t>
            </a:r>
          </a:p>
          <a:p>
            <a:pPr marL="228600" indent="-228600">
              <a:spcAft>
                <a:spcPts val="1000"/>
              </a:spcAft>
              <a:buClr>
                <a:srgbClr val="1B2A49"/>
              </a:buClr>
              <a:buChar char="•"/>
            </a:pPr>
            <a:r>
              <a:rPr sz="1600" b="0" i="0">
                <a:solidFill>
                  <a:srgbClr val="2D2D2D"/>
                </a:solidFill>
                <a:latin typeface="Segoe UI"/>
              </a:rPr>
              <a:t>15% operações e suporte</a:t>
            </a:r>
          </a:p>
          <a:p>
            <a:pPr marL="228600" indent="-228600">
              <a:spcAft>
                <a:spcPts val="1000"/>
              </a:spcAft>
              <a:buClr>
                <a:srgbClr val="1B2A49"/>
              </a:buClr>
              <a:buChar char="•"/>
            </a:pPr>
            <a:r>
              <a:rPr sz="1600" b="0" i="0">
                <a:solidFill>
                  <a:srgbClr val="2D2D2D"/>
                </a:solidFill>
                <a:latin typeface="Segoe UI"/>
              </a:rPr>
              <a:t>10% reserva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12801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Vamos conversar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749039"/>
            <a:ext cx="106984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900" b="0" i="0">
                <a:solidFill>
                  <a:srgbClr val="D9E1EA"/>
                </a:solidFill>
                <a:latin typeface="Segoe UI"/>
              </a:rPr>
              <a:t>fundadores@fabrisense.com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26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