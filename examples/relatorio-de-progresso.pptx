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Reprovações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F2A900"/>
              </a:solidFill>
            </c:spPr>
          </c:dPt>
          <c:cat>
            <c:strRef>
              <c:f>Sheet1!$A$2:$A$5</c:f>
              <c:strCache>
                <c:ptCount val="4"/>
                <c:pt idx="0">
                  <c:v>Variação de processo</c:v>
                </c:pt>
                <c:pt idx="1">
                  <c:v>Necessita calibração</c:v>
                </c:pt>
                <c:pt idx="2">
                  <c:v>Resultado abaixo da meta</c:v>
                </c:pt>
                <c:pt idx="3">
                  <c:v>Amostra fora do padrão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5</c:v>
                </c:pt>
                <c:pt idx="2">
                  <c:v>5</c:v>
                </c:pt>
                <c:pt idx="3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33333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C8C"/>
            </a:solidFill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2F2F2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C8C8C"/>
                </a:solidFill>
              </a:defRPr>
            </a:pPr>
          </a:p>
        </c:txPr>
        <c:crossAx val="-2068027336"/>
        <c:crosses val="max"/>
      </c:valAx>
    </c:plotArea>
    <c:dispBlanksAs val="gap"/>
  </c:chart>
  <c:txPr>
    <a:bodyPr/>
    <a:lstStyle/>
    <a:p>
      <a:pPr>
        <a:defRPr sz="11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7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D9E1EA"/>
                </a:solidFill>
                <a:latin typeface="Calibri"/>
              </a:rPr>
              <a:t>EMPRESA EXEMPLO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657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F2A900"/>
                </a:solidFill>
                <a:latin typeface="Calibri"/>
              </a:rPr>
              <a:t>RELATÓRIO DE PROGRESSO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7315200" cy="17373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Progresso dos ensaios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3152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Calibri"/>
              </a:rPr>
              <a:t>Visão executiva até 10 de setembro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0" y="1920240"/>
            <a:ext cx="3319272" cy="24688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920240"/>
            <a:ext cx="73152" cy="246888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80" y="2057400"/>
            <a:ext cx="2971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TESE CENTRAL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23160"/>
            <a:ext cx="2971800" cy="187451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 ritmo está aderente ao cronograma, mas quase metade dos resultados realizados exige investigação ou reensaio.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FC9D4"/>
                </a:solidFill>
                <a:latin typeface="Calibri"/>
              </a:rPr>
              <a:t>10/09/2026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457200"/>
            <a:ext cx="13716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EMPRESA EXEMPLO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40 ensaios realizados: 20% do plano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RESUMO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ensaios, corte 10/09/2026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PROGRESSO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333333"/>
                </a:solidFill>
                <a:latin typeface="Calibri"/>
              </a:rPr>
              <a:t>40 / 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160 registros futuros na 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4418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44418" y="1828800"/>
            <a:ext cx="2612898" cy="73152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1577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APROVAÇÃO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1577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52,5%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1577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9A825"/>
                </a:solidFill>
                <a:latin typeface="Calibri"/>
              </a:rPr>
              <a:t>21 aprovados | 19 reprovados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31636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1636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8796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CONCLUSÃO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8796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333333"/>
                </a:solidFill>
                <a:latin typeface="Calibri"/>
              </a:rPr>
              <a:t>90%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36 concluídos | 4 em revisão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18854" y="1828800"/>
            <a:ext cx="261289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18854" y="1828800"/>
            <a:ext cx="2612898" cy="731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6014" y="2057400"/>
            <a:ext cx="233857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alibri"/>
              </a:rPr>
              <a:t>PERÍODO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6014" y="2423160"/>
            <a:ext cx="2338578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900" b="1" i="0">
                <a:solidFill>
                  <a:srgbClr val="333333"/>
                </a:solidFill>
                <a:latin typeface="Calibri"/>
              </a:rPr>
              <a:t>40 dias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6014" y="3429000"/>
            <a:ext cx="2338578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8C8C8C"/>
                </a:solidFill>
                <a:latin typeface="Calibri"/>
              </a:rPr>
              <a:t>02/08 a 10/09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480559"/>
            <a:ext cx="11274552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Execução: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 base contém 200 ensaios, dos quais 40 têm data até o corte.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Qualidade: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19 resultados abaixo da meta, 47,5% do realizado.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500" b="1" i="0">
                <a:solidFill>
                  <a:srgbClr val="333333"/>
                </a:solidFill>
                <a:latin typeface="Calibri"/>
              </a:rPr>
              <a:t>Governança: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4 ensaios aguardam revisão, 2 já aprovados tecnicamente.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O parâmetro B tem a menor aprovação entre os quatro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49240"/>
            <a:ext cx="73152" cy="7315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  <a:latin typeface="Calibri"/>
              </a:rPr>
              <a:t>FOCO RECOMENDADO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Revisar o método do parâmetro B e as três reprovações antes da próxima onda.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874519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1874519"/>
            <a:ext cx="3328416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178308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13/25 aprovados | 52%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37744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2377440"/>
            <a:ext cx="2560320" cy="2286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228600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C62828"/>
                </a:solidFill>
                <a:latin typeface="Calibri"/>
              </a:rPr>
              <a:t>2/5 aprovados | 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78892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288036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2880360"/>
            <a:ext cx="38404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278892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3/5 aprovados | 60%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Parâmetro 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3383280"/>
            <a:ext cx="6400800" cy="228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3383280"/>
            <a:ext cx="3840480" cy="2286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3291840"/>
            <a:ext cx="1947672" cy="4114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333333"/>
                </a:solidFill>
                <a:latin typeface="Calibri"/>
              </a:rPr>
              <a:t>3/5 aprovados | 60%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58% das reprovações vêm de processo ou calibração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CAUSAS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85313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Calibri"/>
              </a:rPr>
              <a:t>Fonte: Base de ensaios (n=19 reprovações)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737360"/>
          <a:ext cx="73152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828800"/>
            <a:ext cx="3685032" cy="4206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1" i="0">
                <a:solidFill>
                  <a:srgbClr val="333333"/>
                </a:solidFill>
                <a:latin typeface="Calibri"/>
              </a:rPr>
              <a:t>11 de 19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reprovações associadas a processo ou calibração</a:t>
            </a:r>
          </a:p>
          <a:p>
            <a:pPr marL="228600" indent="-228600">
              <a:spcAft>
                <a:spcPts val="800"/>
              </a:spcAft>
              <a:buClr>
                <a:srgbClr val="1F3A5F"/>
              </a:buClr>
              <a:buChar char="•"/>
            </a:pPr>
            <a:r>
              <a:rPr sz="1400" b="0" i="0">
                <a:solidFill>
                  <a:srgbClr val="333333"/>
                </a:solidFill>
                <a:latin typeface="Calibri"/>
              </a:rPr>
              <a:t>Prioridade imediata: padronizar investigação e bloquear equipamento quando aplicável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1792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F3A5F"/>
                </a:solidFill>
                <a:latin typeface="Calibri"/>
              </a:rPr>
              <a:t>Três decisões destravam a próxima etapa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7315200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8C8C8C"/>
                </a:solidFill>
                <a:latin typeface="Calibri"/>
              </a:rPr>
              <a:t>EMPRESA EXEMPLO  |  RELATÓRIO DE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91440"/>
            <a:ext cx="3959352" cy="228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0" i="0">
                <a:solidFill>
                  <a:srgbClr val="8C8C8C"/>
                </a:solidFill>
                <a:latin typeface="Calibri"/>
              </a:rPr>
              <a:t>10/09/2026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74552" cy="256032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4F81BD"/>
                </a:solidFill>
                <a:latin typeface="Calibri"/>
              </a:rPr>
              <a:t>DECISÕES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C8C8C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621792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900" b="1" i="0">
                <a:solidFill>
                  <a:srgbClr val="1F3A5F"/>
                </a:solidFill>
                <a:latin typeface="Calibri"/>
              </a:rPr>
              <a:t>EMPRESA EXEMPLO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349240"/>
            <a:ext cx="11274552" cy="731520"/>
          </a:xfrm>
          <a:prstGeom prst="rect">
            <a:avLst/>
          </a:prstGeom>
          <a:solidFill>
            <a:srgbClr val="142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349240"/>
            <a:ext cx="21031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1" i="0">
                <a:solidFill>
                  <a:srgbClr val="F2A900"/>
                </a:solidFill>
                <a:latin typeface="Calibri"/>
              </a:rPr>
              <a:t>DECISÃO SOLICITADA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5349240"/>
            <a:ext cx="8759952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Aprovar prioridades e donos para fechamento na próxima reunião de acompanhamento.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3575304" cy="5486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1F3A5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Fechar 4 revisões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Priorizar os ensaios em revisão; dois já estão aprovados tecnicamente.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06824" y="1828800"/>
            <a:ext cx="3575304" cy="54864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4F81BD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Atacar causas recorrentes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4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Abrir plano conjunto para variação de processo e calibração (11 das 19 reprovações).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56448" y="1828800"/>
            <a:ext cx="3575304" cy="3291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56448" y="1828800"/>
            <a:ext cx="3575304" cy="54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5048" y="2011680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 i="0">
                <a:solidFill>
                  <a:srgbClr val="F2A900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2560320"/>
            <a:ext cx="3118104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333333"/>
                </a:solidFill>
                <a:latin typeface="Calibri"/>
              </a:rPr>
              <a:t>Confirmar a cadência futura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8" y="3246120"/>
            <a:ext cx="3118104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Validar os 160 registros datados após o corte como programação oficial.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