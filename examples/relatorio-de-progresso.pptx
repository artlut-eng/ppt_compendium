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Reprovações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dPt>
            <c:idx val="0"/>
            <c:spPr>
              <a:solidFill>
                <a:srgbClr val="F2A900"/>
              </a:solidFill>
            </c:spPr>
          </c:dPt>
          <c:cat>
            <c:strRef>
              <c:f>Sheet1!$A$2:$A$5</c:f>
              <c:strCache>
                <c:ptCount val="4"/>
                <c:pt idx="0">
                  <c:v>Variação de processo</c:v>
                </c:pt>
                <c:pt idx="1">
                  <c:v>Necessita calibração</c:v>
                </c:pt>
                <c:pt idx="2">
                  <c:v>Resultado abaixo da meta</c:v>
                </c:pt>
                <c:pt idx="3">
                  <c:v>Amostra fora do padrão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5</c:v>
                </c:pt>
                <c:pt idx="2">
                  <c:v>5</c:v>
                </c:pt>
                <c:pt idx="3">
                  <c:v>3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>
                  <a:solidFill>
                    <a:srgbClr val="333333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8C8C8C"/>
            </a:solidFill>
          </a:ln>
        </c:spPr>
        <c:txPr>
          <a:bodyPr/>
          <a:lstStyle/>
          <a:p>
            <a:pPr>
              <a:defRPr sz="1100">
                <a:solidFill>
                  <a:srgbClr val="8C8C8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F2F2F2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8C8C8C"/>
                </a:solidFill>
              </a:defRPr>
            </a:pPr>
          </a:p>
        </c:txPr>
        <c:crossAx val="-2068027336"/>
        <c:crosses val="max"/>
      </c:valAx>
    </c:plotArea>
    <c:dispBlanksAs val="gap"/>
  </c:chart>
  <c:txPr>
    <a:bodyPr/>
    <a:lstStyle/>
    <a:p>
      <a:pPr>
        <a:defRPr sz="1100">
          <a:solidFill>
            <a:srgbClr val="333333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7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5486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D9E1EA"/>
                </a:solidFill>
                <a:latin typeface="Calibri"/>
              </a:rPr>
              <a:t>EMPRESA EXEMPLO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98480" cy="3657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F2A900"/>
                </a:solidFill>
                <a:latin typeface="Calibri"/>
              </a:rPr>
              <a:t>RELATÓRIO DE PROGRESSO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7315200" cy="17373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Progresso dos ensaios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49039"/>
            <a:ext cx="73152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0" i="0">
                <a:solidFill>
                  <a:srgbClr val="D9E1EA"/>
                </a:solidFill>
                <a:latin typeface="Calibri"/>
              </a:rPr>
              <a:t>Visão executiva até 10 de setembro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0" y="1920240"/>
            <a:ext cx="3319272" cy="2468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412480" y="1920240"/>
            <a:ext cx="73152" cy="246888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80" y="2057400"/>
            <a:ext cx="2971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TESE CENTRAL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41080" y="2423160"/>
            <a:ext cx="2971800" cy="187451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O ritmo está aderente ao cronograma, mas quase metade dos resultados realizados exige investigação ou reensaio.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669280"/>
            <a:ext cx="106984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BFC9D4"/>
                </a:solidFill>
                <a:latin typeface="Calibri"/>
              </a:rPr>
              <a:t>10/09/2026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0" y="457200"/>
            <a:ext cx="13716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  <a:latin typeface="Calibri"/>
              </a:rPr>
              <a:t>EMPRESA EXEMPLO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40 ensaios realizados: 20% do plano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RELATÓRIO DE PROGRESSO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10/09/2026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4F81BD"/>
                </a:solidFill>
                <a:latin typeface="Calibri"/>
              </a:rPr>
              <a:t>RESUMO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Fonte: Base de ensaios, corte 10/09/2026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6217920"/>
            <a:ext cx="18288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1" i="0">
                <a:solidFill>
                  <a:srgbClr val="1F3A5F"/>
                </a:solidFill>
                <a:latin typeface="Calibri"/>
              </a:rPr>
              <a:t>EMPRESA EXEMPLO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828800"/>
            <a:ext cx="2612898" cy="23774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828800"/>
            <a:ext cx="2612898" cy="731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057400"/>
            <a:ext cx="233857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alibri"/>
              </a:rPr>
              <a:t>PROGRESSO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423160"/>
            <a:ext cx="2338578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333333"/>
                </a:solidFill>
                <a:latin typeface="Calibri"/>
              </a:rPr>
              <a:t>40 / 200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429000"/>
            <a:ext cx="2338578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8C8C8C"/>
                </a:solidFill>
                <a:latin typeface="Calibri"/>
              </a:rPr>
              <a:t>160 registros futuros na base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44418" y="1828800"/>
            <a:ext cx="2612898" cy="23774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44418" y="1828800"/>
            <a:ext cx="2612898" cy="73152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81577" y="2057400"/>
            <a:ext cx="233857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alibri"/>
              </a:rPr>
              <a:t>APROVAÇÃO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81577" y="2423160"/>
            <a:ext cx="2338578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4000" b="1" i="0">
                <a:solidFill>
                  <a:srgbClr val="333333"/>
                </a:solidFill>
                <a:latin typeface="Calibri"/>
              </a:rPr>
              <a:t>52,5%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81577" y="3429000"/>
            <a:ext cx="2338578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9A825"/>
                </a:solidFill>
                <a:latin typeface="Calibri"/>
              </a:rPr>
              <a:t>21 aprovados | 19 reprovados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31636" y="1828800"/>
            <a:ext cx="2612898" cy="23774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31636" y="1828800"/>
            <a:ext cx="2612898" cy="731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8796" y="2057400"/>
            <a:ext cx="233857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alibri"/>
              </a:rPr>
              <a:t>CONCLUSÃO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8796" y="2423160"/>
            <a:ext cx="2338578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4000" b="1" i="0">
                <a:solidFill>
                  <a:srgbClr val="333333"/>
                </a:solidFill>
                <a:latin typeface="Calibri"/>
              </a:rPr>
              <a:t>90%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8796" y="3429000"/>
            <a:ext cx="2338578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8C8C8C"/>
                </a:solidFill>
                <a:latin typeface="Calibri"/>
              </a:rPr>
              <a:t>36 concluídos | 4 em revisão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18854" y="1828800"/>
            <a:ext cx="2612898" cy="23774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18854" y="1828800"/>
            <a:ext cx="2612898" cy="731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56014" y="2057400"/>
            <a:ext cx="233857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alibri"/>
              </a:rPr>
              <a:t>PERÍODO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56014" y="2423160"/>
            <a:ext cx="2338578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900" b="1" i="0">
                <a:solidFill>
                  <a:srgbClr val="333333"/>
                </a:solidFill>
                <a:latin typeface="Calibri"/>
              </a:rPr>
              <a:t>40 dias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56014" y="3429000"/>
            <a:ext cx="2338578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8C8C8C"/>
                </a:solidFill>
                <a:latin typeface="Calibri"/>
              </a:rPr>
              <a:t>02/08 a 10/09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480559"/>
            <a:ext cx="11274552" cy="1645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500" b="1" i="0">
                <a:solidFill>
                  <a:srgbClr val="333333"/>
                </a:solidFill>
                <a:latin typeface="Calibri"/>
              </a:rPr>
              <a:t>Execução: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a base contém 200 ensaios, dos quais 40 têm data até o corte.</a:t>
            </a:r>
          </a:p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500" b="1" i="0">
                <a:solidFill>
                  <a:srgbClr val="333333"/>
                </a:solidFill>
                <a:latin typeface="Calibri"/>
              </a:rPr>
              <a:t>Qualidade: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19 resultados abaixo da meta, 47,5% do realizado.</a:t>
            </a:r>
          </a:p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500" b="1" i="0">
                <a:solidFill>
                  <a:srgbClr val="333333"/>
                </a:solidFill>
                <a:latin typeface="Calibri"/>
              </a:rPr>
              <a:t>Governança: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4 ensaios aguardam revisão, 2 já aprovados tecnicamente.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O parâmetro B tem a menor aprovação entre os quatro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RELATÓRIO DE PROGRESSO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10/09/2026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4F81BD"/>
                </a:solidFill>
                <a:latin typeface="Calibri"/>
              </a:rPr>
              <a:t>QUALIDADE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0" y="6217920"/>
            <a:ext cx="18288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1" i="0">
                <a:solidFill>
                  <a:srgbClr val="1F3A5F"/>
                </a:solidFill>
                <a:latin typeface="Calibri"/>
              </a:rPr>
              <a:t>EMPRESA EXEMPLO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349240"/>
            <a:ext cx="11274552" cy="731520"/>
          </a:xfrm>
          <a:prstGeom prst="rect">
            <a:avLst/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5349240"/>
            <a:ext cx="73152" cy="73152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5349240"/>
            <a:ext cx="210312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  <a:latin typeface="Calibri"/>
              </a:rPr>
              <a:t>FOCO RECOMENDADO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88920" y="5349240"/>
            <a:ext cx="8759952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333333"/>
                </a:solidFill>
                <a:latin typeface="Calibri"/>
              </a:rPr>
              <a:t>Revisar o método do parâmetro B e as três reprovações antes da próxima onda.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783080"/>
            <a:ext cx="274320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  <a:latin typeface="Calibri"/>
              </a:rPr>
              <a:t>Parâmetro 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91840" y="1874519"/>
            <a:ext cx="6400800" cy="228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91840" y="1874519"/>
            <a:ext cx="3328416" cy="2286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1783080"/>
            <a:ext cx="1947672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333333"/>
                </a:solidFill>
                <a:latin typeface="Calibri"/>
              </a:rPr>
              <a:t>13/25 aprovados | 52%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286000"/>
            <a:ext cx="274320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  <a:latin typeface="Calibri"/>
              </a:rPr>
              <a:t>Parâmetro B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91840" y="2377440"/>
            <a:ext cx="6400800" cy="228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91840" y="2377440"/>
            <a:ext cx="2560320" cy="22860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84080" y="2286000"/>
            <a:ext cx="1947672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C62828"/>
                </a:solidFill>
                <a:latin typeface="Calibri"/>
              </a:rPr>
              <a:t>2/5 aprovados | 40%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788920"/>
            <a:ext cx="274320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  <a:latin typeface="Calibri"/>
              </a:rPr>
              <a:t>Parâmetro C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91840" y="2880360"/>
            <a:ext cx="6400800" cy="228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91840" y="2880360"/>
            <a:ext cx="3840480" cy="2286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84080" y="2788920"/>
            <a:ext cx="1947672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333333"/>
                </a:solidFill>
                <a:latin typeface="Calibri"/>
              </a:rPr>
              <a:t>3/5 aprovados | 60%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291840"/>
            <a:ext cx="274320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  <a:latin typeface="Calibri"/>
              </a:rPr>
              <a:t>Parâmetro 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91840" y="3383280"/>
            <a:ext cx="6400800" cy="228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291840" y="3383280"/>
            <a:ext cx="3840480" cy="2286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84080" y="3291840"/>
            <a:ext cx="1947672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333333"/>
                </a:solidFill>
                <a:latin typeface="Calibri"/>
              </a:rPr>
              <a:t>3/5 aprovados | 60%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58% das reprovações vêm de processo ou calibração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RELATÓRIO DE PROGRESSO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10/09/2026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4F81BD"/>
                </a:solidFill>
                <a:latin typeface="Calibri"/>
              </a:rPr>
              <a:t>CAUSAS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Fonte: Base de ensaios (n=19 reprovações)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6217920"/>
            <a:ext cx="18288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1" i="0">
                <a:solidFill>
                  <a:srgbClr val="1F3A5F"/>
                </a:solidFill>
                <a:latin typeface="Calibri"/>
              </a:rPr>
              <a:t>EMPRESA EXEMPLO</a:t>
            </a:r>
          </a:p>
        </p:txBody>
      </p:sp>
      <p:graphicFrame>
        <p:nvGraphicFramePr>
          <p:cNvPr id="9" name="Chart 8" descr="58% das reprovações vêm de processo ou calibração"/>
          <p:cNvGraphicFramePr>
            <a:graphicFrameLocks noGrp="1"/>
          </p:cNvGraphicFramePr>
          <p:nvPr/>
        </p:nvGraphicFramePr>
        <p:xfrm>
          <a:off x="457200" y="1737360"/>
          <a:ext cx="7315200" cy="4389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046720" y="1828800"/>
            <a:ext cx="3685032" cy="4206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400" b="1" i="0">
                <a:solidFill>
                  <a:srgbClr val="333333"/>
                </a:solidFill>
                <a:latin typeface="Calibri"/>
              </a:rPr>
              <a:t>11 de 19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reprovações associadas a processo ou calibração</a:t>
            </a:r>
          </a:p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400" b="0" i="0">
                <a:solidFill>
                  <a:srgbClr val="333333"/>
                </a:solidFill>
                <a:latin typeface="Calibri"/>
              </a:rPr>
              <a:t>Prioridade imediata: padronizar investigação e bloquear equipamento quando aplicável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Três decisões destravam a próxima etapa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RELATÓRIO DE PROGRESSO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10/09/2026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4F81BD"/>
                </a:solidFill>
                <a:latin typeface="Calibri"/>
              </a:rPr>
              <a:t>DECISÕES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0" y="6217920"/>
            <a:ext cx="18288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1" i="0">
                <a:solidFill>
                  <a:srgbClr val="1F3A5F"/>
                </a:solidFill>
                <a:latin typeface="Calibri"/>
              </a:rPr>
              <a:t>EMPRESA EXEMPLO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349240"/>
            <a:ext cx="11274552" cy="731520"/>
          </a:xfrm>
          <a:prstGeom prst="rect">
            <a:avLst/>
          </a:prstGeom>
          <a:solidFill>
            <a:srgbClr val="142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5349240"/>
            <a:ext cx="210312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F2A900"/>
                </a:solidFill>
                <a:latin typeface="Calibri"/>
              </a:rPr>
              <a:t>DECISÃO SOLICITADA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88920" y="5349240"/>
            <a:ext cx="8759952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Aprovar prioridades e donos para fechamento na próxima reunião de acompanhamento.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828800"/>
            <a:ext cx="3575304" cy="32918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1828800"/>
            <a:ext cx="3575304" cy="54864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011680"/>
            <a:ext cx="1371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1" i="0">
                <a:solidFill>
                  <a:srgbClr val="1F3A5F"/>
                </a:solidFill>
                <a:latin typeface="Calibri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560320"/>
            <a:ext cx="3118104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333333"/>
                </a:solidFill>
                <a:latin typeface="Calibri"/>
              </a:rPr>
              <a:t>Fechar 4 revisões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246120"/>
            <a:ext cx="3118104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  <a:latin typeface="Calibri"/>
              </a:rPr>
              <a:t>Priorizar os ensaios em revisão; dois já estão aprovados tecnicamente.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06824" y="1828800"/>
            <a:ext cx="3575304" cy="32918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06824" y="1828800"/>
            <a:ext cx="3575304" cy="54864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5424" y="2011680"/>
            <a:ext cx="1371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1" i="0">
                <a:solidFill>
                  <a:srgbClr val="4F81BD"/>
                </a:solidFill>
                <a:latin typeface="Calibri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5424" y="2560320"/>
            <a:ext cx="3118104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333333"/>
                </a:solidFill>
                <a:latin typeface="Calibri"/>
              </a:rPr>
              <a:t>Atacar causas recorrentes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35424" y="3246120"/>
            <a:ext cx="3118104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  <a:latin typeface="Calibri"/>
              </a:rPr>
              <a:t>Abrir plano conjunto para variação de processo e calibração (11 das 19 reprovações).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56448" y="1828800"/>
            <a:ext cx="3575304" cy="32918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56448" y="1828800"/>
            <a:ext cx="3575304" cy="5486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85048" y="2011680"/>
            <a:ext cx="1371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1" i="0">
                <a:solidFill>
                  <a:srgbClr val="F2A900"/>
                </a:solidFill>
                <a:latin typeface="Calibri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5048" y="2560320"/>
            <a:ext cx="3118104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333333"/>
                </a:solidFill>
                <a:latin typeface="Calibri"/>
              </a:rPr>
              <a:t>Confirmar a cadência futura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85048" y="3246120"/>
            <a:ext cx="3118104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  <a:latin typeface="Calibri"/>
              </a:rPr>
              <a:t>Validar os 160 registros datados após o corte como programação oficial.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