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Nós (% a.a.)</c:v>
                </c:pt>
              </c:strCache>
            </c:strRef>
          </c:tx>
          <c:spPr>
            <a:ln w="31750">
              <a:solidFill>
                <a:srgbClr val="0B2545"/>
              </a:solidFill>
            </a:ln>
          </c:spPr>
          <c:marker>
            <c:spPr>
              <a:solidFill>
                <a:srgbClr val="0B2545"/>
              </a:solidFill>
              <a:ln>
                <a:solidFill>
                  <a:srgbClr val="0B254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Mercado (% a.a.)</c:v>
                </c:pt>
              </c:strCache>
            </c:strRef>
          </c:tx>
          <c:spPr>
            <a:ln w="31750">
              <a:solidFill>
                <a:srgbClr val="5C6F82"/>
              </a:solidFill>
            </a:ln>
          </c:spPr>
          <c:marker>
            <c:spPr>
              <a:solidFill>
                <a:srgbClr val="5C6F82"/>
              </a:solidFill>
              <a:ln>
                <a:solidFill>
                  <a:srgbClr val="5C6F8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</c:v>
                </c:pt>
                <c:pt idx="1">
                  <c:v>12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FF1F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Plano estratégico 2027-2029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Proposta para aprovação do conselho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Arial"/>
              </a:rPr>
              <a:t>Dobrar receita até 2029 com 3 pilares e R$ 15 mi de investimento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7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Eficiência: -15% custo unitário via automação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3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Novos mercados: entrar em 2 estados com canal indireto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Digital: 30% das vendas por plataforma própria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Arial"/>
              </a:rPr>
              <a:t/>
            </a:r>
            <a:r>
              <a:rPr sz="1600" b="1" i="0">
                <a:solidFill>
                  <a:srgbClr val="B8860B"/>
                </a:solidFill>
                <a:latin typeface="Arial"/>
              </a:rPr>
              <a:t>Pedimos:  </a:t>
            </a:r>
            <a:r>
              <a:rPr sz="1600" b="1" i="0">
                <a:solidFill>
                  <a:srgbClr val="2B2B2B"/>
                </a:solidFill>
                <a:latin typeface="Arial"/>
              </a:rPr>
              <a:t>Aprovar o plano e o orçamento de R$ 5 mi do ano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000" b="1" i="0">
                <a:solidFill>
                  <a:srgbClr val="B8860B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Onde estamos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Perdemos 2 p.p. de share em 3 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103601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Relatórios setoriais, dados internos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000" b="1" i="0">
                <a:solidFill>
                  <a:srgbClr val="B8860B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Para onde vamos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Três pilares: eficiência, novos mercados,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75304" cy="45720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Eficiência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Automação linhas 2 e 4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SMED em toda a planta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Indicador: custo unitário -15%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1463040"/>
            <a:ext cx="3575304" cy="45720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6824" y="146304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46304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Novos mercados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28600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Canal indireto em PR e SC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2 distribuidores por estado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Indicador: R$ 20 mi de receita nova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1463040"/>
            <a:ext cx="3575304" cy="45720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46304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46304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28600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Portal de pedidos B2B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Integração com ERP dos clientes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Indicador: 30% das vendas online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Ano 1 constrói base; anos 2 e 3 escalam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721607"/>
            <a:ext cx="10698480" cy="5486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3566159"/>
            <a:ext cx="365760" cy="365760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Arial"/>
              </a:rPr>
              <a:t>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Automação L2, portal B2B v1, 1º distribuidor</a:t>
            </a:r>
          </a:p>
        </p:txBody>
      </p:sp>
      <p:sp>
        <p:nvSpPr>
          <p:cNvPr id="8" name="Oval 7"/>
          <p:cNvSpPr/>
          <p:nvPr/>
        </p:nvSpPr>
        <p:spPr>
          <a:xfrm>
            <a:off x="5897879" y="3566159"/>
            <a:ext cx="365760" cy="365760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799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Arial"/>
              </a:rPr>
              <a:t>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799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Automação L4, canal PR/SC completo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0" y="3566159"/>
            <a:ext cx="365760" cy="365760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Arial"/>
              </a:rPr>
              <a:t>2029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30% digital, receita 2x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Arial"/>
              </a:rPr>
              <a:t>Planejado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R$ 15 mi com payback de 2,5 anos no cenário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Pilar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Investimento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Receita adicional 2029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Payback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Eficiência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R$ 8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2,0 anos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Novos mercados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R$ 4 mi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R$ 20 mi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2,5 anos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Digital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R$ 3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R$ 10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3,0 anos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Aprovar o plano e o orçamento do ano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Aprovação do conselho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Conselho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Dez/26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Definir donos por iniciativa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Jan/27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7F7F7F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