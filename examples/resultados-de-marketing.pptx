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1B2A49"/>
            </a:solidFill>
            <a:ln>
              <a:noFill/>
            </a:ln>
          </c:spPr>
          <c:dPt>
            <c:idx val="0"/>
            <c:spPr>
              <a:solidFill>
                <a:srgbClr val="F26419"/>
              </a:solidFill>
            </c:spPr>
          </c:dPt>
          <c:cat>
            <c:strRef>
              <c:f>Sheet1!$A$2:$A$7</c:f>
              <c:strCache>
                <c:ptCount val="6"/>
                <c:pt idx="0">
                  <c:v>Eventos</c:v>
                </c:pt>
                <c:pt idx="1">
                  <c:v>Busca paga</c:v>
                </c:pt>
                <c:pt idx="2">
                  <c:v>Orgânico</c:v>
                </c:pt>
                <c:pt idx="3">
                  <c:v>Indicação</c:v>
                </c:pt>
                <c:pt idx="4">
                  <c:v>Social pago</c:v>
                </c:pt>
                <c:pt idx="5">
                  <c:v>Parcerias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</c:v>
                </c:pt>
                <c:pt idx="1">
                  <c:v>2.1</c:v>
                </c:pt>
                <c:pt idx="2">
                  <c:v>1.6</c:v>
                </c:pt>
                <c:pt idx="3">
                  <c:v>1.2</c:v>
                </c:pt>
                <c:pt idx="4">
                  <c:v>0.6</c:v>
                </c:pt>
                <c:pt idx="5">
                  <c:v>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2D2D2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58585"/>
            </a:solidFill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4F4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58585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2D2D2D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Segoe U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6419"/>
                </a:solidFill>
                <a:latin typeface="Segoe UI"/>
              </a:rPr>
              <a:t>MARKETING E GERAÇÃO DE DEMANDA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Marketing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Funil, canais, campanhas e realocação de verba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2A49"/>
                </a:solidFill>
                <a:latin typeface="Segoe UI"/>
              </a:rPr>
              <a:t>Pipeline gerado cresceu 30% com CAC 12% menor; eventos são o canal mais eficiente.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Segoe UI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Segoe U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ROI de 4,2x no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CRM e plataformas de mídia, jul a set/26 (atribuição: último toque)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858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INVESTIMENTO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1" i="0">
                <a:solidFill>
                  <a:srgbClr val="2D2D2D"/>
                </a:solidFill>
                <a:latin typeface="Segoe UI"/>
              </a:rPr>
              <a:t>R$ 610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58585"/>
                </a:solidFill>
                <a:latin typeface="Segoe UI"/>
              </a:rPr>
              <a:t>no orçamento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LEADS QUALIFICADOS (MQL)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D2D2D"/>
                </a:solidFill>
                <a:latin typeface="Segoe UI"/>
              </a:rPr>
              <a:t>1.840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+22%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CAC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1" i="0">
                <a:solidFill>
                  <a:srgbClr val="2D2D2D"/>
                </a:solidFill>
                <a:latin typeface="Segoe UI"/>
              </a:rPr>
              <a:t>R$ 2,1 mil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-12%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PIPELINE GERADO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Segoe UI"/>
              </a:rPr>
              <a:t>R$ 9,8 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+30%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58585"/>
                </a:solidFill>
                <a:latin typeface="Segoe UI"/>
              </a:rPr>
              <a:t>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D2D2D"/>
                </a:solidFill>
                <a:latin typeface="Segoe UI"/>
              </a:rPr>
              <a:t>4,2x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receita gerada / investimento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Conversão de MQL para SQL é o gargalo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FUNIL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Segoe UI"/>
              </a:rPr>
              <a:t>FOCO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Segoe UI"/>
              </a:rPr>
              <a:t>Qualificação de MQL para SQL em 22%: revisar critérios e cadência de contato do pré-vendas.</a:t>
            </a:r>
          </a:p>
        </p:txBody>
      </p:sp>
      <p:sp>
        <p:nvSpPr>
          <p:cNvPr id="13" name="Pentagon 12"/>
          <p:cNvSpPr/>
          <p:nvPr/>
        </p:nvSpPr>
        <p:spPr>
          <a:xfrm>
            <a:off x="457200" y="2194560"/>
            <a:ext cx="2163470" cy="1280160"/>
          </a:xfrm>
          <a:prstGeom prst="homePlat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1. 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98059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B2A49"/>
                </a:solidFill>
                <a:latin typeface="Segoe UI"/>
              </a:rPr>
              <a:t>420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198059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impressões únicas</a:t>
            </a:r>
          </a:p>
        </p:txBody>
      </p:sp>
      <p:sp>
        <p:nvSpPr>
          <p:cNvPr id="16" name="Chevron 15"/>
          <p:cNvSpPr/>
          <p:nvPr/>
        </p:nvSpPr>
        <p:spPr>
          <a:xfrm>
            <a:off x="2712110" y="2194560"/>
            <a:ext cx="2163470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2.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3550" y="3657600"/>
            <a:ext cx="198059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B2A49"/>
                </a:solidFill>
                <a:latin typeface="Segoe UI"/>
              </a:rPr>
              <a:t>6.100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3550" y="4251960"/>
            <a:ext cx="198059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1,5% do alcance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4967020" y="2194560"/>
            <a:ext cx="2163470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3. MQL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8460" y="3657600"/>
            <a:ext cx="198059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B2A49"/>
                </a:solidFill>
                <a:latin typeface="Segoe UI"/>
              </a:rPr>
              <a:t>1.840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4251960"/>
            <a:ext cx="198059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30% dos leads</a:t>
            </a:r>
          </a:p>
        </p:txBody>
      </p:sp>
      <p:sp>
        <p:nvSpPr>
          <p:cNvPr id="22" name="Chevron 21"/>
          <p:cNvSpPr/>
          <p:nvPr/>
        </p:nvSpPr>
        <p:spPr>
          <a:xfrm>
            <a:off x="7221931" y="2194560"/>
            <a:ext cx="2163470" cy="1280160"/>
          </a:xfrm>
          <a:prstGeom prst="chevron">
            <a:avLst/>
          </a:prstGeom>
          <a:solidFill>
            <a:srgbClr val="F26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4.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3371" y="3657600"/>
            <a:ext cx="198059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26419"/>
                </a:solidFill>
                <a:latin typeface="Segoe UI"/>
              </a:rPr>
              <a:t>410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3371" y="4251960"/>
            <a:ext cx="198059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22% dos MQL</a:t>
            </a:r>
          </a:p>
        </p:txBody>
      </p:sp>
      <p:sp>
        <p:nvSpPr>
          <p:cNvPr id="25" name="Chevron 24"/>
          <p:cNvSpPr/>
          <p:nvPr/>
        </p:nvSpPr>
        <p:spPr>
          <a:xfrm>
            <a:off x="9476841" y="2194560"/>
            <a:ext cx="2163470" cy="128016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5. Vendas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8281" y="3657600"/>
            <a:ext cx="198059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B2A49"/>
                </a:solidFill>
                <a:latin typeface="Segoe UI"/>
              </a:rPr>
              <a:t>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8281" y="4251960"/>
            <a:ext cx="198059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23% dos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Eventos geram 40% do pipeline com 20% da verba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CANAIS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58585"/>
                </a:solidFill>
                <a:latin typeface="Segoe UI"/>
              </a:rPr>
              <a:t>Pipeline gerado, R$ 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CRM (origem do lead)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10" name="Chart 9" descr="Eventos geram 40% do pipeline com 20% da verba"/>
          <p:cNvGraphicFramePr>
            <a:graphicFrameLocks noGrp="1"/>
          </p:cNvGraphicFramePr>
          <p:nvPr/>
        </p:nvGraphicFramePr>
        <p:xfrm>
          <a:off x="45720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103120"/>
            <a:ext cx="3685032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400" b="1" i="0">
                <a:solidFill>
                  <a:srgbClr val="2D2D2D"/>
                </a:solidFill>
                <a:latin typeface="Segoe UI"/>
              </a:rPr>
              <a:t>Eventos:</a:t>
            </a:r>
            <a:r>
              <a:rPr sz="1400" b="0" i="0">
                <a:solidFill>
                  <a:srgbClr val="2D2D2D"/>
                </a:solidFill>
                <a:latin typeface="Segoe UI"/>
              </a:rPr>
              <a:t> CAC de R$ 1,4 mil, 20% da verba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400" b="1" i="0">
                <a:solidFill>
                  <a:srgbClr val="2D2D2D"/>
                </a:solidFill>
                <a:latin typeface="Segoe UI"/>
              </a:rPr>
              <a:t>Social pago:</a:t>
            </a:r>
            <a:r>
              <a:rPr sz="1400" b="0" i="0">
                <a:solidFill>
                  <a:srgbClr val="2D2D2D"/>
                </a:solidFill>
                <a:latin typeface="Segoe UI"/>
              </a:rPr>
              <a:t> CAC de R$ 4,8 mil, acima do alvo</a:t>
            </a:r>
          </a:p>
          <a:p>
            <a:pPr marL="228600" indent="-228600">
              <a:spcAft>
                <a:spcPts val="800"/>
              </a:spcAft>
              <a:buClr>
                <a:srgbClr val="1B2A49"/>
              </a:buClr>
              <a:buChar char="•"/>
            </a:pPr>
            <a:r>
              <a:rPr sz="1400" b="0" i="0">
                <a:solidFill>
                  <a:srgbClr val="2D2D2D"/>
                </a:solidFill>
                <a:latin typeface="Segoe UI"/>
              </a:rPr>
              <a:t>Orgânico cresce sem investimento incremental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Duas campanhas abaixo do CAC-alvo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CAMPANHAS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Plataformas de mídia e CRM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Campanha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Investimento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MQL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CAC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Pipeline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Feira do setor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R$ 120 mil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310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R$ 1,3 mil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R$ 2,4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Webinar eficiência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R$ 25 mil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190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R$ 0,9 mil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R$ 0,8 mi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Busca paga Q3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R$ 180 mil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520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R$ 2,2 mil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R$ 2,1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Amarelo</a:t>
                      </a:r>
                    </a:p>
                  </a:txBody>
                  <a:tcPr marL="73152" marR="73152" marT="27432" marB="27432" anchor="ctr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Social pago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R$ 95 mil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140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R$ 4,8 mil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R$ 0,6 mi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Vermelho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Realocar R$ 120 mil de social pago e busca para eventos e webinars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REALOCAÇÃO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58585"/>
                </a:solidFill>
                <a:latin typeface="Segoe UI"/>
              </a:rPr>
              <a:t>Verba do 4T, R$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Fonte: Proposta de marketing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1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6419"/>
                </a:solidFill>
                <a:latin typeface="Segoe UI"/>
              </a:rPr>
              <a:t>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Aprovar a realocação sem aumento de verba total.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480560"/>
            <a:ext cx="11274552" cy="0"/>
          </a:xfrm>
          <a:prstGeom prst="line">
            <a:avLst/>
          </a:prstGeom>
          <a:ln w="9525">
            <a:solidFill>
              <a:srgbClr val="858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4227" y="2240280"/>
            <a:ext cx="1165037" cy="224028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907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Segoe UI"/>
              </a:rPr>
              <a:t>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Verba 4T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3319" y="2240280"/>
            <a:ext cx="1165037" cy="25293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8999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Segoe UI"/>
              </a:rPr>
              <a:t>-70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6292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Social pago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79264" y="2240280"/>
            <a:ext cx="714055" cy="0"/>
          </a:xfrm>
          <a:prstGeom prst="line">
            <a:avLst/>
          </a:prstGeom>
          <a:ln w="9525">
            <a:solidFill>
              <a:srgbClr val="8585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72411" y="2493214"/>
            <a:ext cx="1165037" cy="180667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8091" y="2145742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Segoe UI"/>
              </a:rPr>
              <a:t>-50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Busca paga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58356" y="2493214"/>
            <a:ext cx="714055" cy="0"/>
          </a:xfrm>
          <a:prstGeom prst="line">
            <a:avLst/>
          </a:prstGeom>
          <a:ln w="9525">
            <a:solidFill>
              <a:srgbClr val="8585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51503" y="2384814"/>
            <a:ext cx="1165037" cy="2890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7183" y="2037342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Segoe UI"/>
              </a:rPr>
              <a:t>+80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4476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Eventos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37448" y="2673882"/>
            <a:ext cx="714055" cy="0"/>
          </a:xfrm>
          <a:prstGeom prst="line">
            <a:avLst/>
          </a:prstGeom>
          <a:ln w="9525">
            <a:solidFill>
              <a:srgbClr val="8585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330595" y="2240280"/>
            <a:ext cx="1165037" cy="14453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6275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Segoe UI"/>
              </a:rPr>
              <a:t>+40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Webinars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16540" y="2384814"/>
            <a:ext cx="714055" cy="0"/>
          </a:xfrm>
          <a:prstGeom prst="line">
            <a:avLst/>
          </a:prstGeom>
          <a:ln w="9525">
            <a:solidFill>
              <a:srgbClr val="8585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209687" y="2240280"/>
            <a:ext cx="1165037" cy="224028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5367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D2D2D"/>
                </a:solidFill>
                <a:latin typeface="Segoe UI"/>
              </a:rPr>
              <a:t>620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2660" y="45537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D2D2D"/>
                </a:solidFill>
                <a:latin typeface="Segoe UI"/>
              </a:rPr>
              <a:t>Verba 4T ajustada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95632" y="2240280"/>
            <a:ext cx="714055" cy="0"/>
          </a:xfrm>
          <a:prstGeom prst="line">
            <a:avLst/>
          </a:prstGeom>
          <a:ln w="9525">
            <a:solidFill>
              <a:srgbClr val="8585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B2A49"/>
                </a:solidFill>
                <a:latin typeface="Segoe UI"/>
              </a:rPr>
              <a:t>Quatro testes e uma realocação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58585"/>
                </a:solidFill>
                <a:latin typeface="Segoe UI"/>
              </a:rPr>
              <a:t>EMPRESA EXEMPLO  | 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58585"/>
                </a:solidFill>
                <a:latin typeface="Segoe UI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  <a:latin typeface="Segoe UI"/>
              </a:rPr>
              <a:t>PRÓXIMO PERÍODO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58585"/>
                </a:solidFill>
                <a:latin typeface="Segoe U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58585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B2A49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Realocar R$ 120 mil conforme proposta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01/10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Teste: nova régua de qualificação MQL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Pré-vendas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31/10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Teste: 2 webinars por mês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nov/26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58585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Pausar social pago até revisar criativos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Agência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Segoe UI"/>
                        </a:rPr>
                        <a:t>05/10</a:t>
                      </a:r>
                    </a:p>
                  </a:txBody>
                  <a:tcPr anchor="ctr" marL="73152" marR="73152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