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Proposta para Metalúrgica XYZ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Segoe UI"/>
              </a:rPr>
              <a:t>Monitoramento de energia por máquina - válida até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Segoe UI"/>
              </a:rPr>
              <a:t>2026-09-01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B2A49"/>
                </a:solidFill>
                <a:latin typeface="Segoe UI"/>
              </a:rPr>
              <a:t>Reduzir 15% do custo de energia em 12 meses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Segoe UI"/>
              </a:rPr>
              <a:t>Hoje: R$ 2,1 mi/ano sem visibilidade por máquina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Segoe UI"/>
              </a:rPr>
              <a:t>Solução: 40 sensores + plataforma + alertas, implantação em 3 semanas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Segoe UI"/>
              </a:rPr>
              <a:t>Resultado esperado: R$ 300 mil/ano de economia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64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2D2D2D"/>
                </a:solidFill>
                <a:latin typeface="Segoe UI"/>
              </a:rPr>
              <a:t/>
            </a:r>
            <a:r>
              <a:rPr sz="1600" b="1" i="0">
                <a:solidFill>
                  <a:srgbClr val="F26419"/>
                </a:solidFill>
                <a:latin typeface="Segoe UI"/>
              </a:rPr>
              <a:t>Pedimos:  </a:t>
            </a:r>
            <a:r>
              <a:rPr sz="1600" b="1" i="0">
                <a:solidFill>
                  <a:srgbClr val="2D2D2D"/>
                </a:solidFill>
                <a:latin typeface="Segoe UI"/>
              </a:rPr>
              <a:t>Investimento de R$ 180 mil ou R$ 6,5 mil/mês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Você gasta R$ 2,1 mi por ano em energia sem saber onde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1274552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8000" b="1" i="0">
                <a:solidFill>
                  <a:srgbClr val="1B2A49"/>
                </a:solidFill>
                <a:latin typeface="Segoe UI"/>
              </a:rPr>
              <a:t>R$ 2,1 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127455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858585"/>
                </a:solidFill>
                <a:latin typeface="Segoe UI"/>
              </a:rPr>
              <a:t>custo anual de energia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445752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600" b="0" i="0">
                <a:solidFill>
                  <a:srgbClr val="2D2D2D"/>
                </a:solidFill>
                <a:latin typeface="Segoe UI"/>
              </a:rPr>
              <a:t>Fatura única, sem rateio por máquina ou turno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Sensores, plataforma e alertas em 3 semanas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4</a:t>
            </a:r>
          </a:p>
        </p:txBody>
      </p:sp>
      <p:sp>
        <p:nvSpPr>
          <p:cNvPr id="5" name="Pentagon 4"/>
          <p:cNvSpPr/>
          <p:nvPr/>
        </p:nvSpPr>
        <p:spPr>
          <a:xfrm>
            <a:off x="457200" y="1920240"/>
            <a:ext cx="2727198" cy="1280160"/>
          </a:xfrm>
          <a:prstGeom prst="homePlat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1. Instalação de 40 sensores</a:t>
            </a:r>
          </a:p>
        </p:txBody>
      </p:sp>
      <p:sp>
        <p:nvSpPr>
          <p:cNvPr id="6" name="Chevron 5"/>
          <p:cNvSpPr/>
          <p:nvPr/>
        </p:nvSpPr>
        <p:spPr>
          <a:xfrm>
            <a:off x="3275838" y="1920240"/>
            <a:ext cx="2727198" cy="1280160"/>
          </a:xfrm>
          <a:prstGeom prst="chevron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2. Integração com o MES</a:t>
            </a:r>
          </a:p>
        </p:txBody>
      </p:sp>
      <p:sp>
        <p:nvSpPr>
          <p:cNvPr id="7" name="Chevron 6"/>
          <p:cNvSpPr/>
          <p:nvPr/>
        </p:nvSpPr>
        <p:spPr>
          <a:xfrm>
            <a:off x="6094476" y="1920240"/>
            <a:ext cx="2727198" cy="1280160"/>
          </a:xfrm>
          <a:prstGeom prst="chevron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3. Painéis por máquina e turno</a:t>
            </a:r>
          </a:p>
        </p:txBody>
      </p:sp>
      <p:sp>
        <p:nvSpPr>
          <p:cNvPr id="8" name="Chevron 7"/>
          <p:cNvSpPr/>
          <p:nvPr/>
        </p:nvSpPr>
        <p:spPr>
          <a:xfrm>
            <a:off x="8913114" y="1920240"/>
            <a:ext cx="2727198" cy="1280160"/>
          </a:xfrm>
          <a:prstGeom prst="chevron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4. Alertas de consumo anômalo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Escopo: 40 sensores, plataforma, treinamento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1B2A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Quantidade</a:t>
                      </a:r>
                    </a:p>
                  </a:txBody>
                  <a:tcPr marL="73152" marR="73152" marT="27432" marB="27432" anchor="ctr">
                    <a:solidFill>
                      <a:srgbClr val="1B2A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Incluído</a:t>
                      </a:r>
                    </a:p>
                  </a:txBody>
                  <a:tcPr marL="73152" marR="73152" marT="27432" marB="27432" anchor="ctr"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Sensores de energia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Plataforma (licença anual)</a:t>
                      </a:r>
                    </a:p>
                  </a:txBody>
                  <a:tcPr marL="73152" marR="73152" marT="27432" marB="27432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marL="73152" marR="73152" marT="27432" marB="27432" anchor="ctr"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Treinamento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8 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Infraestrutura de rede</a:t>
                      </a:r>
                    </a:p>
                  </a:txBody>
                  <a:tcPr marL="73152" marR="73152" marT="27432" marB="27432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73152" marR="73152" marT="27432" marB="27432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Não (cliente)</a:t>
                      </a:r>
                    </a:p>
                  </a:txBody>
                  <a:tcPr marL="73152" marR="73152" marT="27432" marB="27432"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Operando em 3 semanas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721607"/>
            <a:ext cx="10698480" cy="54864"/>
          </a:xfrm>
          <a:prstGeom prst="rect">
            <a:avLst/>
          </a:prstGeom>
          <a:solidFill>
            <a:srgbClr val="858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3566159"/>
            <a:ext cx="365760" cy="365760"/>
          </a:xfrm>
          <a:prstGeom prst="ellipse">
            <a:avLst/>
          </a:prstGeom>
          <a:solidFill>
            <a:srgbClr val="1B2A4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58585"/>
                </a:solidFill>
                <a:latin typeface="Segoe UI"/>
              </a:rPr>
              <a:t>Sem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2D2D2D"/>
                </a:solidFill>
                <a:latin typeface="Segoe UI"/>
              </a:rPr>
              <a:t>Instalação</a:t>
            </a:r>
          </a:p>
        </p:txBody>
      </p:sp>
      <p:sp>
        <p:nvSpPr>
          <p:cNvPr id="9" name="Oval 8"/>
          <p:cNvSpPr/>
          <p:nvPr/>
        </p:nvSpPr>
        <p:spPr>
          <a:xfrm>
            <a:off x="5897879" y="3566159"/>
            <a:ext cx="365760" cy="365760"/>
          </a:xfrm>
          <a:prstGeom prst="ellipse">
            <a:avLst/>
          </a:prstGeom>
          <a:solidFill>
            <a:srgbClr val="1B2A4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79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58585"/>
                </a:solidFill>
                <a:latin typeface="Segoe UI"/>
              </a:rPr>
              <a:t>Sem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79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2D2D2D"/>
                </a:solidFill>
                <a:latin typeface="Segoe UI"/>
              </a:rPr>
              <a:t>Integração</a:t>
            </a:r>
          </a:p>
        </p:txBody>
      </p:sp>
      <p:sp>
        <p:nvSpPr>
          <p:cNvPr id="12" name="Oval 11"/>
          <p:cNvSpPr/>
          <p:nvPr/>
        </p:nvSpPr>
        <p:spPr>
          <a:xfrm>
            <a:off x="10789920" y="3566159"/>
            <a:ext cx="365760" cy="365760"/>
          </a:xfrm>
          <a:prstGeom prst="ellipse">
            <a:avLst/>
          </a:prstGeom>
          <a:solidFill>
            <a:srgbClr val="1B2A4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58585"/>
                </a:solidFill>
                <a:latin typeface="Segoe UI"/>
              </a:rPr>
              <a:t>Sem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2D2D2D"/>
                </a:solidFill>
                <a:latin typeface="Segoe UI"/>
              </a:rPr>
              <a:t>Treinamento e go-live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5852160"/>
            <a:ext cx="182880" cy="1828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58585"/>
                </a:solidFill>
                <a:latin typeface="Segoe UI"/>
              </a:rPr>
              <a:t>Planejado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Duas opções de investimento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500116" cy="4572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500116" cy="640080"/>
          </a:xfrm>
          <a:prstGeom prst="rect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500116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Segoe UI"/>
              </a:rPr>
              <a:t>Compra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5225796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B2A49"/>
              </a:buClr>
              <a:buChar char="•"/>
            </a:pPr>
            <a:r>
              <a:rPr sz="1500" b="0" i="0">
                <a:solidFill>
                  <a:srgbClr val="2D2D2D"/>
                </a:solidFill>
                <a:latin typeface="Segoe UI"/>
              </a:rPr>
              <a:t>R$ 180 mil</a:t>
            </a:r>
          </a:p>
          <a:p>
            <a:pPr marL="228600" indent="-228600">
              <a:spcAft>
                <a:spcPts val="800"/>
              </a:spcAft>
              <a:buClr>
                <a:srgbClr val="1B2A49"/>
              </a:buClr>
              <a:buChar char="•"/>
            </a:pPr>
            <a:r>
              <a:rPr sz="1500" b="0" i="0">
                <a:solidFill>
                  <a:srgbClr val="2D2D2D"/>
                </a:solidFill>
                <a:latin typeface="Segoe UI"/>
              </a:rPr>
              <a:t>Licença anual R$ 24 mil a partir do ano 2</a:t>
            </a:r>
          </a:p>
          <a:p>
            <a:pPr marL="228600" indent="-228600">
              <a:spcAft>
                <a:spcPts val="800"/>
              </a:spcAft>
              <a:buClr>
                <a:srgbClr val="1B2A49"/>
              </a:buClr>
              <a:buChar char="•"/>
            </a:pPr>
            <a:r>
              <a:rPr sz="1500" b="0" i="0">
                <a:solidFill>
                  <a:srgbClr val="2D2D2D"/>
                </a:solidFill>
                <a:latin typeface="Segoe UI"/>
              </a:rPr>
              <a:t>Suporte incluído 12 meses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1636" y="1463040"/>
            <a:ext cx="5500116" cy="4572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1636" y="1463040"/>
            <a:ext cx="5500116" cy="640080"/>
          </a:xfrm>
          <a:prstGeom prst="rect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1636" y="1463040"/>
            <a:ext cx="5500116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Segoe UI"/>
              </a:rPr>
              <a:t>Assinatura (recomendada)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8796" y="2286000"/>
            <a:ext cx="5225796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B2A49"/>
              </a:buClr>
              <a:buChar char="•"/>
            </a:pPr>
            <a:r>
              <a:rPr sz="1500" b="0" i="0">
                <a:solidFill>
                  <a:srgbClr val="2D2D2D"/>
                </a:solidFill>
                <a:latin typeface="Segoe UI"/>
              </a:rPr>
              <a:t>R$ 6,5 mil/mês</a:t>
            </a:r>
          </a:p>
          <a:p>
            <a:pPr marL="228600" indent="-228600">
              <a:spcAft>
                <a:spcPts val="800"/>
              </a:spcAft>
              <a:buClr>
                <a:srgbClr val="1B2A49"/>
              </a:buClr>
              <a:buChar char="•"/>
            </a:pPr>
            <a:r>
              <a:rPr sz="1500" b="0" i="0">
                <a:solidFill>
                  <a:srgbClr val="2D2D2D"/>
                </a:solidFill>
                <a:latin typeface="Segoe UI"/>
              </a:rPr>
              <a:t>Contrato de 24 meses</a:t>
            </a:r>
          </a:p>
          <a:p>
            <a:pPr marL="228600" indent="-228600">
              <a:spcAft>
                <a:spcPts val="800"/>
              </a:spcAft>
              <a:buClr>
                <a:srgbClr val="1B2A49"/>
              </a:buClr>
              <a:buChar char="•"/>
            </a:pPr>
            <a:r>
              <a:rPr sz="1500" b="0" i="0">
                <a:solidFill>
                  <a:srgbClr val="2D2D2D"/>
                </a:solidFill>
                <a:latin typeface="Segoe UI"/>
              </a:rPr>
              <a:t>Suporte e atualizações incluídos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Assinatura até 30/09 garante início em outubro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Visita técnica de validação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Nós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10/09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58585"/>
                          </a:solidFill>
                          <a:latin typeface="Segoe U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Assinatura do contrato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Cliente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30/09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58585"/>
                          </a:solidFill>
                          <a:latin typeface="Segoe U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Obrigado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Segoe UI"/>
              </a:rPr>
              <a:t>contato@empresa.com | (11) 99999-9999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