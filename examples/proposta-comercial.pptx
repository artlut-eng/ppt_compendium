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Proposta para Metalúrgica XYZ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Segoe UI"/>
              </a:rPr>
              <a:t>Monitoramento de energia por máquina - válida até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Segoe UI"/>
              </a:rPr>
              <a:t>2026-09-01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B2A49"/>
                </a:solidFill>
                <a:latin typeface="Segoe UI"/>
              </a:rPr>
              <a:t>Reduzir 15% do custo de energia em 12 meses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97479"/>
            <a:ext cx="411480" cy="41148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Segoe UI"/>
              </a:rPr>
              <a:t>Hoje: R$ 2,1 mi/ano sem visibilidade por máquina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20439"/>
            <a:ext cx="411480" cy="41148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Segoe UI"/>
              </a:rPr>
              <a:t>Solução: 40 sensores + plataforma + alertas, implantação em 3 semanas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  <a:latin typeface="Segoe UI"/>
              </a:rPr>
              <a:t>Resultado esperado: R$ 300 mil/ano de economia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  <a:latin typeface="Segoe UI"/>
              </a:rPr>
              <a:t/>
            </a:r>
            <a:r>
              <a:rPr sz="1600" b="1" i="0">
                <a:solidFill>
                  <a:srgbClr val="F26419"/>
                </a:solidFill>
                <a:latin typeface="Segoe UI"/>
              </a:rPr>
              <a:t>Pedimos:  </a:t>
            </a:r>
            <a:r>
              <a:rPr sz="1600" b="1" i="0">
                <a:solidFill>
                  <a:srgbClr val="2D2D2D"/>
                </a:solidFill>
                <a:latin typeface="Segoe UI"/>
              </a:rPr>
              <a:t>Investimento de R$ 180 mil ou R$ 6,5 mil/mês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Você gasta R$ 2,1 mi por ano em energia sem saber 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4552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8000" b="1" i="0">
                <a:solidFill>
                  <a:srgbClr val="1B2A49"/>
                </a:solidFill>
                <a:latin typeface="Segoe UI"/>
              </a:rPr>
              <a:t>R$ 2,1 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 i="0">
                <a:solidFill>
                  <a:srgbClr val="858585"/>
                </a:solidFill>
                <a:latin typeface="Segoe UI"/>
              </a:rPr>
              <a:t>custo anual de energia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4575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Segoe UI"/>
              </a:rPr>
              <a:t>Fatura única, sem rateio por máquina ou turno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Sensores, plataforma e alertas em 3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4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" y="1920240"/>
            <a:ext cx="2727198" cy="1280160"/>
          </a:xfrm>
          <a:prstGeom prst="homePlat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1. Instalação de 40 sensores</a:t>
            </a:r>
          </a:p>
        </p:txBody>
      </p:sp>
      <p:sp>
        <p:nvSpPr>
          <p:cNvPr id="6" name="Chevron 5"/>
          <p:cNvSpPr/>
          <p:nvPr/>
        </p:nvSpPr>
        <p:spPr>
          <a:xfrm>
            <a:off x="3275838" y="1920240"/>
            <a:ext cx="2727198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2. Integração com o MES</a:t>
            </a:r>
          </a:p>
        </p:txBody>
      </p:sp>
      <p:sp>
        <p:nvSpPr>
          <p:cNvPr id="7" name="Chevron 6"/>
          <p:cNvSpPr/>
          <p:nvPr/>
        </p:nvSpPr>
        <p:spPr>
          <a:xfrm>
            <a:off x="6094476" y="1920240"/>
            <a:ext cx="2727198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3. Painéis por máquina e turno</a:t>
            </a:r>
          </a:p>
        </p:txBody>
      </p:sp>
      <p:sp>
        <p:nvSpPr>
          <p:cNvPr id="8" name="Chevron 7"/>
          <p:cNvSpPr/>
          <p:nvPr/>
        </p:nvSpPr>
        <p:spPr>
          <a:xfrm>
            <a:off x="8913114" y="1920240"/>
            <a:ext cx="2727198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4. Alertas de consumo anômalo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Escopo: 40 sensores, plataforma,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Quantidade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Incluído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Sensores de energia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Plataforma (licença anual)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Treinamento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8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Infraestrutura de rede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Não (cliente)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Operando em 3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21607"/>
            <a:ext cx="10698480" cy="54864"/>
          </a:xfrm>
          <a:prstGeom prst="rect">
            <a:avLst/>
          </a:prstGeom>
          <a:solidFill>
            <a:srgbClr val="858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3566159"/>
            <a:ext cx="365760" cy="365760"/>
          </a:xfrm>
          <a:prstGeom prst="ellipse">
            <a:avLst/>
          </a:prstGeom>
          <a:solidFill>
            <a:srgbClr val="1B2A4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58585"/>
                </a:solidFill>
                <a:latin typeface="Segoe UI"/>
              </a:rPr>
              <a:t>Sem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  <a:latin typeface="Segoe UI"/>
              </a:rPr>
              <a:t>Instalação</a:t>
            </a:r>
          </a:p>
        </p:txBody>
      </p:sp>
      <p:sp>
        <p:nvSpPr>
          <p:cNvPr id="9" name="Oval 8"/>
          <p:cNvSpPr/>
          <p:nvPr/>
        </p:nvSpPr>
        <p:spPr>
          <a:xfrm>
            <a:off x="5897879" y="3566159"/>
            <a:ext cx="365760" cy="365760"/>
          </a:xfrm>
          <a:prstGeom prst="ellipse">
            <a:avLst/>
          </a:prstGeom>
          <a:solidFill>
            <a:srgbClr val="1B2A4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799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58585"/>
                </a:solidFill>
                <a:latin typeface="Segoe UI"/>
              </a:rPr>
              <a:t>Sem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799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  <a:latin typeface="Segoe UI"/>
              </a:rPr>
              <a:t>Integração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0" y="3566159"/>
            <a:ext cx="365760" cy="365760"/>
          </a:xfrm>
          <a:prstGeom prst="ellipse">
            <a:avLst/>
          </a:prstGeom>
          <a:solidFill>
            <a:srgbClr val="1B2A4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58585"/>
                </a:solidFill>
                <a:latin typeface="Segoe UI"/>
              </a:rPr>
              <a:t>Sem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D2D2D"/>
                </a:solidFill>
                <a:latin typeface="Segoe UI"/>
              </a:rPr>
              <a:t>Treinamento e go-live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58585"/>
                </a:solidFill>
                <a:latin typeface="Segoe UI"/>
              </a:rPr>
              <a:t>Planejado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Duas opções de investimento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500116" cy="4572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00116" cy="64008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500116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225796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R$ 180 mil</a:t>
            </a:r>
          </a:p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Licença anual R$ 24 mil a partir do ano 2</a:t>
            </a:r>
          </a:p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Suporte incluído 12 meses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1463040"/>
            <a:ext cx="5500116" cy="4572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1636" y="1463040"/>
            <a:ext cx="5500116" cy="64008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1636" y="1463040"/>
            <a:ext cx="5500116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Assinatura (recomendada)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6" y="2286000"/>
            <a:ext cx="5225796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R$ 6,5 mil/mês</a:t>
            </a:r>
          </a:p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Contrato de 24 meses</a:t>
            </a:r>
          </a:p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Suporte e atualizações incluídos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Assinatura até 30/09 garante início em outubro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Visita técnica de validação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Nós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10/09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Assinatura do contrato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30/09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Segoe UI"/>
              </a:rPr>
              <a:t>contato@empresa.com | (11) 99999-9999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